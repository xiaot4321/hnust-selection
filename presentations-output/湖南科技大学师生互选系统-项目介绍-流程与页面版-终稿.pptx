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fc500c22c54f17" /><Relationship Type="http://schemas.openxmlformats.org/officeDocument/2006/relationships/extended-properties" Target="/docProps/app.xml" Id="R893693d0f7f64ff9" /><Relationship Type="http://schemas.openxmlformats.org/officeDocument/2006/relationships/officeDocument" Target="/ppt/presentation.xml" Id="R26b2ca14985d49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94bcfe1b534f28"/>
  </p:sldMasterIdLst>
  <p:notesMasterIdLst>
    <p:notesMasterId xmlns:r="http://schemas.openxmlformats.org/officeDocument/2006/relationships" r:id="R60200b57ce3d4092"/>
  </p:notesMasterIdLst>
  <p:sldIdLst>
    <p:sldId xmlns:r="http://schemas.openxmlformats.org/officeDocument/2006/relationships" id="256" r:id="R4d8e714bf3834133"/>
    <p:sldId xmlns:r="http://schemas.openxmlformats.org/officeDocument/2006/relationships" id="257" r:id="Re45feb606d4d4266"/>
    <p:sldId xmlns:r="http://schemas.openxmlformats.org/officeDocument/2006/relationships" id="258" r:id="Rb198ffc26507491b"/>
    <p:sldId xmlns:r="http://schemas.openxmlformats.org/officeDocument/2006/relationships" id="259" r:id="R8a1aafaac31247b2"/>
    <p:sldId xmlns:r="http://schemas.openxmlformats.org/officeDocument/2006/relationships" id="260" r:id="R7302634c0b6c4294"/>
    <p:sldId xmlns:r="http://schemas.openxmlformats.org/officeDocument/2006/relationships" id="261" r:id="R0228b4e1bc0d4b47"/>
    <p:sldId xmlns:r="http://schemas.openxmlformats.org/officeDocument/2006/relationships" id="262" r:id="R2622d65a52cb45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c54393219342ba" /><Relationship Type="http://schemas.openxmlformats.org/officeDocument/2006/relationships/slideMaster" Target="/ppt/slideMasters/slideMaster1.xml" Id="R3794bcfe1b534f28" /><Relationship Type="http://schemas.openxmlformats.org/officeDocument/2006/relationships/notesMaster" Target="/ppt/notesMasters/notesMaster1.xml" Id="R60200b57ce3d4092" /><Relationship Type="http://schemas.openxmlformats.org/officeDocument/2006/relationships/presProps" Target="/ppt/presProps.xml" Id="R2b51353c685a4c5f" /><Relationship Type="http://schemas.openxmlformats.org/officeDocument/2006/relationships/tableStyles" Target="/ppt/tableStyles.xml" Id="R70472110d57d4a38" /><Relationship Type="http://schemas.openxmlformats.org/officeDocument/2006/relationships/slide" Target="/ppt/slides/slide1.xml" Id="R4d8e714bf3834133" /><Relationship Type="http://schemas.openxmlformats.org/officeDocument/2006/relationships/slide" Target="/ppt/slides/slide2.xml" Id="Re45feb606d4d4266" /><Relationship Type="http://schemas.openxmlformats.org/officeDocument/2006/relationships/slide" Target="/ppt/slides/slide3.xml" Id="Rb198ffc26507491b" /><Relationship Type="http://schemas.openxmlformats.org/officeDocument/2006/relationships/slide" Target="/ppt/slides/slide4.xml" Id="R8a1aafaac31247b2" /><Relationship Type="http://schemas.openxmlformats.org/officeDocument/2006/relationships/slide" Target="/ppt/slides/slide5.xml" Id="R7302634c0b6c4294" /><Relationship Type="http://schemas.openxmlformats.org/officeDocument/2006/relationships/slide" Target="/ppt/slides/slide6.xml" Id="R0228b4e1bc0d4b47" /><Relationship Type="http://schemas.openxmlformats.org/officeDocument/2006/relationships/slide" Target="/ppt/slides/slide7.xml" Id="R2622d65a52cb45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7489da766c49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b4553233a746b6" /><Relationship Type="http://schemas.openxmlformats.org/officeDocument/2006/relationships/notesMaster" Target="/ppt/notesMasters/notesMaster1.xml" Id="Re92756d49c4b4d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1eed01bf074332" /><Relationship Type="http://schemas.openxmlformats.org/officeDocument/2006/relationships/notesMaster" Target="/ppt/notesMasters/notesMaster1.xml" Id="Rdd76a914946944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87aae883a74cee" /><Relationship Type="http://schemas.openxmlformats.org/officeDocument/2006/relationships/notesMaster" Target="/ppt/notesMasters/notesMaster1.xml" Id="R9e4e5cb5b67248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1f402abfa8426a" /><Relationship Type="http://schemas.openxmlformats.org/officeDocument/2006/relationships/notesMaster" Target="/ppt/notesMasters/notesMaster1.xml" Id="Rb5d39a66990940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cfa143bebb4226" /><Relationship Type="http://schemas.openxmlformats.org/officeDocument/2006/relationships/notesMaster" Target="/ppt/notesMasters/notesMaster1.xml" Id="Rab1ea540677b42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e26fda3d4d4ebf" /><Relationship Type="http://schemas.openxmlformats.org/officeDocument/2006/relationships/notesMaster" Target="/ppt/notesMasters/notesMaster1.xml" Id="R051900d21fda4d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7196f8b65c4e50" /><Relationship Type="http://schemas.openxmlformats.org/officeDocument/2006/relationships/notesMaster" Target="/ppt/notesMasters/notesMaster1.xml" Id="Re84e9776efb044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封面页面截图来自 frontend/src/components/student/StudentWorkspace.vue，以合成演示数据运行。项目现状参照用户提供的 AGENTS.md 与 docs/README.md。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业务规则来源：requirements.md、docs/business-rules.md、docs/state-machine.md。顺位轮次为本项目分轮志愿流程；导师逐项决定，录取即时锁定关系，不是标准 Gale–Shapley 排序。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页面依据：frontend/src/components/student/StudentWorkspace.vue 与 frontend/src/services/studentPortalService.ts。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页面依据：frontend/src/components/student/StudentWorkspace.vue。进度文案对应 docs/state-machine.md 与已确认业务规则。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页面依据：frontend/src/components/teacher/TeacherWorkspace.vue 与 frontend/src/services/teacherWorkspaceService.ts。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页面依据：frontend/src/components/admin/BatchManagementPanel.vue 与 frontend/src/services/selectionBatchService.ts。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项目状态、规则依据：用户提供的 AGENTS.md，docs/README.md、docs/business-rules.md、docs/state-machine.md。技术版本参照 AGENTS.md 与 backend/pom.xml、frontend/package.json。当前代码已接入主要业务链路，不代表自动化验收或生产部署核验已完成。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ad54130f94a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a6ca037a8c41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73de636d240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7460c3fd04b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2b96d233847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edfc9f2614b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84D02A-7448-4786-899A-A40B94BBE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1F4C00-DA87-4C05-9476-C5F5D26BAB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6BD856-E9D9-444E-AFAF-2D7241042B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82CBA0-042A-43F2-96AF-27805ED558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01BFB7-DEDE-4F6D-ABA3-36BD04E736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250F13-8190-40F3-B851-A8DDF0E1D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4A0E11-4B88-4F61-9FCC-ABBAFCDB37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2A5998-ED44-43C7-82AF-071B40C0DF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36D667-0B5E-435F-9FF7-D639E6C93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42F1F6-58FE-4AF1-86CC-494491BDAA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6fe730652b4483" /><Relationship Type="http://schemas.openxmlformats.org/officeDocument/2006/relationships/slideLayout" Target="/ppt/slideLayouts/slideLayout1.xml" Id="R3e7d7473c7fc4614" /><Relationship Type="http://schemas.openxmlformats.org/officeDocument/2006/relationships/slideLayout" Target="/ppt/slideLayouts/slideLayout2.xml" Id="R3e08c2b147d44876" /><Relationship Type="http://schemas.openxmlformats.org/officeDocument/2006/relationships/slideLayout" Target="/ppt/slideLayouts/slideLayout3.xml" Id="Rfa9d4db70b7b42a6" /><Relationship Type="http://schemas.openxmlformats.org/officeDocument/2006/relationships/slideLayout" Target="/ppt/slideLayouts/slideLayout4.xml" Id="Rab1867f182024a8d" /><Relationship Type="http://schemas.openxmlformats.org/officeDocument/2006/relationships/slideLayout" Target="/ppt/slideLayouts/slideLayout5.xml" Id="R3a4be8669e114288" /><Relationship Type="http://schemas.openxmlformats.org/officeDocument/2006/relationships/slideLayout" Target="/ppt/slideLayouts/slideLayout6.xml" Id="R2dbf50f4f51d46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7d7473c7fc4614"/>
    <p:sldLayoutId xmlns:r="http://schemas.openxmlformats.org/officeDocument/2006/relationships" id="2147483650" r:id="R3e08c2b147d44876"/>
    <p:sldLayoutId xmlns:r="http://schemas.openxmlformats.org/officeDocument/2006/relationships" id="2147483651" r:id="Rfa9d4db70b7b42a6"/>
    <p:sldLayoutId xmlns:r="http://schemas.openxmlformats.org/officeDocument/2006/relationships" id="2147483652" r:id="Rab1867f182024a8d"/>
    <p:sldLayoutId xmlns:r="http://schemas.openxmlformats.org/officeDocument/2006/relationships" id="2147483653" r:id="R3a4be8669e114288"/>
    <p:sldLayoutId xmlns:r="http://schemas.openxmlformats.org/officeDocument/2006/relationships" id="2147483654" r:id="R2dbf50f4f51d46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88b0fe88e480d" /><Relationship Type="http://schemas.openxmlformats.org/officeDocument/2006/relationships/image" Target="/ppt/media/image.png" Id="Rb3a5908fb93b4f74" /><Relationship Type="http://schemas.openxmlformats.org/officeDocument/2006/relationships/notesSlide" Target="/ppt/notesSlides/notesSlide1.xml" Id="Rf2d43849fa3741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fb79c996684c41" /><Relationship Type="http://schemas.openxmlformats.org/officeDocument/2006/relationships/notesSlide" Target="/ppt/notesSlides/notesSlide2.xml" Id="R8e0cda2cb3444b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e68ddcaff465a" /><Relationship Type="http://schemas.openxmlformats.org/officeDocument/2006/relationships/image" Target="/ppt/media/image2.png" Id="Rce2006ccda5a4465" /><Relationship Type="http://schemas.openxmlformats.org/officeDocument/2006/relationships/notesSlide" Target="/ppt/notesSlides/notesSlide3.xml" Id="R6a38e07e60064a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6cbabb2fa4882" /><Relationship Type="http://schemas.openxmlformats.org/officeDocument/2006/relationships/image" Target="/ppt/media/image3.png" Id="R08e19407171a4d47" /><Relationship Type="http://schemas.openxmlformats.org/officeDocument/2006/relationships/notesSlide" Target="/ppt/notesSlides/notesSlide4.xml" Id="Rae6c1441be7d40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e5a01b344405d" /><Relationship Type="http://schemas.openxmlformats.org/officeDocument/2006/relationships/image" Target="/ppt/media/image4.png" Id="R22027b3daa0641c0" /><Relationship Type="http://schemas.openxmlformats.org/officeDocument/2006/relationships/notesSlide" Target="/ppt/notesSlides/notesSlide5.xml" Id="R5e7831490a4a42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718700dca546b6" /><Relationship Type="http://schemas.openxmlformats.org/officeDocument/2006/relationships/image" Target="/ppt/media/image5.png" Id="R5177d22e3ccc4420" /><Relationship Type="http://schemas.openxmlformats.org/officeDocument/2006/relationships/notesSlide" Target="/ppt/notesSlides/notesSlide6.xml" Id="Rc13c5269fcb448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32984f97384723" /><Relationship Type="http://schemas.openxmlformats.org/officeDocument/2006/relationships/notesSlide" Target="/ppt/notesSlides/notesSlide7.xml" Id="R695f088c75ad4a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ver-accent-bar">
            <a:extLst xmlns:a="http://schemas.openxmlformats.org/drawingml/2006/main">
              <a:ext uri="{FF2B5EF4-FFF2-40B4-BE49-F238E27FC236}">
                <a16:creationId xmlns:a16="http://schemas.microsoft.com/office/drawing/2014/main" id="{C60C9177-A6FD-4568-8E01-950DA7D8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oft-circle">
            <a:extLst xmlns:a="http://schemas.openxmlformats.org/drawingml/2006/main">
              <a:ext uri="{FF2B5EF4-FFF2-40B4-BE49-F238E27FC236}">
                <a16:creationId xmlns:a16="http://schemas.microsoft.com/office/drawing/2014/main" id="{E25FE371-8BD1-451A-911F-2BB828C2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3857625" cy="385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university">
            <a:extLst xmlns:a="http://schemas.openxmlformats.org/drawingml/2006/main">
              <a:ext uri="{FF2B5EF4-FFF2-40B4-BE49-F238E27FC236}">
                <a16:creationId xmlns:a16="http://schemas.microsoft.com/office/drawing/2014/main" id="{21B27944-B975-4D51-A5E6-120DAE2B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湖南科技大学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6CF5286-2EB5-432C-921C-05EA9A5F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rPr>
              <a:t>师生互选系统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8A64C49-F330-4F66-9FE2-B20CCBCD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从有序志愿，到逐轮处理与结果跟踪</a:t>
            </a:r>
          </a:p>
        </p:txBody>
      </p:sp>
      <p:sp>
        <p:nvSpPr>
          <p:cNvPr id="6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9B5E6287-416A-4E4F-AD5A-82DFAA9C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项目介绍 · 学生端 / 导师端 / 管理端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6EF4C336-A2ED-44D0-8AC7-318761EE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2001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C0FD9-FF64-484A-A5D8-C47ED6FE5F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5908fb93b4f74"/>
          <a:srcRect xmlns:a="http://schemas.openxmlformats.org/drawingml/2006/main" l="0" t="1125" r="0" b="1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1285875"/>
            <a:ext cx="5924550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9" name="cover-student-tag">
            <a:extLst xmlns:a="http://schemas.openxmlformats.org/drawingml/2006/main">
              <a:ext uri="{FF2B5EF4-FFF2-40B4-BE49-F238E27FC236}">
                <a16:creationId xmlns:a16="http://schemas.microsoft.com/office/drawing/2014/main" id="{27948EF2-D0CA-450A-A881-E6EE0CA9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8632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0" name="cover-teacher-tag">
            <a:extLst xmlns:a="http://schemas.openxmlformats.org/drawingml/2006/main">
              <a:ext uri="{FF2B5EF4-FFF2-40B4-BE49-F238E27FC236}">
                <a16:creationId xmlns:a16="http://schemas.microsoft.com/office/drawing/2014/main" id="{0A636514-9C00-43EC-A4F8-3EFAC929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8632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1" name="cover-admin-tag">
            <a:extLst xmlns:a="http://schemas.openxmlformats.org/drawingml/2006/main">
              <a:ext uri="{FF2B5EF4-FFF2-40B4-BE49-F238E27FC236}">
                <a16:creationId xmlns:a16="http://schemas.microsoft.com/office/drawing/2014/main" id="{644B39E2-3042-47D6-AAEA-64B2F2B5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2" name="cover-student-label">
            <a:extLst xmlns:a="http://schemas.openxmlformats.org/drawingml/2006/main">
              <a:ext uri="{FF2B5EF4-FFF2-40B4-BE49-F238E27FC236}">
                <a16:creationId xmlns:a16="http://schemas.microsoft.com/office/drawing/2014/main" id="{C1632192-FEC2-4C49-8120-67A09981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95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 · 填报志愿</a:t>
            </a:r>
          </a:p>
        </p:txBody>
      </p:sp>
      <p:sp>
        <p:nvSpPr>
          <p:cNvPr id="13" name="cover-teacher-label">
            <a:extLst xmlns:a="http://schemas.openxmlformats.org/drawingml/2006/main">
              <a:ext uri="{FF2B5EF4-FFF2-40B4-BE49-F238E27FC236}">
                <a16:creationId xmlns:a16="http://schemas.microsoft.com/office/drawing/2014/main" id="{F6E7F7C1-D59E-4BED-8780-942F3E1A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95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导师 · 处理申请</a:t>
            </a:r>
          </a:p>
        </p:txBody>
      </p:sp>
      <p:sp>
        <p:nvSpPr>
          <p:cNvPr id="14" name="cover-admin-label">
            <a:extLst xmlns:a="http://schemas.openxmlformats.org/drawingml/2006/main">
              <a:ext uri="{FF2B5EF4-FFF2-40B4-BE49-F238E27FC236}">
                <a16:creationId xmlns:a16="http://schemas.microsoft.com/office/drawing/2014/main" id="{84019E06-3838-408C-A96D-0E34AC7E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958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管理员 · 配置批次</a:t>
            </a:r>
          </a:p>
        </p:txBody>
      </p:sp>
      <p:sp>
        <p:nvSpPr>
          <p:cNvPr id="15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2F8756EC-E262-4D0E-9D87-9BD178D9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340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页面来自项目实际前端组件；页面记录为演示数据。</a:t>
            </a:r>
          </a:p>
        </p:txBody>
      </p:sp>
      <p:sp>
        <p:nvSpPr>
          <p:cNvPr id="16" name="cover-bottom-rule">
            <a:extLst xmlns:a="http://schemas.openxmlformats.org/drawingml/2006/main">
              <a:ext uri="{FF2B5EF4-FFF2-40B4-BE49-F238E27FC236}">
                <a16:creationId xmlns:a16="http://schemas.microsoft.com/office/drawing/2014/main" id="{921BFC22-0184-4E13-AD23-EC771F86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ver-bottom-label">
            <a:extLst xmlns:a="http://schemas.openxmlformats.org/drawingml/2006/main">
              <a:ext uri="{FF2B5EF4-FFF2-40B4-BE49-F238E27FC236}">
                <a16:creationId xmlns:a16="http://schemas.microsoft.com/office/drawing/2014/main" id="{6899A451-E50A-4229-BF8B-4D9963EF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项目展示</a:t>
            </a:r>
          </a:p>
        </p:txBody>
      </p:sp>
      <p:sp>
        <p:nvSpPr>
          <p:cNvPr id="18" name="cover-bottom-year">
            <a:extLst xmlns:a="http://schemas.openxmlformats.org/drawingml/2006/main">
              <a:ext uri="{FF2B5EF4-FFF2-40B4-BE49-F238E27FC236}">
                <a16:creationId xmlns:a16="http://schemas.microsoft.com/office/drawing/2014/main" id="{70450613-4348-439E-B339-52F6F1B6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341276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kicker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0F10A6AD-5EEE-4857-8F12-91FD0F2E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BUSINESS FLOW</a:t>
            </a:r>
          </a:p>
        </p:txBody>
      </p:sp>
      <p:sp>
        <p:nvSpPr>
          <p:cNvPr id="2" name="title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0773377B-A9C0-434F-B0B7-054A176A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一条互选流程，依次完成志愿与轮次处理</a:t>
            </a:r>
          </a:p>
        </p:txBody>
      </p:sp>
      <p:sp>
        <p:nvSpPr>
          <p:cNvPr id="3" name="subtitle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6A2D1422-EE71-452D-81F6-8CFA97CC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学生提交有序志愿；导师对投向本人的申请逐项决定。</a:t>
            </a:r>
          </a:p>
        </p:txBody>
      </p:sp>
      <p:sp>
        <p:nvSpPr>
          <p:cNvPr id="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96D43E4A-813E-4FFE-A4E7-0CDE0E10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7AACFE97-A603-4EE4-AA50-E034BDDA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0A2FF6FE-F7F0-472B-8A46-A481F1FB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身份核对</a:t>
            </a:r>
          </a:p>
        </p:txBody>
      </p:sp>
      <p:sp>
        <p:nvSpPr>
          <p:cNvPr id="7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69A3F940-3880-41D3-99E1-67FD365B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确认专业与学位</a:t>
            </a:r>
          </a:p>
        </p:txBody>
      </p:sp>
      <p:sp>
        <p:nvSpPr>
          <p:cNvPr id="8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AF37617-AB3A-45FC-9C34-29DB658D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flow-step-2">
            <a:extLst xmlns:a="http://schemas.openxmlformats.org/drawingml/2006/main">
              <a:ext uri="{FF2B5EF4-FFF2-40B4-BE49-F238E27FC236}">
                <a16:creationId xmlns:a16="http://schemas.microsoft.com/office/drawing/2014/main" id="{63C51F2E-12C1-4CD7-98F8-2637AB0F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0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02A7F10F-3A7F-414F-A585-659A7BEA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B377AA85-9CD3-456C-A64E-93E7E124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志愿提交</a:t>
            </a:r>
          </a:p>
        </p:txBody>
      </p:sp>
      <p:sp>
        <p:nvSpPr>
          <p:cNvPr id="12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0CA40C43-454C-4182-955C-2A9FAC3C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1–3 位不同导师</a:t>
            </a:r>
          </a:p>
        </p:txBody>
      </p:sp>
      <p:sp>
        <p:nvSpPr>
          <p:cNvPr id="1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C6D0D4B8-8214-4885-B9BE-041AE748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flow-step-3">
            <a:extLst xmlns:a="http://schemas.openxmlformats.org/drawingml/2006/main">
              <a:ext uri="{FF2B5EF4-FFF2-40B4-BE49-F238E27FC236}">
                <a16:creationId xmlns:a16="http://schemas.microsoft.com/office/drawing/2014/main" id="{466E378E-02C0-4014-B015-7D56C87A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15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DADA2BCE-CB56-4DE8-B50E-F8E4723D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AD1CD175-34BD-42AE-988F-F8A9E47C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第一轮</a:t>
            </a:r>
          </a:p>
        </p:txBody>
      </p:sp>
      <p:sp>
        <p:nvSpPr>
          <p:cNvPr id="17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326658BF-8324-4FBF-AFAA-B3C23389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1 志愿</a:t>
            </a:r>
          </a:p>
        </p:txBody>
      </p:sp>
      <p:sp>
        <p:nvSpPr>
          <p:cNvPr id="1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26CDA29D-4901-4A68-B465-9B0F5A45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flow-step-4">
            <a:extLst xmlns:a="http://schemas.openxmlformats.org/drawingml/2006/main">
              <a:ext uri="{FF2B5EF4-FFF2-40B4-BE49-F238E27FC236}">
                <a16:creationId xmlns:a16="http://schemas.microsoft.com/office/drawing/2014/main" id="{AB15ABC1-CE82-4F25-B973-20FF4015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20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D3350247-3559-4B1E-838C-F886B280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5A234100-093F-4424-BA40-705FA53F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第二轮</a:t>
            </a:r>
          </a:p>
        </p:txBody>
      </p:sp>
      <p:sp>
        <p:nvSpPr>
          <p:cNvPr id="22" name="flow-detail-4">
            <a:extLst xmlns:a="http://schemas.openxmlformats.org/drawingml/2006/main">
              <a:ext uri="{FF2B5EF4-FFF2-40B4-BE49-F238E27FC236}">
                <a16:creationId xmlns:a16="http://schemas.microsoft.com/office/drawing/2014/main" id="{3FD7B0D3-C3E9-48CB-8772-B56A6145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2 志愿</a:t>
            </a:r>
          </a:p>
        </p:txBody>
      </p:sp>
      <p:sp>
        <p:nvSpPr>
          <p:cNvPr id="23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8CC9CF8F-565B-4213-BCF4-B785C23A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4" name="flow-step-5">
            <a:extLst xmlns:a="http://schemas.openxmlformats.org/drawingml/2006/main">
              <a:ext uri="{FF2B5EF4-FFF2-40B4-BE49-F238E27FC236}">
                <a16:creationId xmlns:a16="http://schemas.microsoft.com/office/drawing/2014/main" id="{32D06A7B-14DD-4F65-BE61-2A2611F0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25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CFF7E3AE-E70F-4C72-9541-A7487027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CABDC1B3-3F0F-459A-8113-D77E4A65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第三轮</a:t>
            </a:r>
          </a:p>
        </p:txBody>
      </p:sp>
      <p:sp>
        <p:nvSpPr>
          <p:cNvPr id="27" name="flow-detail-5">
            <a:extLst xmlns:a="http://schemas.openxmlformats.org/drawingml/2006/main">
              <a:ext uri="{FF2B5EF4-FFF2-40B4-BE49-F238E27FC236}">
                <a16:creationId xmlns:a16="http://schemas.microsoft.com/office/drawing/2014/main" id="{8CF200ED-B587-4657-99A1-12C5F371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3 志愿</a:t>
            </a:r>
          </a:p>
        </p:txBody>
      </p:sp>
      <p:sp>
        <p:nvSpPr>
          <p:cNvPr id="28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21CE3327-B9EC-4372-ADFE-24E6F46B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9" name="flow-step-6">
            <a:extLst xmlns:a="http://schemas.openxmlformats.org/drawingml/2006/main">
              <a:ext uri="{FF2B5EF4-FFF2-40B4-BE49-F238E27FC236}">
                <a16:creationId xmlns:a16="http://schemas.microsoft.com/office/drawing/2014/main" id="{B509ECA8-1621-41B5-96F7-FC8DD87E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30" name="flow-number-6">
            <a:extLst xmlns:a="http://schemas.openxmlformats.org/drawingml/2006/main">
              <a:ext uri="{FF2B5EF4-FFF2-40B4-BE49-F238E27FC236}">
                <a16:creationId xmlns:a16="http://schemas.microsoft.com/office/drawing/2014/main" id="{214F4A7B-E35B-4C68-8CB6-3FC3E240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065FF74E-6898-4F70-AFD6-23A3CB89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2" name="flow-detail-6">
            <a:extLst xmlns:a="http://schemas.openxmlformats.org/drawingml/2006/main">
              <a:ext uri="{FF2B5EF4-FFF2-40B4-BE49-F238E27FC236}">
                <a16:creationId xmlns:a16="http://schemas.microsoft.com/office/drawing/2014/main" id="{494DB096-B622-4A88-999A-4B87A49F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匹配 / 暂未匹配</a:t>
            </a:r>
          </a:p>
        </p:txBody>
      </p:sp>
      <p:sp>
        <p:nvSpPr>
          <p:cNvPr id="33" name="flow-decision-band">
            <a:extLst xmlns:a="http://schemas.openxmlformats.org/drawingml/2006/main">
              <a:ext uri="{FF2B5EF4-FFF2-40B4-BE49-F238E27FC236}">
                <a16:creationId xmlns:a16="http://schemas.microsoft.com/office/drawing/2014/main" id="{9C9848AB-8BBC-4D34-B5BC-57667FD1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095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solidFill>
              <a:srgbClr val="D4E9E2"/>
            </a:solidFill>
            <a:prstDash val="solid"/>
          </a:ln>
        </p:spPr>
      </p:sp>
      <p:sp>
        <p:nvSpPr>
          <p:cNvPr id="34" name="flow-decision-main">
            <a:extLst xmlns:a="http://schemas.openxmlformats.org/drawingml/2006/main">
              <a:ext uri="{FF2B5EF4-FFF2-40B4-BE49-F238E27FC236}">
                <a16:creationId xmlns:a16="http://schemas.microsoft.com/office/drawing/2014/main" id="{9A49A890-2D4E-4905-9AB8-98CD811B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13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每轮由导师逐项决定：录取 / 不录取</a:t>
            </a:r>
          </a:p>
        </p:txBody>
      </p:sp>
      <p:sp>
        <p:nvSpPr>
          <p:cNvPr id="35" name="flow-decision-detail">
            <a:extLst xmlns:a="http://schemas.openxmlformats.org/drawingml/2006/main">
              <a:ext uri="{FF2B5EF4-FFF2-40B4-BE49-F238E27FC236}">
                <a16:creationId xmlns:a16="http://schemas.microsoft.com/office/drawing/2014/main" id="{91FC4C7A-D739-4D89-AE68-DAF7143A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0520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录取时校验导师剩余名额；成功后立即锁定关系，已匹配学生不再进入后续轮次。</a:t>
            </a:r>
          </a:p>
        </p:txBody>
      </p:sp>
      <p:sp>
        <p:nvSpPr>
          <p:cNvPr id="36" name="flow-outcome-label">
            <a:extLst xmlns:a="http://schemas.openxmlformats.org/drawingml/2006/main">
              <a:ext uri="{FF2B5EF4-FFF2-40B4-BE49-F238E27FC236}">
                <a16:creationId xmlns:a16="http://schemas.microsoft.com/office/drawing/2014/main" id="{1BBED07D-EFB4-4905-BF4C-D33A307D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常规轮次后的去向</a:t>
            </a:r>
          </a:p>
        </p:txBody>
      </p:sp>
      <p:sp>
        <p:nvSpPr>
          <p:cNvPr id="37" name="flow-outcome-1">
            <a:extLst xmlns:a="http://schemas.openxmlformats.org/drawingml/2006/main">
              <a:ext uri="{FF2B5EF4-FFF2-40B4-BE49-F238E27FC236}">
                <a16:creationId xmlns:a16="http://schemas.microsoft.com/office/drawing/2014/main" id="{3BC89685-C1F6-4088-A1B9-7978C643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38" name="flow-outcome-accent-1">
            <a:extLst xmlns:a="http://schemas.openxmlformats.org/drawingml/2006/main">
              <a:ext uri="{FF2B5EF4-FFF2-40B4-BE49-F238E27FC236}">
                <a16:creationId xmlns:a16="http://schemas.microsoft.com/office/drawing/2014/main" id="{73CF2DD2-77D5-4829-B2F8-070B8A30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low-outcome-title-1">
            <a:extLst xmlns:a="http://schemas.openxmlformats.org/drawingml/2006/main">
              <a:ext uri="{FF2B5EF4-FFF2-40B4-BE49-F238E27FC236}">
                <a16:creationId xmlns:a16="http://schemas.microsoft.com/office/drawing/2014/main" id="{8928995C-F0AC-4508-8F64-4DCB7EE6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录取成功</a:t>
            </a:r>
          </a:p>
        </p:txBody>
      </p:sp>
      <p:sp>
        <p:nvSpPr>
          <p:cNvPr id="40" name="flow-outcome-body-1">
            <a:extLst xmlns:a="http://schemas.openxmlformats.org/drawingml/2006/main">
              <a:ext uri="{FF2B5EF4-FFF2-40B4-BE49-F238E27FC236}">
                <a16:creationId xmlns:a16="http://schemas.microsoft.com/office/drawing/2014/main" id="{901E6055-0C8C-4C14-BEC8-D8800860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本轮建立并锁定师生关系</a:t>
            </a:r>
          </a:p>
        </p:txBody>
      </p:sp>
      <p:sp>
        <p:nvSpPr>
          <p:cNvPr id="41" name="flow-outcome-2">
            <a:extLst xmlns:a="http://schemas.openxmlformats.org/drawingml/2006/main">
              <a:ext uri="{FF2B5EF4-FFF2-40B4-BE49-F238E27FC236}">
                <a16:creationId xmlns:a16="http://schemas.microsoft.com/office/drawing/2014/main" id="{46157419-CDBD-4481-98C9-04F37314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2" name="flow-outcome-accent-2">
            <a:extLst xmlns:a="http://schemas.openxmlformats.org/drawingml/2006/main">
              <a:ext uri="{FF2B5EF4-FFF2-40B4-BE49-F238E27FC236}">
                <a16:creationId xmlns:a16="http://schemas.microsoft.com/office/drawing/2014/main" id="{DCACF36F-4591-4DA4-80AB-498D2B11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low-outcome-title-2">
            <a:extLst xmlns:a="http://schemas.openxmlformats.org/drawingml/2006/main">
              <a:ext uri="{FF2B5EF4-FFF2-40B4-BE49-F238E27FC236}">
                <a16:creationId xmlns:a16="http://schemas.microsoft.com/office/drawing/2014/main" id="{03F6DDC3-DC7B-459B-83D3-AA12C186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三轮后仍未匹配</a:t>
            </a:r>
          </a:p>
        </p:txBody>
      </p:sp>
      <p:sp>
        <p:nvSpPr>
          <p:cNvPr id="44" name="flow-outcome-body-2">
            <a:extLst xmlns:a="http://schemas.openxmlformats.org/drawingml/2006/main">
              <a:ext uri="{FF2B5EF4-FFF2-40B4-BE49-F238E27FC236}">
                <a16:creationId xmlns:a16="http://schemas.microsoft.com/office/drawing/2014/main" id="{15BDB2A3-5F9A-4BA9-B2E5-C9306A07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按规则转为 UNMATCHED</a:t>
            </a:r>
          </a:p>
        </p:txBody>
      </p:sp>
      <p:sp>
        <p:nvSpPr>
          <p:cNvPr id="45" name="flow-outcome-3">
            <a:extLst xmlns:a="http://schemas.openxmlformats.org/drawingml/2006/main">
              <a:ext uri="{FF2B5EF4-FFF2-40B4-BE49-F238E27FC236}">
                <a16:creationId xmlns:a16="http://schemas.microsoft.com/office/drawing/2014/main" id="{022F2B53-A6EC-419E-B573-ECE254C5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3143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6" name="flow-outcome-accent-3">
            <a:extLst xmlns:a="http://schemas.openxmlformats.org/drawingml/2006/main">
              <a:ext uri="{FF2B5EF4-FFF2-40B4-BE49-F238E27FC236}">
                <a16:creationId xmlns:a16="http://schemas.microsoft.com/office/drawing/2014/main" id="{C7BD1468-C94D-4158-B502-F8A2E216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low-outcome-title-3">
            <a:extLst xmlns:a="http://schemas.openxmlformats.org/drawingml/2006/main">
              <a:ext uri="{FF2B5EF4-FFF2-40B4-BE49-F238E27FC236}">
                <a16:creationId xmlns:a16="http://schemas.microsoft.com/office/drawing/2014/main" id="{46E29A42-7A4C-4924-BE89-A0AEB511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批次预先安排补选</a:t>
            </a:r>
          </a:p>
        </p:txBody>
      </p:sp>
      <p:sp>
        <p:nvSpPr>
          <p:cNvPr id="48" name="flow-outcome-body-3">
            <a:extLst xmlns:a="http://schemas.openxmlformats.org/drawingml/2006/main">
              <a:ext uri="{FF2B5EF4-FFF2-40B4-BE49-F238E27FC236}">
                <a16:creationId xmlns:a16="http://schemas.microsoft.com/office/drawing/2014/main" id="{D7609145-2134-40AC-A774-823C9BE2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进入独立补选窗口，不重跑三轮</a:t>
            </a:r>
          </a:p>
        </p:txBody>
      </p:sp>
      <p:sp>
        <p:nvSpPr>
          <p:cNvPr id="49" name="flow-supplement-note">
            <a:extLst xmlns:a="http://schemas.openxmlformats.org/drawingml/2006/main">
              <a:ext uri="{FF2B5EF4-FFF2-40B4-BE49-F238E27FC236}">
                <a16:creationId xmlns:a16="http://schemas.microsoft.com/office/drawing/2014/main" id="{5A8595A0-3705-46AF-972E-C6E04FE0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53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补选是否安排由管理员在批次发布前决定，并预先配置开放时间。</a:t>
            </a:r>
          </a:p>
        </p:txBody>
      </p:sp>
      <p:sp>
        <p:nvSpPr>
          <p:cNvPr id="50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235642E-BA6F-4814-B9D9-32172E73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ADDFD674-B16F-4D09-9E5F-07FFAFF5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5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549B840C-EAEC-426D-BB44-C3A2FF4B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9980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学生端｜选择导师并排列志愿">
            <a:extLst xmlns:a="http://schemas.openxmlformats.org/drawingml/2006/main">
              <a:ext uri="{FF2B5EF4-FFF2-40B4-BE49-F238E27FC236}">
                <a16:creationId xmlns:a16="http://schemas.microsoft.com/office/drawing/2014/main" id="{8BC4E4DB-E28D-4F94-B1BB-488887AF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STUDENT · PREFERENCES</a:t>
            </a:r>
          </a:p>
        </p:txBody>
      </p:sp>
      <p:sp>
        <p:nvSpPr>
          <p:cNvPr id="2" name="title-学生端｜选择导师并排列志愿">
            <a:extLst xmlns:a="http://schemas.openxmlformats.org/drawingml/2006/main">
              <a:ext uri="{FF2B5EF4-FFF2-40B4-BE49-F238E27FC236}">
                <a16:creationId xmlns:a16="http://schemas.microsoft.com/office/drawing/2014/main" id="{BF9D09DE-CEED-404E-A655-82227AEB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学生端｜选择导师并排列志愿</a:t>
            </a:r>
          </a:p>
        </p:txBody>
      </p:sp>
      <p:sp>
        <p:nvSpPr>
          <p:cNvPr id="3" name="subtitle-学生端｜选择导师并排列志愿">
            <a:extLst xmlns:a="http://schemas.openxmlformats.org/drawingml/2006/main">
              <a:ext uri="{FF2B5EF4-FFF2-40B4-BE49-F238E27FC236}">
                <a16:creationId xmlns:a16="http://schemas.microsoft.com/office/drawing/2014/main" id="{79FDB475-C2BE-4374-965E-396EF861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导师目录与当前志愿在同一工作区内完成。</a:t>
            </a:r>
          </a:p>
        </p:txBody>
      </p:sp>
      <p:sp>
        <p:nvSpPr>
          <p:cNvPr id="4" name="page-3-bubble-01">
            <a:extLst xmlns:a="http://schemas.openxmlformats.org/drawingml/2006/main">
              <a:ext uri="{FF2B5EF4-FFF2-40B4-BE49-F238E27FC236}">
                <a16:creationId xmlns:a16="http://schemas.microsoft.com/office/drawing/2014/main" id="{BCF2AA51-EE11-4808-A33F-ACA8C078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3-number-01">
            <a:extLst xmlns:a="http://schemas.openxmlformats.org/drawingml/2006/main">
              <a:ext uri="{FF2B5EF4-FFF2-40B4-BE49-F238E27FC236}">
                <a16:creationId xmlns:a16="http://schemas.microsoft.com/office/drawing/2014/main" id="{ADFCC3B4-CCDA-43C2-81D4-77FBE908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age-3-heading-01">
            <a:extLst xmlns:a="http://schemas.openxmlformats.org/drawingml/2006/main">
              <a:ext uri="{FF2B5EF4-FFF2-40B4-BE49-F238E27FC236}">
                <a16:creationId xmlns:a16="http://schemas.microsoft.com/office/drawing/2014/main" id="{561E8344-3254-4580-BB30-08CBBFC0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查看可填导师</a:t>
            </a:r>
          </a:p>
        </p:txBody>
      </p:sp>
      <p:sp>
        <p:nvSpPr>
          <p:cNvPr id="7" name="page-3-body-01">
            <a:extLst xmlns:a="http://schemas.openxmlformats.org/drawingml/2006/main">
              <a:ext uri="{FF2B5EF4-FFF2-40B4-BE49-F238E27FC236}">
                <a16:creationId xmlns:a16="http://schemas.microsoft.com/office/drawing/2014/main" id="{517CE106-94DE-4F90-9823-79C58C2C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按本人专业、学位与导师招生范围显示。</a:t>
            </a:r>
          </a:p>
        </p:txBody>
      </p:sp>
      <p:sp>
        <p:nvSpPr>
          <p:cNvPr id="8" name="page-3-bubble-02">
            <a:extLst xmlns:a="http://schemas.openxmlformats.org/drawingml/2006/main">
              <a:ext uri="{FF2B5EF4-FFF2-40B4-BE49-F238E27FC236}">
                <a16:creationId xmlns:a16="http://schemas.microsoft.com/office/drawing/2014/main" id="{1DD6E3DF-AF9C-47D4-9848-539E8D9F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3-number-02">
            <a:extLst xmlns:a="http://schemas.openxmlformats.org/drawingml/2006/main">
              <a:ext uri="{FF2B5EF4-FFF2-40B4-BE49-F238E27FC236}">
                <a16:creationId xmlns:a16="http://schemas.microsoft.com/office/drawing/2014/main" id="{1F053734-CFCB-45D7-A0CC-653709E2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age-3-heading-02">
            <a:extLst xmlns:a="http://schemas.openxmlformats.org/drawingml/2006/main">
              <a:ext uri="{FF2B5EF4-FFF2-40B4-BE49-F238E27FC236}">
                <a16:creationId xmlns:a16="http://schemas.microsoft.com/office/drawing/2014/main" id="{31141BF1-09A0-4165-9309-7A32AD60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加入并排序</a:t>
            </a:r>
          </a:p>
        </p:txBody>
      </p:sp>
      <p:sp>
        <p:nvSpPr>
          <p:cNvPr id="11" name="page-3-body-02">
            <a:extLst xmlns:a="http://schemas.openxmlformats.org/drawingml/2006/main">
              <a:ext uri="{FF2B5EF4-FFF2-40B4-BE49-F238E27FC236}">
                <a16:creationId xmlns:a16="http://schemas.microsoft.com/office/drawing/2014/main" id="{DE1944EB-E30A-489B-BD61-13A47F6F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导师卡片标记已加入的志愿顺位。</a:t>
            </a:r>
          </a:p>
        </p:txBody>
      </p:sp>
      <p:sp>
        <p:nvSpPr>
          <p:cNvPr id="12" name="page-3-bubble-03">
            <a:extLst xmlns:a="http://schemas.openxmlformats.org/drawingml/2006/main">
              <a:ext uri="{FF2B5EF4-FFF2-40B4-BE49-F238E27FC236}">
                <a16:creationId xmlns:a16="http://schemas.microsoft.com/office/drawing/2014/main" id="{CA33415B-1361-4C60-8651-5A54FC32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3-number-03">
            <a:extLst xmlns:a="http://schemas.openxmlformats.org/drawingml/2006/main">
              <a:ext uri="{FF2B5EF4-FFF2-40B4-BE49-F238E27FC236}">
                <a16:creationId xmlns:a16="http://schemas.microsoft.com/office/drawing/2014/main" id="{71768439-7D4F-4D5A-9A8C-F638D1A4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age-3-heading-03">
            <a:extLst xmlns:a="http://schemas.openxmlformats.org/drawingml/2006/main">
              <a:ext uri="{FF2B5EF4-FFF2-40B4-BE49-F238E27FC236}">
                <a16:creationId xmlns:a16="http://schemas.microsoft.com/office/drawing/2014/main" id="{06063481-BB23-4BAE-92EE-195B0AA2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提交当前版本</a:t>
            </a:r>
          </a:p>
        </p:txBody>
      </p:sp>
      <p:sp>
        <p:nvSpPr>
          <p:cNvPr id="15" name="page-3-body-03">
            <a:extLst xmlns:a="http://schemas.openxmlformats.org/drawingml/2006/main">
              <a:ext uri="{FF2B5EF4-FFF2-40B4-BE49-F238E27FC236}">
                <a16:creationId xmlns:a16="http://schemas.microsoft.com/office/drawing/2014/main" id="{66508B7F-60B1-4680-9C2B-FE407EC5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每份志愿包含 1–3 位不同导师。</a:t>
            </a:r>
          </a:p>
        </p:txBody>
      </p:sp>
      <p:sp>
        <p:nvSpPr>
          <p:cNvPr id="16" name="page-3-screenshot-label">
            <a:extLst xmlns:a="http://schemas.openxmlformats.org/drawingml/2006/main">
              <a:ext uri="{FF2B5EF4-FFF2-40B4-BE49-F238E27FC236}">
                <a16:creationId xmlns:a16="http://schemas.microsoft.com/office/drawing/2014/main" id="{908F954E-3F8A-4DF5-8648-7A1971F9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836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项目实际前端页面 · 演示数据</a:t>
            </a:r>
          </a:p>
        </p:txBody>
      </p:sp>
      <p:sp>
        <p:nvSpPr>
          <p:cNvPr id="17" name="page-3-screenshot-frame">
            <a:extLst xmlns:a="http://schemas.openxmlformats.org/drawingml/2006/main">
              <a:ext uri="{FF2B5EF4-FFF2-40B4-BE49-F238E27FC236}">
                <a16:creationId xmlns:a16="http://schemas.microsoft.com/office/drawing/2014/main" id="{F19E6CA5-8F61-47F5-9452-0D3EA5D7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90650"/>
            <a:ext cx="8458200" cy="4800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4BB7E-6A1C-49B0-97FE-3D88E3551E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006ccda5a4465"/>
          <a:stretch xmlns:a="http://schemas.openxmlformats.org/drawingml/2006/main"/>
        </p:blipFill>
        <p:spPr>
          <a:xfrm xmlns:a="http://schemas.openxmlformats.org/drawingml/2006/main">
            <a:off x="3257550" y="1438870"/>
            <a:ext cx="8362950" cy="4704159"/>
          </a:xfrm>
          <a:prstGeom xmlns:a="http://schemas.openxmlformats.org/drawingml/2006/main" prst="roundRect">
            <a:avLst>
              <a:gd name="adj" fmla="val 1619"/>
            </a:avLst>
          </a:prstGeom>
        </p:spPr>
      </p:pic>
      <p:sp>
        <p:nvSpPr>
          <p:cNvPr id="19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1358A62-AA73-473C-AE48-4DF737FD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93916D47-98EA-4FA0-86A8-C73B5F92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21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CB4FFF2-692B-4B87-9389-F28194E4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7857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学生端｜查看轮次进度与结果">
            <a:extLst xmlns:a="http://schemas.openxmlformats.org/drawingml/2006/main">
              <a:ext uri="{FF2B5EF4-FFF2-40B4-BE49-F238E27FC236}">
                <a16:creationId xmlns:a16="http://schemas.microsoft.com/office/drawing/2014/main" id="{BF2A4141-AAFB-4C57-A8E4-25C86233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STUDENT · PROGRESS</a:t>
            </a:r>
          </a:p>
        </p:txBody>
      </p:sp>
      <p:sp>
        <p:nvSpPr>
          <p:cNvPr id="2" name="title-学生端｜查看轮次进度与结果">
            <a:extLst xmlns:a="http://schemas.openxmlformats.org/drawingml/2006/main">
              <a:ext uri="{FF2B5EF4-FFF2-40B4-BE49-F238E27FC236}">
                <a16:creationId xmlns:a16="http://schemas.microsoft.com/office/drawing/2014/main" id="{65C1A21C-1F38-4FD8-94CA-F15CB4F2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学生端｜查看轮次进度与结果</a:t>
            </a:r>
          </a:p>
        </p:txBody>
      </p:sp>
      <p:sp>
        <p:nvSpPr>
          <p:cNvPr id="3" name="subtitle-学生端｜查看轮次进度与结果">
            <a:extLst xmlns:a="http://schemas.openxmlformats.org/drawingml/2006/main">
              <a:ext uri="{FF2B5EF4-FFF2-40B4-BE49-F238E27FC236}">
                <a16:creationId xmlns:a16="http://schemas.microsoft.com/office/drawing/2014/main" id="{9592093F-54CE-4D9E-BB84-38741A04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学生本人可跟进当前阶段、匹配状态和每一轮处理结果。</a:t>
            </a:r>
          </a:p>
        </p:txBody>
      </p:sp>
      <p:sp>
        <p:nvSpPr>
          <p:cNvPr id="4" name="page-4-bubble-01">
            <a:extLst xmlns:a="http://schemas.openxmlformats.org/drawingml/2006/main">
              <a:ext uri="{FF2B5EF4-FFF2-40B4-BE49-F238E27FC236}">
                <a16:creationId xmlns:a16="http://schemas.microsoft.com/office/drawing/2014/main" id="{D11D43EB-6793-45DC-8899-23E0B7EB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4-number-01">
            <a:extLst xmlns:a="http://schemas.openxmlformats.org/drawingml/2006/main">
              <a:ext uri="{FF2B5EF4-FFF2-40B4-BE49-F238E27FC236}">
                <a16:creationId xmlns:a16="http://schemas.microsoft.com/office/drawing/2014/main" id="{4F863A74-7292-4349-AD3E-7BA67EA1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age-4-heading-01">
            <a:extLst xmlns:a="http://schemas.openxmlformats.org/drawingml/2006/main">
              <a:ext uri="{FF2B5EF4-FFF2-40B4-BE49-F238E27FC236}">
                <a16:creationId xmlns:a16="http://schemas.microsoft.com/office/drawing/2014/main" id="{E8FAE833-E920-486D-A39E-ABD86B92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查看当前阶段</a:t>
            </a:r>
          </a:p>
        </p:txBody>
      </p:sp>
      <p:sp>
        <p:nvSpPr>
          <p:cNvPr id="7" name="page-4-body-01">
            <a:extLst xmlns:a="http://schemas.openxmlformats.org/drawingml/2006/main">
              <a:ext uri="{FF2B5EF4-FFF2-40B4-BE49-F238E27FC236}">
                <a16:creationId xmlns:a16="http://schemas.microsoft.com/office/drawing/2014/main" id="{3833823D-46DB-4BDA-AEBD-E59A4671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批次状态与当前办理阶段清晰显示。</a:t>
            </a:r>
          </a:p>
        </p:txBody>
      </p:sp>
      <p:sp>
        <p:nvSpPr>
          <p:cNvPr id="8" name="page-4-bubble-02">
            <a:extLst xmlns:a="http://schemas.openxmlformats.org/drawingml/2006/main">
              <a:ext uri="{FF2B5EF4-FFF2-40B4-BE49-F238E27FC236}">
                <a16:creationId xmlns:a16="http://schemas.microsoft.com/office/drawing/2014/main" id="{6A98684F-961F-4C2A-A674-A338B222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4-number-02">
            <a:extLst xmlns:a="http://schemas.openxmlformats.org/drawingml/2006/main">
              <a:ext uri="{FF2B5EF4-FFF2-40B4-BE49-F238E27FC236}">
                <a16:creationId xmlns:a16="http://schemas.microsoft.com/office/drawing/2014/main" id="{2494CC5C-35DD-4D4C-91B4-3CCE1A9F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age-4-heading-02">
            <a:extLst xmlns:a="http://schemas.openxmlformats.org/drawingml/2006/main">
              <a:ext uri="{FF2B5EF4-FFF2-40B4-BE49-F238E27FC236}">
                <a16:creationId xmlns:a16="http://schemas.microsoft.com/office/drawing/2014/main" id="{AABD3992-438C-4B0A-A071-1864702A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跟进匹配状态</a:t>
            </a:r>
          </a:p>
        </p:txBody>
      </p:sp>
      <p:sp>
        <p:nvSpPr>
          <p:cNvPr id="11" name="page-4-body-02">
            <a:extLst xmlns:a="http://schemas.openxmlformats.org/drawingml/2006/main">
              <a:ext uri="{FF2B5EF4-FFF2-40B4-BE49-F238E27FC236}">
                <a16:creationId xmlns:a16="http://schemas.microsoft.com/office/drawing/2014/main" id="{9A49A700-01D4-458A-AFA2-1B73BF0F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待处理、等待后续轮次与录取结果分开呈现。</a:t>
            </a:r>
          </a:p>
        </p:txBody>
      </p:sp>
      <p:sp>
        <p:nvSpPr>
          <p:cNvPr id="12" name="page-4-bubble-03">
            <a:extLst xmlns:a="http://schemas.openxmlformats.org/drawingml/2006/main">
              <a:ext uri="{FF2B5EF4-FFF2-40B4-BE49-F238E27FC236}">
                <a16:creationId xmlns:a16="http://schemas.microsoft.com/office/drawing/2014/main" id="{4B58BA9E-7BA5-46A7-9248-A3DF41F0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4-number-03">
            <a:extLst xmlns:a="http://schemas.openxmlformats.org/drawingml/2006/main">
              <a:ext uri="{FF2B5EF4-FFF2-40B4-BE49-F238E27FC236}">
                <a16:creationId xmlns:a16="http://schemas.microsoft.com/office/drawing/2014/main" id="{AE8D3362-6BDB-42BA-BC86-73C1B9C8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age-4-heading-03">
            <a:extLst xmlns:a="http://schemas.openxmlformats.org/drawingml/2006/main">
              <a:ext uri="{FF2B5EF4-FFF2-40B4-BE49-F238E27FC236}">
                <a16:creationId xmlns:a16="http://schemas.microsoft.com/office/drawing/2014/main" id="{D9ABD8BC-88EE-42F9-A2E9-1768BEEB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核对三轮记录</a:t>
            </a:r>
          </a:p>
        </p:txBody>
      </p:sp>
      <p:sp>
        <p:nvSpPr>
          <p:cNvPr id="15" name="page-4-body-03">
            <a:extLst xmlns:a="http://schemas.openxmlformats.org/drawingml/2006/main">
              <a:ext uri="{FF2B5EF4-FFF2-40B4-BE49-F238E27FC236}">
                <a16:creationId xmlns:a16="http://schemas.microsoft.com/office/drawing/2014/main" id="{5FFB2CE0-3459-4BA2-9E67-745F1FDC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按对应志愿顺位查看每轮状态。</a:t>
            </a:r>
          </a:p>
        </p:txBody>
      </p:sp>
      <p:sp>
        <p:nvSpPr>
          <p:cNvPr id="16" name="page-4-screenshot-label">
            <a:extLst xmlns:a="http://schemas.openxmlformats.org/drawingml/2006/main">
              <a:ext uri="{FF2B5EF4-FFF2-40B4-BE49-F238E27FC236}">
                <a16:creationId xmlns:a16="http://schemas.microsoft.com/office/drawing/2014/main" id="{76AC3FC9-FAEE-4018-BD13-9D70E216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836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项目实际前端页面 · 演示数据</a:t>
            </a:r>
          </a:p>
        </p:txBody>
      </p:sp>
      <p:sp>
        <p:nvSpPr>
          <p:cNvPr id="17" name="page-4-screenshot-frame">
            <a:extLst xmlns:a="http://schemas.openxmlformats.org/drawingml/2006/main">
              <a:ext uri="{FF2B5EF4-FFF2-40B4-BE49-F238E27FC236}">
                <a16:creationId xmlns:a16="http://schemas.microsoft.com/office/drawing/2014/main" id="{576A8F9F-7B59-4561-AA5D-0E65A1C4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90650"/>
            <a:ext cx="8458200" cy="4800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FB7921-E7CF-4AA1-A784-0CAC10DCC5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19407171a4d47"/>
          <a:stretch xmlns:a="http://schemas.openxmlformats.org/drawingml/2006/main"/>
        </p:blipFill>
        <p:spPr>
          <a:xfrm xmlns:a="http://schemas.openxmlformats.org/drawingml/2006/main">
            <a:off x="3257550" y="1438870"/>
            <a:ext cx="8362950" cy="4704159"/>
          </a:xfrm>
          <a:prstGeom xmlns:a="http://schemas.openxmlformats.org/drawingml/2006/main" prst="roundRect">
            <a:avLst>
              <a:gd name="adj" fmla="val 1619"/>
            </a:avLst>
          </a:prstGeom>
        </p:spPr>
      </p:pic>
      <p:sp>
        <p:nvSpPr>
          <p:cNvPr id="1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6C51E330-2B0A-4946-9C2F-0EDDA1DB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B8046238-FA82-4B74-B259-9BE21F79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2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6712547B-A340-4439-B6A5-CB8B066F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7920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导师端｜逐项处理本轮申请">
            <a:extLst xmlns:a="http://schemas.openxmlformats.org/drawingml/2006/main">
              <a:ext uri="{FF2B5EF4-FFF2-40B4-BE49-F238E27FC236}">
                <a16:creationId xmlns:a16="http://schemas.microsoft.com/office/drawing/2014/main" id="{F1077CBC-D553-4D7F-8D2E-5D353D96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TEACHER · REVIEW</a:t>
            </a:r>
          </a:p>
        </p:txBody>
      </p:sp>
      <p:sp>
        <p:nvSpPr>
          <p:cNvPr id="2" name="title-导师端｜逐项处理本轮申请">
            <a:extLst xmlns:a="http://schemas.openxmlformats.org/drawingml/2006/main">
              <a:ext uri="{FF2B5EF4-FFF2-40B4-BE49-F238E27FC236}">
                <a16:creationId xmlns:a16="http://schemas.microsoft.com/office/drawing/2014/main" id="{29344823-BCF3-4EE2-90F8-ECC1DC63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导师端｜逐项处理本轮申请</a:t>
            </a:r>
          </a:p>
        </p:txBody>
      </p:sp>
      <p:sp>
        <p:nvSpPr>
          <p:cNvPr id="3" name="subtitle-导师端｜逐项处理本轮申请">
            <a:extLst xmlns:a="http://schemas.openxmlformats.org/drawingml/2006/main">
              <a:ext uri="{FF2B5EF4-FFF2-40B4-BE49-F238E27FC236}">
                <a16:creationId xmlns:a16="http://schemas.microsoft.com/office/drawing/2014/main" id="{13DE1374-05B5-4762-9C51-921901E9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常规轮次只显示投向本人的对应顺位申请。</a:t>
            </a:r>
          </a:p>
        </p:txBody>
      </p:sp>
      <p:sp>
        <p:nvSpPr>
          <p:cNvPr id="4" name="page-5-bubble-01">
            <a:extLst xmlns:a="http://schemas.openxmlformats.org/drawingml/2006/main">
              <a:ext uri="{FF2B5EF4-FFF2-40B4-BE49-F238E27FC236}">
                <a16:creationId xmlns:a16="http://schemas.microsoft.com/office/drawing/2014/main" id="{10FD1FEE-F8E3-4AA8-A1D4-652DBDE7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5-number-01">
            <a:extLst xmlns:a="http://schemas.openxmlformats.org/drawingml/2006/main">
              <a:ext uri="{FF2B5EF4-FFF2-40B4-BE49-F238E27FC236}">
                <a16:creationId xmlns:a16="http://schemas.microsoft.com/office/drawing/2014/main" id="{A1445821-39E1-4F77-BD99-18CD6534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age-5-heading-01">
            <a:extLst xmlns:a="http://schemas.openxmlformats.org/drawingml/2006/main">
              <a:ext uri="{FF2B5EF4-FFF2-40B4-BE49-F238E27FC236}">
                <a16:creationId xmlns:a16="http://schemas.microsoft.com/office/drawing/2014/main" id="{2FD0DBFD-C841-40FA-BD7F-9368F00E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按轮次查看</a:t>
            </a:r>
          </a:p>
        </p:txBody>
      </p:sp>
      <p:sp>
        <p:nvSpPr>
          <p:cNvPr id="7" name="page-5-body-01">
            <a:extLst xmlns:a="http://schemas.openxmlformats.org/drawingml/2006/main">
              <a:ext uri="{FF2B5EF4-FFF2-40B4-BE49-F238E27FC236}">
                <a16:creationId xmlns:a16="http://schemas.microsoft.com/office/drawing/2014/main" id="{A91A1952-0085-4504-B988-14E42E7E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第一、二、三轮分别处理对应顺位。</a:t>
            </a:r>
          </a:p>
        </p:txBody>
      </p:sp>
      <p:sp>
        <p:nvSpPr>
          <p:cNvPr id="8" name="page-5-bubble-02">
            <a:extLst xmlns:a="http://schemas.openxmlformats.org/drawingml/2006/main">
              <a:ext uri="{FF2B5EF4-FFF2-40B4-BE49-F238E27FC236}">
                <a16:creationId xmlns:a16="http://schemas.microsoft.com/office/drawing/2014/main" id="{61D1BA79-EFF0-462D-8057-C33A1D9C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5-number-02">
            <a:extLst xmlns:a="http://schemas.openxmlformats.org/drawingml/2006/main">
              <a:ext uri="{FF2B5EF4-FFF2-40B4-BE49-F238E27FC236}">
                <a16:creationId xmlns:a16="http://schemas.microsoft.com/office/drawing/2014/main" id="{9434B4BB-A25C-4CE3-9B3E-D99E9F67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age-5-heading-02">
            <a:extLst xmlns:a="http://schemas.openxmlformats.org/drawingml/2006/main">
              <a:ext uri="{FF2B5EF4-FFF2-40B4-BE49-F238E27FC236}">
                <a16:creationId xmlns:a16="http://schemas.microsoft.com/office/drawing/2014/main" id="{FBAC4182-31FC-4204-A491-5D0DDEEF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独立做决定</a:t>
            </a:r>
          </a:p>
        </p:txBody>
      </p:sp>
      <p:sp>
        <p:nvSpPr>
          <p:cNvPr id="11" name="page-5-body-02">
            <a:extLst xmlns:a="http://schemas.openxmlformats.org/drawingml/2006/main">
              <a:ext uri="{FF2B5EF4-FFF2-40B4-BE49-F238E27FC236}">
                <a16:creationId xmlns:a16="http://schemas.microsoft.com/office/drawing/2014/main" id="{0BC48A37-084D-4CA3-B455-59D5C8CF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导师逐项录取或不录取，不对学生排序。</a:t>
            </a:r>
          </a:p>
        </p:txBody>
      </p:sp>
      <p:sp>
        <p:nvSpPr>
          <p:cNvPr id="12" name="page-5-bubble-03">
            <a:extLst xmlns:a="http://schemas.openxmlformats.org/drawingml/2006/main">
              <a:ext uri="{FF2B5EF4-FFF2-40B4-BE49-F238E27FC236}">
                <a16:creationId xmlns:a16="http://schemas.microsoft.com/office/drawing/2014/main" id="{006D11A6-FA02-41C6-90BF-69954016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5-number-03">
            <a:extLst xmlns:a="http://schemas.openxmlformats.org/drawingml/2006/main">
              <a:ext uri="{FF2B5EF4-FFF2-40B4-BE49-F238E27FC236}">
                <a16:creationId xmlns:a16="http://schemas.microsoft.com/office/drawing/2014/main" id="{42B12BF9-066D-439F-B856-A473848F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age-5-heading-03">
            <a:extLst xmlns:a="http://schemas.openxmlformats.org/drawingml/2006/main">
              <a:ext uri="{FF2B5EF4-FFF2-40B4-BE49-F238E27FC236}">
                <a16:creationId xmlns:a16="http://schemas.microsoft.com/office/drawing/2014/main" id="{E7B9501B-CE2B-448A-AD2F-270C81BD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成功后锁定关系</a:t>
            </a:r>
          </a:p>
        </p:txBody>
      </p:sp>
      <p:sp>
        <p:nvSpPr>
          <p:cNvPr id="15" name="page-5-body-03">
            <a:extLst xmlns:a="http://schemas.openxmlformats.org/drawingml/2006/main">
              <a:ext uri="{FF2B5EF4-FFF2-40B4-BE49-F238E27FC236}">
                <a16:creationId xmlns:a16="http://schemas.microsoft.com/office/drawing/2014/main" id="{02B230BC-5868-4E36-95A9-6C3A7979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名额校验通过后，匹配关系即时确认。</a:t>
            </a:r>
          </a:p>
        </p:txBody>
      </p:sp>
      <p:sp>
        <p:nvSpPr>
          <p:cNvPr id="16" name="page-5-screenshot-label">
            <a:extLst xmlns:a="http://schemas.openxmlformats.org/drawingml/2006/main">
              <a:ext uri="{FF2B5EF4-FFF2-40B4-BE49-F238E27FC236}">
                <a16:creationId xmlns:a16="http://schemas.microsoft.com/office/drawing/2014/main" id="{8216C536-94CB-404C-BF1E-B137825B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836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项目实际前端页面 · 演示数据</a:t>
            </a:r>
          </a:p>
        </p:txBody>
      </p:sp>
      <p:sp>
        <p:nvSpPr>
          <p:cNvPr id="17" name="page-5-screenshot-frame">
            <a:extLst xmlns:a="http://schemas.openxmlformats.org/drawingml/2006/main">
              <a:ext uri="{FF2B5EF4-FFF2-40B4-BE49-F238E27FC236}">
                <a16:creationId xmlns:a16="http://schemas.microsoft.com/office/drawing/2014/main" id="{8BBB7902-F59A-4C00-B514-46735CF6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90650"/>
            <a:ext cx="8458200" cy="4800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1B9C8-6E74-43F8-AB87-69EFAF2557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27b3daa0641c0"/>
          <a:stretch xmlns:a="http://schemas.openxmlformats.org/drawingml/2006/main"/>
        </p:blipFill>
        <p:spPr>
          <a:xfrm xmlns:a="http://schemas.openxmlformats.org/drawingml/2006/main">
            <a:off x="3257550" y="1438870"/>
            <a:ext cx="8362950" cy="4704159"/>
          </a:xfrm>
          <a:prstGeom xmlns:a="http://schemas.openxmlformats.org/drawingml/2006/main" prst="roundRect">
            <a:avLst>
              <a:gd name="adj" fmla="val 1619"/>
            </a:avLst>
          </a:prstGeom>
        </p:spPr>
      </p:pic>
      <p:sp>
        <p:nvSpPr>
          <p:cNvPr id="19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65AB2E12-BBA8-4986-B6B4-A9B1B958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2E8AD2D6-26B0-4CAD-AB7D-085517C9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21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6A94B610-D90A-4237-AD59-0112101B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2211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管理端｜配置批次并跟踪整体进度">
            <a:extLst xmlns:a="http://schemas.openxmlformats.org/drawingml/2006/main">
              <a:ext uri="{FF2B5EF4-FFF2-40B4-BE49-F238E27FC236}">
                <a16:creationId xmlns:a16="http://schemas.microsoft.com/office/drawing/2014/main" id="{6394B20D-C710-46A7-8E0C-CEE83E17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ADMIN · BATCH MANAGEMENT</a:t>
            </a:r>
          </a:p>
        </p:txBody>
      </p:sp>
      <p:sp>
        <p:nvSpPr>
          <p:cNvPr id="2" name="title-管理端｜配置批次并跟踪整体进度">
            <a:extLst xmlns:a="http://schemas.openxmlformats.org/drawingml/2006/main">
              <a:ext uri="{FF2B5EF4-FFF2-40B4-BE49-F238E27FC236}">
                <a16:creationId xmlns:a16="http://schemas.microsoft.com/office/drawing/2014/main" id="{E49ECB5A-00D3-44B0-B6BD-6652E5F4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管理端｜配置批次并跟踪整体进度</a:t>
            </a:r>
          </a:p>
        </p:txBody>
      </p:sp>
      <p:sp>
        <p:nvSpPr>
          <p:cNvPr id="3" name="subtitle-管理端｜配置批次并跟踪整体进度">
            <a:extLst xmlns:a="http://schemas.openxmlformats.org/drawingml/2006/main">
              <a:ext uri="{FF2B5EF4-FFF2-40B4-BE49-F238E27FC236}">
                <a16:creationId xmlns:a16="http://schemas.microsoft.com/office/drawing/2014/main" id="{9DA3F40C-58FD-4592-AEFE-717FDC39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阶段排期、导师名额与批次统计集中管理。</a:t>
            </a:r>
          </a:p>
        </p:txBody>
      </p:sp>
      <p:sp>
        <p:nvSpPr>
          <p:cNvPr id="4" name="page-6-bubble-01">
            <a:extLst xmlns:a="http://schemas.openxmlformats.org/drawingml/2006/main">
              <a:ext uri="{FF2B5EF4-FFF2-40B4-BE49-F238E27FC236}">
                <a16:creationId xmlns:a16="http://schemas.microsoft.com/office/drawing/2014/main" id="{D73B92DD-8C92-42C9-AF43-4B3354F4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6-number-01">
            <a:extLst xmlns:a="http://schemas.openxmlformats.org/drawingml/2006/main">
              <a:ext uri="{FF2B5EF4-FFF2-40B4-BE49-F238E27FC236}">
                <a16:creationId xmlns:a16="http://schemas.microsoft.com/office/drawing/2014/main" id="{2FADC405-A44A-41C2-A0D5-4D7013AE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age-6-heading-01">
            <a:extLst xmlns:a="http://schemas.openxmlformats.org/drawingml/2006/main">
              <a:ext uri="{FF2B5EF4-FFF2-40B4-BE49-F238E27FC236}">
                <a16:creationId xmlns:a16="http://schemas.microsoft.com/office/drawing/2014/main" id="{11A5CA13-007E-49DD-9F71-56934299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管理批次阶段</a:t>
            </a:r>
          </a:p>
        </p:txBody>
      </p:sp>
      <p:sp>
        <p:nvSpPr>
          <p:cNvPr id="7" name="page-6-body-01">
            <a:extLst xmlns:a="http://schemas.openxmlformats.org/drawingml/2006/main">
              <a:ext uri="{FF2B5EF4-FFF2-40B4-BE49-F238E27FC236}">
                <a16:creationId xmlns:a16="http://schemas.microsoft.com/office/drawing/2014/main" id="{DDD5FC4D-5EB3-4D7F-BBC8-A549E9AE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维护学生填报、三轮处理及补选排期。</a:t>
            </a:r>
          </a:p>
        </p:txBody>
      </p:sp>
      <p:sp>
        <p:nvSpPr>
          <p:cNvPr id="8" name="page-6-bubble-02">
            <a:extLst xmlns:a="http://schemas.openxmlformats.org/drawingml/2006/main">
              <a:ext uri="{FF2B5EF4-FFF2-40B4-BE49-F238E27FC236}">
                <a16:creationId xmlns:a16="http://schemas.microsoft.com/office/drawing/2014/main" id="{C3734299-2635-4CE0-93D0-9D6BBE18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6-number-02">
            <a:extLst xmlns:a="http://schemas.openxmlformats.org/drawingml/2006/main">
              <a:ext uri="{FF2B5EF4-FFF2-40B4-BE49-F238E27FC236}">
                <a16:creationId xmlns:a16="http://schemas.microsoft.com/office/drawing/2014/main" id="{89381EC3-6391-4929-9700-43F1560F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age-6-heading-02">
            <a:extLst xmlns:a="http://schemas.openxmlformats.org/drawingml/2006/main">
              <a:ext uri="{FF2B5EF4-FFF2-40B4-BE49-F238E27FC236}">
                <a16:creationId xmlns:a16="http://schemas.microsoft.com/office/drawing/2014/main" id="{FA48759D-EEAA-4957-B77E-864D1052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查看统计总览</a:t>
            </a:r>
          </a:p>
        </p:txBody>
      </p:sp>
      <p:sp>
        <p:nvSpPr>
          <p:cNvPr id="11" name="page-6-body-02">
            <a:extLst xmlns:a="http://schemas.openxmlformats.org/drawingml/2006/main">
              <a:ext uri="{FF2B5EF4-FFF2-40B4-BE49-F238E27FC236}">
                <a16:creationId xmlns:a16="http://schemas.microsoft.com/office/drawing/2014/main" id="{157A037C-A75E-4F2A-93A0-3834C316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按填报开窗时冻结的合格名单计算分母。</a:t>
            </a:r>
          </a:p>
        </p:txBody>
      </p:sp>
      <p:sp>
        <p:nvSpPr>
          <p:cNvPr id="12" name="page-6-bubble-03">
            <a:extLst xmlns:a="http://schemas.openxmlformats.org/drawingml/2006/main">
              <a:ext uri="{FF2B5EF4-FFF2-40B4-BE49-F238E27FC236}">
                <a16:creationId xmlns:a16="http://schemas.microsoft.com/office/drawing/2014/main" id="{724F5CCF-02EE-4908-BFA3-1523CDE8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6-number-03">
            <a:extLst xmlns:a="http://schemas.openxmlformats.org/drawingml/2006/main">
              <a:ext uri="{FF2B5EF4-FFF2-40B4-BE49-F238E27FC236}">
                <a16:creationId xmlns:a16="http://schemas.microsoft.com/office/drawing/2014/main" id="{B1FDA670-FCB0-4E6B-B4D8-A1A98950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age-6-heading-03">
            <a:extLst xmlns:a="http://schemas.openxmlformats.org/drawingml/2006/main">
              <a:ext uri="{FF2B5EF4-FFF2-40B4-BE49-F238E27FC236}">
                <a16:creationId xmlns:a16="http://schemas.microsoft.com/office/drawing/2014/main" id="{6E30E33A-F148-4496-992F-4E654C07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维护导师名额</a:t>
            </a:r>
          </a:p>
        </p:txBody>
      </p:sp>
      <p:sp>
        <p:nvSpPr>
          <p:cNvPr id="15" name="page-6-body-03">
            <a:extLst xmlns:a="http://schemas.openxmlformats.org/drawingml/2006/main">
              <a:ext uri="{FF2B5EF4-FFF2-40B4-BE49-F238E27FC236}">
                <a16:creationId xmlns:a16="http://schemas.microsoft.com/office/drawing/2014/main" id="{37717C26-285A-4728-B5CC-06B0FEED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查看导师资格、已占名额和剩余名额。</a:t>
            </a:r>
          </a:p>
        </p:txBody>
      </p:sp>
      <p:sp>
        <p:nvSpPr>
          <p:cNvPr id="16" name="page-6-screenshot-label">
            <a:extLst xmlns:a="http://schemas.openxmlformats.org/drawingml/2006/main">
              <a:ext uri="{FF2B5EF4-FFF2-40B4-BE49-F238E27FC236}">
                <a16:creationId xmlns:a16="http://schemas.microsoft.com/office/drawing/2014/main" id="{ECB8B75A-14F8-49EC-BE82-B1AAD9C4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836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项目实际前端页面 · 演示数据</a:t>
            </a:r>
          </a:p>
        </p:txBody>
      </p:sp>
      <p:sp>
        <p:nvSpPr>
          <p:cNvPr id="17" name="page-6-screenshot-frame">
            <a:extLst xmlns:a="http://schemas.openxmlformats.org/drawingml/2006/main">
              <a:ext uri="{FF2B5EF4-FFF2-40B4-BE49-F238E27FC236}">
                <a16:creationId xmlns:a16="http://schemas.microsoft.com/office/drawing/2014/main" id="{FD1C0BB8-468B-46C5-91E7-FB7BDB83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90650"/>
            <a:ext cx="8458200" cy="4800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61A1F-BFA5-4904-B2C4-86162F51B5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7d22e3ccc4420"/>
          <a:stretch xmlns:a="http://schemas.openxmlformats.org/drawingml/2006/main"/>
        </p:blipFill>
        <p:spPr>
          <a:xfrm xmlns:a="http://schemas.openxmlformats.org/drawingml/2006/main">
            <a:off x="3257550" y="1438870"/>
            <a:ext cx="8362950" cy="4704159"/>
          </a:xfrm>
          <a:prstGeom xmlns:a="http://schemas.openxmlformats.org/drawingml/2006/main" prst="roundRect">
            <a:avLst>
              <a:gd name="adj" fmla="val 1619"/>
            </a:avLst>
          </a:prstGeom>
        </p:spPr>
      </p:pic>
      <p:sp>
        <p:nvSpPr>
          <p:cNvPr id="19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BAD7E5E9-15CC-4962-BFD2-9AAC3AD8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53F2ACEE-0B33-4B4C-9B4E-2278EA75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21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1C89744-450F-4649-9444-31569523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7438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kicker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0241F618-2B9F-4290-96BF-E1789ADC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RULES &amp; STATUS</a:t>
            </a:r>
          </a:p>
        </p:txBody>
      </p:sp>
      <p:sp>
        <p:nvSpPr>
          <p:cNvPr id="2" name="title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390B53CB-66FC-45C9-8878-354EE4FF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关键规则与当前实现范围</a:t>
            </a:r>
          </a:p>
        </p:txBody>
      </p:sp>
      <p:sp>
        <p:nvSpPr>
          <p:cNvPr id="3" name="subtitle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40FF7754-E8D9-436F-95E8-73BAF40C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页面背后的业务约束统一资格、顺位与名额口径。</a:t>
            </a:r>
          </a:p>
        </p:txBody>
      </p:sp>
      <p:sp>
        <p:nvSpPr>
          <p:cNvPr id="4" name="rule-card-1">
            <a:extLst xmlns:a="http://schemas.openxmlformats.org/drawingml/2006/main">
              <a:ext uri="{FF2B5EF4-FFF2-40B4-BE49-F238E27FC236}">
                <a16:creationId xmlns:a16="http://schemas.microsoft.com/office/drawing/2014/main" id="{0E2267C5-028C-4E11-92BD-BE2011A5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rule-accent-1">
            <a:extLst xmlns:a="http://schemas.openxmlformats.org/drawingml/2006/main">
              <a:ext uri="{FF2B5EF4-FFF2-40B4-BE49-F238E27FC236}">
                <a16:creationId xmlns:a16="http://schemas.microsoft.com/office/drawing/2014/main" id="{E7625691-C925-4530-9C59-61A21485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number-1">
            <a:extLst xmlns:a="http://schemas.openxmlformats.org/drawingml/2006/main">
              <a:ext uri="{FF2B5EF4-FFF2-40B4-BE49-F238E27FC236}">
                <a16:creationId xmlns:a16="http://schemas.microsoft.com/office/drawing/2014/main" id="{7F88B4F5-44D9-4816-AA24-B050AA3E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ule-title-1">
            <a:extLst xmlns:a="http://schemas.openxmlformats.org/drawingml/2006/main">
              <a:ext uri="{FF2B5EF4-FFF2-40B4-BE49-F238E27FC236}">
                <a16:creationId xmlns:a16="http://schemas.microsoft.com/office/drawing/2014/main" id="{7508EF5F-3C02-494E-AEEA-14997B37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资格范围</a:t>
            </a:r>
          </a:p>
        </p:txBody>
      </p:sp>
      <p:sp>
        <p:nvSpPr>
          <p:cNvPr id="8" name="rule-dot-1-0">
            <a:extLst xmlns:a="http://schemas.openxmlformats.org/drawingml/2006/main">
              <a:ext uri="{FF2B5EF4-FFF2-40B4-BE49-F238E27FC236}">
                <a16:creationId xmlns:a16="http://schemas.microsoft.com/office/drawing/2014/main" id="{F049B0F0-FF52-49B6-BA73-51B7CFA1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ule-line-1-0">
            <a:extLst xmlns:a="http://schemas.openxmlformats.org/drawingml/2006/main">
              <a:ext uri="{FF2B5EF4-FFF2-40B4-BE49-F238E27FC236}">
                <a16:creationId xmlns:a16="http://schemas.microsoft.com/office/drawing/2014/main" id="{903E7EAC-3EE8-4F03-BA4E-C463D15F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学生专业与学位类型进入校验。</a:t>
            </a:r>
          </a:p>
        </p:txBody>
      </p:sp>
      <p:sp>
        <p:nvSpPr>
          <p:cNvPr id="10" name="rule-dot-1-1">
            <a:extLst xmlns:a="http://schemas.openxmlformats.org/drawingml/2006/main">
              <a:ext uri="{FF2B5EF4-FFF2-40B4-BE49-F238E27FC236}">
                <a16:creationId xmlns:a16="http://schemas.microsoft.com/office/drawing/2014/main" id="{417CB5C9-1E51-4F19-A45D-4EF3FC0B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line-1-1">
            <a:extLst xmlns:a="http://schemas.openxmlformats.org/drawingml/2006/main">
              <a:ext uri="{FF2B5EF4-FFF2-40B4-BE49-F238E27FC236}">
                <a16:creationId xmlns:a16="http://schemas.microsoft.com/office/drawing/2014/main" id="{FA9F2E77-8861-4AC4-A390-0C64E953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导师按批次配置专业与学位范围。</a:t>
            </a:r>
          </a:p>
        </p:txBody>
      </p:sp>
      <p:sp>
        <p:nvSpPr>
          <p:cNvPr id="12" name="rule-dot-1-2">
            <a:extLst xmlns:a="http://schemas.openxmlformats.org/drawingml/2006/main">
              <a:ext uri="{FF2B5EF4-FFF2-40B4-BE49-F238E27FC236}">
                <a16:creationId xmlns:a16="http://schemas.microsoft.com/office/drawing/2014/main" id="{B71375A3-167B-44A9-9B83-1570A874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line-1-2">
            <a:extLst xmlns:a="http://schemas.openxmlformats.org/drawingml/2006/main">
              <a:ext uri="{FF2B5EF4-FFF2-40B4-BE49-F238E27FC236}">
                <a16:creationId xmlns:a16="http://schemas.microsoft.com/office/drawing/2014/main" id="{54744D14-BE60-4E59-AD82-189E2AA0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填报开窗时冻结业务名单与招生范围。</a:t>
            </a:r>
          </a:p>
        </p:txBody>
      </p:sp>
      <p:sp>
        <p:nvSpPr>
          <p:cNvPr id="14" name="rule-card-2">
            <a:extLst xmlns:a="http://schemas.openxmlformats.org/drawingml/2006/main">
              <a:ext uri="{FF2B5EF4-FFF2-40B4-BE49-F238E27FC236}">
                <a16:creationId xmlns:a16="http://schemas.microsoft.com/office/drawing/2014/main" id="{C5129AFB-71EF-4077-8171-D2685743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5" name="rule-accent-2">
            <a:extLst xmlns:a="http://schemas.openxmlformats.org/drawingml/2006/main">
              <a:ext uri="{FF2B5EF4-FFF2-40B4-BE49-F238E27FC236}">
                <a16:creationId xmlns:a16="http://schemas.microsoft.com/office/drawing/2014/main" id="{9BC519E2-AA77-4776-8378-CC15436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-number-2">
            <a:extLst xmlns:a="http://schemas.openxmlformats.org/drawingml/2006/main">
              <a:ext uri="{FF2B5EF4-FFF2-40B4-BE49-F238E27FC236}">
                <a16:creationId xmlns:a16="http://schemas.microsoft.com/office/drawing/2014/main" id="{A4D21B4B-B24E-498A-B40D-6E74BFA3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rule-title-2">
            <a:extLst xmlns:a="http://schemas.openxmlformats.org/drawingml/2006/main">
              <a:ext uri="{FF2B5EF4-FFF2-40B4-BE49-F238E27FC236}">
                <a16:creationId xmlns:a16="http://schemas.microsoft.com/office/drawing/2014/main" id="{95D3506F-A421-43A7-B677-8A16F103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分轮处理</a:t>
            </a:r>
          </a:p>
        </p:txBody>
      </p:sp>
      <p:sp>
        <p:nvSpPr>
          <p:cNvPr id="18" name="rule-dot-2-0">
            <a:extLst xmlns:a="http://schemas.openxmlformats.org/drawingml/2006/main">
              <a:ext uri="{FF2B5EF4-FFF2-40B4-BE49-F238E27FC236}">
                <a16:creationId xmlns:a16="http://schemas.microsoft.com/office/drawing/2014/main" id="{43F67F98-D618-4CB8-9DE7-F0010E63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line-2-0">
            <a:extLst xmlns:a="http://schemas.openxmlformats.org/drawingml/2006/main">
              <a:ext uri="{FF2B5EF4-FFF2-40B4-BE49-F238E27FC236}">
                <a16:creationId xmlns:a16="http://schemas.microsoft.com/office/drawing/2014/main" id="{7ED5420D-3A49-4825-85F5-43F6D260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第 1 / 2 / 3 轮对应第 1 / 2 / 3 志愿。</a:t>
            </a:r>
          </a:p>
        </p:txBody>
      </p:sp>
      <p:sp>
        <p:nvSpPr>
          <p:cNvPr id="20" name="rule-dot-2-1">
            <a:extLst xmlns:a="http://schemas.openxmlformats.org/drawingml/2006/main">
              <a:ext uri="{FF2B5EF4-FFF2-40B4-BE49-F238E27FC236}">
                <a16:creationId xmlns:a16="http://schemas.microsoft.com/office/drawing/2014/main" id="{58A937BA-0E7E-4A38-BF7A-47F734D5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le-line-2-1">
            <a:extLst xmlns:a="http://schemas.openxmlformats.org/drawingml/2006/main">
              <a:ext uri="{FF2B5EF4-FFF2-40B4-BE49-F238E27FC236}">
                <a16:creationId xmlns:a16="http://schemas.microsoft.com/office/drawing/2014/main" id="{D4010BB2-D764-4435-A621-5F6CBE91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导师对投向本人的申请逐项决定。</a:t>
            </a:r>
          </a:p>
        </p:txBody>
      </p:sp>
      <p:sp>
        <p:nvSpPr>
          <p:cNvPr id="22" name="rule-dot-2-2">
            <a:extLst xmlns:a="http://schemas.openxmlformats.org/drawingml/2006/main">
              <a:ext uri="{FF2B5EF4-FFF2-40B4-BE49-F238E27FC236}">
                <a16:creationId xmlns:a16="http://schemas.microsoft.com/office/drawing/2014/main" id="{04A06014-3CCB-42EE-A7E9-6AFFF614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ule-line-2-2">
            <a:extLst xmlns:a="http://schemas.openxmlformats.org/drawingml/2006/main">
              <a:ext uri="{FF2B5EF4-FFF2-40B4-BE49-F238E27FC236}">
                <a16:creationId xmlns:a16="http://schemas.microsoft.com/office/drawing/2014/main" id="{52EF77A8-61D5-46A1-A425-D3DC3B8F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录取检查名额并立即锁定关系。</a:t>
            </a:r>
          </a:p>
        </p:txBody>
      </p:sp>
      <p:sp>
        <p:nvSpPr>
          <p:cNvPr id="24" name="rule-card-3">
            <a:extLst xmlns:a="http://schemas.openxmlformats.org/drawingml/2006/main">
              <a:ext uri="{FF2B5EF4-FFF2-40B4-BE49-F238E27FC236}">
                <a16:creationId xmlns:a16="http://schemas.microsoft.com/office/drawing/2014/main" id="{8B610CCD-3AF9-49D7-8F4D-CE1BAE63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25" name="rule-accent-3">
            <a:extLst xmlns:a="http://schemas.openxmlformats.org/drawingml/2006/main">
              <a:ext uri="{FF2B5EF4-FFF2-40B4-BE49-F238E27FC236}">
                <a16:creationId xmlns:a16="http://schemas.microsoft.com/office/drawing/2014/main" id="{B5FF078C-EBC9-4C25-AC7B-6F498557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ule-number-3">
            <a:extLst xmlns:a="http://schemas.openxmlformats.org/drawingml/2006/main">
              <a:ext uri="{FF2B5EF4-FFF2-40B4-BE49-F238E27FC236}">
                <a16:creationId xmlns:a16="http://schemas.microsoft.com/office/drawing/2014/main" id="{C3802836-CE10-4694-94F3-3E1799F2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rule-title-3">
            <a:extLst xmlns:a="http://schemas.openxmlformats.org/drawingml/2006/main">
              <a:ext uri="{FF2B5EF4-FFF2-40B4-BE49-F238E27FC236}">
                <a16:creationId xmlns:a16="http://schemas.microsoft.com/office/drawing/2014/main" id="{BBE09027-DABF-4B20-9528-C8ADCF12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独立补选</a:t>
            </a:r>
          </a:p>
        </p:txBody>
      </p:sp>
      <p:sp>
        <p:nvSpPr>
          <p:cNvPr id="28" name="rule-dot-3-0">
            <a:extLst xmlns:a="http://schemas.openxmlformats.org/drawingml/2006/main">
              <a:ext uri="{FF2B5EF4-FFF2-40B4-BE49-F238E27FC236}">
                <a16:creationId xmlns:a16="http://schemas.microsoft.com/office/drawing/2014/main" id="{38A0ECFE-D9D7-4C0F-ABF3-4CAD97D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ule-line-3-0">
            <a:extLst xmlns:a="http://schemas.openxmlformats.org/drawingml/2006/main">
              <a:ext uri="{FF2B5EF4-FFF2-40B4-BE49-F238E27FC236}">
                <a16:creationId xmlns:a16="http://schemas.microsoft.com/office/drawing/2014/main" id="{1B1F2AB3-48F6-45D4-A2A1-90B9E0FB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是否安排补选在批次发布前确定。</a:t>
            </a:r>
          </a:p>
        </p:txBody>
      </p:sp>
      <p:sp>
        <p:nvSpPr>
          <p:cNvPr id="30" name="rule-dot-3-1">
            <a:extLst xmlns:a="http://schemas.openxmlformats.org/drawingml/2006/main">
              <a:ext uri="{FF2B5EF4-FFF2-40B4-BE49-F238E27FC236}">
                <a16:creationId xmlns:a16="http://schemas.microsoft.com/office/drawing/2014/main" id="{2644E23A-7B69-4423-8700-0A3873BF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ule-line-3-1">
            <a:extLst xmlns:a="http://schemas.openxmlformats.org/drawingml/2006/main">
              <a:ext uri="{FF2B5EF4-FFF2-40B4-BE49-F238E27FC236}">
                <a16:creationId xmlns:a16="http://schemas.microsoft.com/office/drawing/2014/main" id="{E49733F9-618B-4AFB-A6F2-C5A9D519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补选窗口单独排期，不重跑三轮。</a:t>
            </a:r>
          </a:p>
        </p:txBody>
      </p:sp>
      <p:sp>
        <p:nvSpPr>
          <p:cNvPr id="32" name="rule-dot-3-2">
            <a:extLst xmlns:a="http://schemas.openxmlformats.org/drawingml/2006/main">
              <a:ext uri="{FF2B5EF4-FFF2-40B4-BE49-F238E27FC236}">
                <a16:creationId xmlns:a16="http://schemas.microsoft.com/office/drawing/2014/main" id="{AAFF0820-BE2C-405A-93DE-AC6F44EA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ule-line-3-2">
            <a:extLst xmlns:a="http://schemas.openxmlformats.org/drawingml/2006/main">
              <a:ext uri="{FF2B5EF4-FFF2-40B4-BE49-F238E27FC236}">
                <a16:creationId xmlns:a16="http://schemas.microsoft.com/office/drawing/2014/main" id="{12C7D8CC-4516-4AE0-8231-99ED0B89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窗口关闭后结案并完成批次。</a:t>
            </a:r>
          </a:p>
        </p:txBody>
      </p:sp>
      <p:sp>
        <p:nvSpPr>
          <p:cNvPr id="34" name="status-card">
            <a:extLst xmlns:a="http://schemas.openxmlformats.org/drawingml/2006/main">
              <a:ext uri="{FF2B5EF4-FFF2-40B4-BE49-F238E27FC236}">
                <a16:creationId xmlns:a16="http://schemas.microsoft.com/office/drawing/2014/main" id="{E7B86A6E-7864-43D5-B304-3F78FC6A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solidFill>
              <a:srgbClr val="D4E9E2"/>
            </a:solidFill>
            <a:prstDash val="solid"/>
          </a:ln>
        </p:spPr>
      </p:sp>
      <p:sp>
        <p:nvSpPr>
          <p:cNvPr id="35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18434F38-DB3F-48F2-B116-6BF41674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当前进展</a:t>
            </a:r>
          </a:p>
        </p:txBody>
      </p:sp>
      <p:sp>
        <p:nvSpPr>
          <p:cNvPr id="36" name="status-main">
            <a:extLst xmlns:a="http://schemas.openxmlformats.org/drawingml/2006/main">
              <a:ext uri="{FF2B5EF4-FFF2-40B4-BE49-F238E27FC236}">
                <a16:creationId xmlns:a16="http://schemas.microsoft.com/office/drawing/2014/main" id="{7389A1E5-DB1C-49D6-8C7A-EAC20C33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学生、导师与管理员的主要业务链路已接入当前代码。</a:t>
            </a:r>
          </a:p>
        </p:txBody>
      </p:sp>
      <p:sp>
        <p:nvSpPr>
          <p:cNvPr id="37" name="status-note">
            <a:extLst xmlns:a="http://schemas.openxmlformats.org/drawingml/2006/main">
              <a:ext uri="{FF2B5EF4-FFF2-40B4-BE49-F238E27FC236}">
                <a16:creationId xmlns:a16="http://schemas.microsoft.com/office/drawing/2014/main" id="{BE9BDF06-9938-459B-9D05-8615EB45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95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核心自动化验收与目标环境部署、运维核验仍需继续。</a:t>
            </a:r>
          </a:p>
        </p:txBody>
      </p:sp>
      <p:sp>
        <p:nvSpPr>
          <p:cNvPr id="38" name="tech-label">
            <a:extLst xmlns:a="http://schemas.openxmlformats.org/drawingml/2006/main">
              <a:ext uri="{FF2B5EF4-FFF2-40B4-BE49-F238E27FC236}">
                <a16:creationId xmlns:a16="http://schemas.microsoft.com/office/drawing/2014/main" id="{7AAB2BE7-E503-4CD6-B472-8BD101FF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技术基线</a:t>
            </a:r>
          </a:p>
        </p:txBody>
      </p:sp>
      <p:sp>
        <p:nvSpPr>
          <p:cNvPr id="39" name="tech-chip-1">
            <a:extLst xmlns:a="http://schemas.openxmlformats.org/drawingml/2006/main">
              <a:ext uri="{FF2B5EF4-FFF2-40B4-BE49-F238E27FC236}">
                <a16:creationId xmlns:a16="http://schemas.microsoft.com/office/drawing/2014/main" id="{574C56AC-3C2F-4239-9C9D-929D8FE5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0" name="tech-text-1">
            <a:extLst xmlns:a="http://schemas.openxmlformats.org/drawingml/2006/main">
              <a:ext uri="{FF2B5EF4-FFF2-40B4-BE49-F238E27FC236}">
                <a16:creationId xmlns:a16="http://schemas.microsoft.com/office/drawing/2014/main" id="{8E3E6FB2-59F4-4FE2-9664-20B9960C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Java 8 · Spring Boot 2.6.6</a:t>
            </a:r>
          </a:p>
        </p:txBody>
      </p:sp>
      <p:sp>
        <p:nvSpPr>
          <p:cNvPr id="41" name="tech-chip-2">
            <a:extLst xmlns:a="http://schemas.openxmlformats.org/drawingml/2006/main">
              <a:ext uri="{FF2B5EF4-FFF2-40B4-BE49-F238E27FC236}">
                <a16:creationId xmlns:a16="http://schemas.microsoft.com/office/drawing/2014/main" id="{3D740C30-807C-4686-B541-A7C59D1E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57850"/>
            <a:ext cx="2238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2" name="tech-text-2">
            <a:extLst xmlns:a="http://schemas.openxmlformats.org/drawingml/2006/main">
              <a:ext uri="{FF2B5EF4-FFF2-40B4-BE49-F238E27FC236}">
                <a16:creationId xmlns:a16="http://schemas.microsoft.com/office/drawing/2014/main" id="{E51007C1-135D-47EB-AE46-0327E562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69595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MySQL 5.7.36</a:t>
            </a:r>
          </a:p>
        </p:txBody>
      </p:sp>
      <p:sp>
        <p:nvSpPr>
          <p:cNvPr id="43" name="tech-chip-3">
            <a:extLst xmlns:a="http://schemas.openxmlformats.org/drawingml/2006/main">
              <a:ext uri="{FF2B5EF4-FFF2-40B4-BE49-F238E27FC236}">
                <a16:creationId xmlns:a16="http://schemas.microsoft.com/office/drawing/2014/main" id="{5FC431AB-4AF1-4659-8D11-2A6E4F50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657850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4" name="tech-text-3">
            <a:extLst xmlns:a="http://schemas.openxmlformats.org/drawingml/2006/main">
              <a:ext uri="{FF2B5EF4-FFF2-40B4-BE49-F238E27FC236}">
                <a16:creationId xmlns:a16="http://schemas.microsoft.com/office/drawing/2014/main" id="{2F7B4C3B-25BA-4496-88C4-9839AAE6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695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Vue 3 · TypeScript</a:t>
            </a:r>
          </a:p>
        </p:txBody>
      </p:sp>
      <p:sp>
        <p:nvSpPr>
          <p:cNvPr id="45" name="tech-chip-4">
            <a:extLst xmlns:a="http://schemas.openxmlformats.org/drawingml/2006/main">
              <a:ext uri="{FF2B5EF4-FFF2-40B4-BE49-F238E27FC236}">
                <a16:creationId xmlns:a16="http://schemas.microsoft.com/office/drawing/2014/main" id="{725E17DF-89BA-47C5-85B6-018F4EFF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657850"/>
            <a:ext cx="35147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6" name="tech-text-4">
            <a:extLst xmlns:a="http://schemas.openxmlformats.org/drawingml/2006/main">
              <a:ext uri="{FF2B5EF4-FFF2-40B4-BE49-F238E27FC236}">
                <a16:creationId xmlns:a16="http://schemas.microsoft.com/office/drawing/2014/main" id="{20073180-C4B8-4DA9-B85C-E7096930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695950"/>
            <a:ext cx="3362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年度资格 · 分轮志愿 · 独立补选</a:t>
            </a:r>
          </a:p>
        </p:txBody>
      </p:sp>
      <p:sp>
        <p:nvSpPr>
          <p:cNvPr id="47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32519BAE-F76D-4AEF-99DB-4BDA1994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59B5344E-FBF6-4A0D-992A-FB800C0F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49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C080A08B-4E1B-4A68-A754-65A5DA08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28153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2026-10-10T08:50:20.5240000Z</dcterms:created>
  <dcterms:modified xsi:type="dcterms:W3CDTF">2026-10-10T08:50:20.5240000Z</dcterms:modified>
</coreProperties>
</file>