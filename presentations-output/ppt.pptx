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封面页面截图来自 frontend/src/components/student/StudentWorkspace.vue，以合成演示数据运行。项目现状参照用户提供的 AGENTS.md 与 docs/README.md。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业务规则来源：requirements.md、docs/business-rules.md、docs/state-machine.md。顺位轮次为本项目分轮志愿流程；导师逐项决定，录取即时锁定关系，不是标准 Gale–Shapley 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页面依据：frontend/src/components/student/StudentWorkspace.vue 与 frontend/src/services/studentPortalService.ts。</a:t>
            </a:r>
          </a:p>
          <a:p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页面依据：frontend/src/components/student/StudentWorkspace.vue。进度文案对应 docs/state-machine.md 与已确认业务规则。</a:t>
            </a:r>
          </a:p>
          <a:p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页面依据：frontend/src/components/teacher/TeacherWorkspace.vue 与 frontend/src/services/teacherWorkspaceService.ts。</a:t>
            </a:r>
          </a:p>
          <a:p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页面依据：frontend/src/components/admin/BatchManagementPanel.vue 与 frontend/src/services/selectionBatchService.ts。</a:t>
            </a:r>
          </a:p>
          <a:p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项目状态、规则依据：用户提供的 AGENTS.md，docs/README.md、docs/business-rules.md、docs/state-machine.md。技术版本参照 AGENTS.md 与 backend/pom.xml、frontend/package.json。当前代码已接入主要业务链路，不代表自动化验收或生产部署核验已完成。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cover-accent-bar"/>
          <p:cNvSpPr>
            <a:spLocks noGrp="1"/>
          </p:cNvSpPr>
          <p:nvPr/>
        </p:nvSpPr>
        <p:spPr>
          <a:xfrm>
            <a:off x="609600" y="1352550"/>
            <a:ext cx="57150" cy="704850"/>
          </a:xfrm>
          <a:prstGeom prst="rect">
            <a:avLst/>
          </a:prstGeom>
          <a:solidFill>
            <a:srgbClr val="0982B2"/>
          </a:solidFill>
          <a:ln w="0">
            <a:noFill/>
            <a:prstDash val="solid"/>
          </a:ln>
        </p:spPr>
      </p:sp>
      <p:sp>
        <p:nvSpPr>
          <p:cNvPr id="2" name="cover-soft-circle"/>
          <p:cNvSpPr>
            <a:spLocks noGrp="1"/>
          </p:cNvSpPr>
          <p:nvPr/>
        </p:nvSpPr>
        <p:spPr>
          <a:xfrm>
            <a:off x="7858125" y="266700"/>
            <a:ext cx="3857625" cy="3857625"/>
          </a:xfrm>
          <a:prstGeom prst="ellipse">
            <a:avLst/>
          </a:prstGeom>
          <a:solidFill>
            <a:srgbClr val="E8F3F8"/>
          </a:solidFill>
          <a:ln w="0">
            <a:noFill/>
            <a:prstDash val="solid"/>
          </a:ln>
        </p:spPr>
      </p:sp>
      <p:sp>
        <p:nvSpPr>
          <p:cNvPr id="3" name="cover-university"/>
          <p:cNvSpPr>
            <a:spLocks noGrp="1"/>
          </p:cNvSpPr>
          <p:nvPr/>
        </p:nvSpPr>
        <p:spPr>
          <a:xfrm>
            <a:off x="838200" y="13620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湖南科技大学</a:t>
            </a:r>
            <a:endParaRPr sz="187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ver-title"/>
          <p:cNvSpPr>
            <a:spLocks noGrp="1"/>
          </p:cNvSpPr>
          <p:nvPr/>
        </p:nvSpPr>
        <p:spPr>
          <a:xfrm>
            <a:off x="838200" y="1847850"/>
            <a:ext cx="4286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3450" b="1">
                <a:solidFill>
                  <a:srgbClr val="1035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450" b="1">
                <a:solidFill>
                  <a:srgbClr val="1035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035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师生互选系统</a:t>
            </a:r>
            <a:endParaRPr sz="3450" b="1">
              <a:solidFill>
                <a:srgbClr val="1035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cover-subtitle"/>
          <p:cNvSpPr>
            <a:spLocks noGrp="1"/>
          </p:cNvSpPr>
          <p:nvPr/>
        </p:nvSpPr>
        <p:spPr>
          <a:xfrm>
            <a:off x="838200" y="2886075"/>
            <a:ext cx="426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5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从有序志愿，到逐轮处理与结果跟踪</a:t>
            </a:r>
            <a:endParaRPr sz="15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over-description"/>
          <p:cNvSpPr>
            <a:spLocks noGrp="1"/>
          </p:cNvSpPr>
          <p:nvPr/>
        </p:nvSpPr>
        <p:spPr>
          <a:xfrm>
            <a:off x="838200" y="3486150"/>
            <a:ext cx="426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项目介绍 · 学生端 / 导师端 / 管理端</a:t>
            </a:r>
            <a:endParaRPr sz="112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over-image-frame"/>
          <p:cNvSpPr>
            <a:spLocks noGrp="1"/>
          </p:cNvSpPr>
          <p:nvPr/>
        </p:nvSpPr>
        <p:spPr>
          <a:xfrm>
            <a:off x="5476875" y="1200150"/>
            <a:ext cx="6096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1125" b="1125"/>
          <a:stretch>
            <a:fillRect/>
          </a:stretch>
        </p:blipFill>
        <p:spPr>
          <a:xfrm>
            <a:off x="5562600" y="1285875"/>
            <a:ext cx="5924550" cy="3257550"/>
          </a:xfrm>
          <a:prstGeom prst="roundRect">
            <a:avLst>
              <a:gd name="adj" fmla="val 3509"/>
            </a:avLst>
          </a:prstGeom>
        </p:spPr>
      </p:pic>
      <p:sp>
        <p:nvSpPr>
          <p:cNvPr id="9" name="cover-student-tag"/>
          <p:cNvSpPr>
            <a:spLocks noGrp="1"/>
          </p:cNvSpPr>
          <p:nvPr/>
        </p:nvSpPr>
        <p:spPr>
          <a:xfrm>
            <a:off x="5476875" y="4886325"/>
            <a:ext cx="180975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10" name="cover-teacher-tag"/>
          <p:cNvSpPr>
            <a:spLocks noGrp="1"/>
          </p:cNvSpPr>
          <p:nvPr/>
        </p:nvSpPr>
        <p:spPr>
          <a:xfrm>
            <a:off x="7429500" y="4886325"/>
            <a:ext cx="180975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11" name="cover-admin-tag"/>
          <p:cNvSpPr>
            <a:spLocks noGrp="1"/>
          </p:cNvSpPr>
          <p:nvPr/>
        </p:nvSpPr>
        <p:spPr>
          <a:xfrm>
            <a:off x="9382125" y="4886325"/>
            <a:ext cx="219075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12" name="cover-student-label"/>
          <p:cNvSpPr>
            <a:spLocks noGrp="1"/>
          </p:cNvSpPr>
          <p:nvPr/>
        </p:nvSpPr>
        <p:spPr>
          <a:xfrm>
            <a:off x="5619750" y="48958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 · 填报志愿</a:t>
            </a:r>
            <a:endParaRPr sz="1050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over-teacher-label"/>
          <p:cNvSpPr>
            <a:spLocks noGrp="1"/>
          </p:cNvSpPr>
          <p:nvPr/>
        </p:nvSpPr>
        <p:spPr>
          <a:xfrm>
            <a:off x="7572375" y="48958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 · 处理申请</a:t>
            </a:r>
            <a:endParaRPr sz="1050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over-admin-label"/>
          <p:cNvSpPr>
            <a:spLocks noGrp="1"/>
          </p:cNvSpPr>
          <p:nvPr/>
        </p:nvSpPr>
        <p:spPr>
          <a:xfrm>
            <a:off x="9544050" y="4895850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 · 配置批次</a:t>
            </a:r>
            <a:endParaRPr sz="1050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over-caption"/>
          <p:cNvSpPr>
            <a:spLocks noGrp="1"/>
          </p:cNvSpPr>
          <p:nvPr/>
        </p:nvSpPr>
        <p:spPr>
          <a:xfrm>
            <a:off x="5476875" y="5534025"/>
            <a:ext cx="609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8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8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页面来自项目实际前端组件；页面记录为演示数据。</a:t>
            </a:r>
            <a:endParaRPr sz="82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over-bottom-rule"/>
          <p:cNvSpPr>
            <a:spLocks noGrp="1"/>
          </p:cNvSpPr>
          <p:nvPr/>
        </p:nvSpPr>
        <p:spPr>
          <a:xfrm>
            <a:off x="609600" y="6210300"/>
            <a:ext cx="10972800" cy="9525"/>
          </a:xfrm>
          <a:prstGeom prst="rect">
            <a:avLst/>
          </a:prstGeom>
          <a:solidFill>
            <a:srgbClr val="D8E4EB"/>
          </a:solidFill>
          <a:ln w="0">
            <a:noFill/>
            <a:prstDash val="solid"/>
          </a:ln>
        </p:spPr>
      </p:sp>
      <p:sp>
        <p:nvSpPr>
          <p:cNvPr id="17" name="cover-bottom-label"/>
          <p:cNvSpPr>
            <a:spLocks noGrp="1"/>
          </p:cNvSpPr>
          <p:nvPr/>
        </p:nvSpPr>
        <p:spPr>
          <a:xfrm>
            <a:off x="609600" y="63246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项目展示</a:t>
            </a:r>
            <a:endParaRPr sz="825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over-bottom-year"/>
          <p:cNvSpPr>
            <a:spLocks noGrp="1"/>
          </p:cNvSpPr>
          <p:nvPr/>
        </p:nvSpPr>
        <p:spPr>
          <a:xfrm>
            <a:off x="10715625" y="63246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900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endParaRPr sz="900" b="1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" name="kicker-一条互选流程，依次完成志愿与轮次处理"/>
          <p:cNvSpPr>
            <a:spLocks noGrp="1"/>
          </p:cNvSpPr>
          <p:nvPr/>
        </p:nvSpPr>
        <p:spPr>
          <a:xfrm>
            <a:off x="609600" y="24765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>
            <a:defPPr algn="l">
              <a:def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BUSINESS FLOW</a:t>
            </a:r>
            <a:endParaRPr sz="825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一条互选流程，依次完成志愿与轮次处理"/>
          <p:cNvSpPr>
            <a:spLocks noGrp="1"/>
          </p:cNvSpPr>
          <p:nvPr/>
        </p:nvSpPr>
        <p:spPr>
          <a:xfrm>
            <a:off x="609600" y="466725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2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一条互选流程，依次完成志愿与轮次处理</a:t>
            </a:r>
            <a:endParaRPr sz="2250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-一条互选流程，依次完成志愿与轮次处理"/>
          <p:cNvSpPr>
            <a:spLocks noGrp="1"/>
          </p:cNvSpPr>
          <p:nvPr/>
        </p:nvSpPr>
        <p:spPr>
          <a:xfrm>
            <a:off x="609600" y="885825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学生提交有序志愿；导师对投向本人的申请逐项决定。</a:t>
            </a:r>
            <a:endParaRPr sz="112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low-step-1"/>
          <p:cNvSpPr>
            <a:spLocks noGrp="1"/>
          </p:cNvSpPr>
          <p:nvPr/>
        </p:nvSpPr>
        <p:spPr>
          <a:xfrm>
            <a:off x="571500" y="1524000"/>
            <a:ext cx="1666875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5" name="flow-number-1"/>
          <p:cNvSpPr>
            <a:spLocks noGrp="1"/>
          </p:cNvSpPr>
          <p:nvPr/>
        </p:nvSpPr>
        <p:spPr>
          <a:xfrm>
            <a:off x="714375" y="1657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low-title-1"/>
          <p:cNvSpPr>
            <a:spLocks noGrp="1"/>
          </p:cNvSpPr>
          <p:nvPr/>
        </p:nvSpPr>
        <p:spPr>
          <a:xfrm>
            <a:off x="714375" y="1914525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身份核对</a:t>
            </a:r>
            <a:endParaRPr sz="14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flow-detail-1"/>
          <p:cNvSpPr>
            <a:spLocks noGrp="1"/>
          </p:cNvSpPr>
          <p:nvPr/>
        </p:nvSpPr>
        <p:spPr>
          <a:xfrm>
            <a:off x="714375" y="228600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确认专业与学位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flow-arrow-1"/>
          <p:cNvSpPr>
            <a:spLocks noGrp="1"/>
          </p:cNvSpPr>
          <p:nvPr/>
        </p:nvSpPr>
        <p:spPr>
          <a:xfrm>
            <a:off x="2257425" y="1885950"/>
            <a:ext cx="19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10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low-step-2"/>
          <p:cNvSpPr>
            <a:spLocks noGrp="1"/>
          </p:cNvSpPr>
          <p:nvPr/>
        </p:nvSpPr>
        <p:spPr>
          <a:xfrm>
            <a:off x="2447925" y="1524000"/>
            <a:ext cx="1666875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10" name="flow-number-2"/>
          <p:cNvSpPr>
            <a:spLocks noGrp="1"/>
          </p:cNvSpPr>
          <p:nvPr/>
        </p:nvSpPr>
        <p:spPr>
          <a:xfrm>
            <a:off x="2590800" y="1657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flow-title-2"/>
          <p:cNvSpPr>
            <a:spLocks noGrp="1"/>
          </p:cNvSpPr>
          <p:nvPr/>
        </p:nvSpPr>
        <p:spPr>
          <a:xfrm>
            <a:off x="2590800" y="1914525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志愿提交</a:t>
            </a:r>
            <a:endParaRPr sz="14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low-detail-2"/>
          <p:cNvSpPr>
            <a:spLocks noGrp="1"/>
          </p:cNvSpPr>
          <p:nvPr/>
        </p:nvSpPr>
        <p:spPr>
          <a:xfrm>
            <a:off x="2590800" y="228600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 位不同导师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flow-arrow-2"/>
          <p:cNvSpPr>
            <a:spLocks noGrp="1"/>
          </p:cNvSpPr>
          <p:nvPr/>
        </p:nvSpPr>
        <p:spPr>
          <a:xfrm>
            <a:off x="4133850" y="1885950"/>
            <a:ext cx="19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10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low-step-3"/>
          <p:cNvSpPr>
            <a:spLocks noGrp="1"/>
          </p:cNvSpPr>
          <p:nvPr/>
        </p:nvSpPr>
        <p:spPr>
          <a:xfrm>
            <a:off x="4324350" y="1524000"/>
            <a:ext cx="1666875" cy="1190625"/>
          </a:xfrm>
          <a:prstGeom prst="roundRect">
            <a:avLst>
              <a:gd name="adj" fmla="val 9600"/>
            </a:avLst>
          </a:prstGeom>
          <a:solidFill>
            <a:srgbClr val="E8F3F8"/>
          </a:solidFill>
          <a:ln w="9525">
            <a:solidFill>
              <a:srgbClr val="D3E8F0"/>
            </a:solidFill>
            <a:prstDash val="solid"/>
          </a:ln>
        </p:spPr>
      </p:sp>
      <p:sp>
        <p:nvSpPr>
          <p:cNvPr id="15" name="flow-number-3"/>
          <p:cNvSpPr>
            <a:spLocks noGrp="1"/>
          </p:cNvSpPr>
          <p:nvPr/>
        </p:nvSpPr>
        <p:spPr>
          <a:xfrm>
            <a:off x="4467225" y="1657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low-title-3"/>
          <p:cNvSpPr>
            <a:spLocks noGrp="1"/>
          </p:cNvSpPr>
          <p:nvPr/>
        </p:nvSpPr>
        <p:spPr>
          <a:xfrm>
            <a:off x="4467225" y="1914525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第一轮</a:t>
            </a:r>
            <a:endParaRPr sz="14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low-detail-3"/>
          <p:cNvSpPr>
            <a:spLocks noGrp="1"/>
          </p:cNvSpPr>
          <p:nvPr/>
        </p:nvSpPr>
        <p:spPr>
          <a:xfrm>
            <a:off x="4467225" y="228600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只处理第 1 志愿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low-arrow-3"/>
          <p:cNvSpPr>
            <a:spLocks noGrp="1"/>
          </p:cNvSpPr>
          <p:nvPr/>
        </p:nvSpPr>
        <p:spPr>
          <a:xfrm>
            <a:off x="6010275" y="1885950"/>
            <a:ext cx="19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10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low-step-4"/>
          <p:cNvSpPr>
            <a:spLocks noGrp="1"/>
          </p:cNvSpPr>
          <p:nvPr/>
        </p:nvSpPr>
        <p:spPr>
          <a:xfrm>
            <a:off x="6200775" y="1524000"/>
            <a:ext cx="1666875" cy="1190625"/>
          </a:xfrm>
          <a:prstGeom prst="roundRect">
            <a:avLst>
              <a:gd name="adj" fmla="val 9600"/>
            </a:avLst>
          </a:prstGeom>
          <a:solidFill>
            <a:srgbClr val="E8F3F8"/>
          </a:solidFill>
          <a:ln w="9525">
            <a:solidFill>
              <a:srgbClr val="D3E8F0"/>
            </a:solidFill>
            <a:prstDash val="solid"/>
          </a:ln>
        </p:spPr>
      </p:sp>
      <p:sp>
        <p:nvSpPr>
          <p:cNvPr id="20" name="flow-number-4"/>
          <p:cNvSpPr>
            <a:spLocks noGrp="1"/>
          </p:cNvSpPr>
          <p:nvPr/>
        </p:nvSpPr>
        <p:spPr>
          <a:xfrm>
            <a:off x="6343650" y="1657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flow-title-4"/>
          <p:cNvSpPr>
            <a:spLocks noGrp="1"/>
          </p:cNvSpPr>
          <p:nvPr/>
        </p:nvSpPr>
        <p:spPr>
          <a:xfrm>
            <a:off x="6343650" y="1914525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第二轮</a:t>
            </a:r>
            <a:endParaRPr sz="14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flow-detail-4"/>
          <p:cNvSpPr>
            <a:spLocks noGrp="1"/>
          </p:cNvSpPr>
          <p:nvPr/>
        </p:nvSpPr>
        <p:spPr>
          <a:xfrm>
            <a:off x="6343650" y="228600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只处理第 2 志愿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flow-arrow-4"/>
          <p:cNvSpPr>
            <a:spLocks noGrp="1"/>
          </p:cNvSpPr>
          <p:nvPr/>
        </p:nvSpPr>
        <p:spPr>
          <a:xfrm>
            <a:off x="7886700" y="1885950"/>
            <a:ext cx="19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10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flow-step-5"/>
          <p:cNvSpPr>
            <a:spLocks noGrp="1"/>
          </p:cNvSpPr>
          <p:nvPr/>
        </p:nvSpPr>
        <p:spPr>
          <a:xfrm>
            <a:off x="8077200" y="1524000"/>
            <a:ext cx="1666875" cy="1190625"/>
          </a:xfrm>
          <a:prstGeom prst="roundRect">
            <a:avLst>
              <a:gd name="adj" fmla="val 9600"/>
            </a:avLst>
          </a:prstGeom>
          <a:solidFill>
            <a:srgbClr val="E8F3F8"/>
          </a:solidFill>
          <a:ln w="9525">
            <a:solidFill>
              <a:srgbClr val="D3E8F0"/>
            </a:solidFill>
            <a:prstDash val="solid"/>
          </a:ln>
        </p:spPr>
      </p:sp>
      <p:sp>
        <p:nvSpPr>
          <p:cNvPr id="25" name="flow-number-5"/>
          <p:cNvSpPr>
            <a:spLocks noGrp="1"/>
          </p:cNvSpPr>
          <p:nvPr/>
        </p:nvSpPr>
        <p:spPr>
          <a:xfrm>
            <a:off x="8220075" y="1657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flow-title-5"/>
          <p:cNvSpPr>
            <a:spLocks noGrp="1"/>
          </p:cNvSpPr>
          <p:nvPr/>
        </p:nvSpPr>
        <p:spPr>
          <a:xfrm>
            <a:off x="8220075" y="1914525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第三轮</a:t>
            </a:r>
            <a:endParaRPr sz="14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flow-detail-5"/>
          <p:cNvSpPr>
            <a:spLocks noGrp="1"/>
          </p:cNvSpPr>
          <p:nvPr/>
        </p:nvSpPr>
        <p:spPr>
          <a:xfrm>
            <a:off x="8220075" y="228600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只处理第 3 志愿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flow-arrow-5"/>
          <p:cNvSpPr>
            <a:spLocks noGrp="1"/>
          </p:cNvSpPr>
          <p:nvPr/>
        </p:nvSpPr>
        <p:spPr>
          <a:xfrm>
            <a:off x="9763125" y="1885950"/>
            <a:ext cx="19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10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flow-step-6"/>
          <p:cNvSpPr>
            <a:spLocks noGrp="1"/>
          </p:cNvSpPr>
          <p:nvPr/>
        </p:nvSpPr>
        <p:spPr>
          <a:xfrm>
            <a:off x="9953625" y="1524000"/>
            <a:ext cx="1666875" cy="1190625"/>
          </a:xfrm>
          <a:prstGeom prst="roundRect">
            <a:avLst>
              <a:gd name="adj" fmla="val 9600"/>
            </a:avLst>
          </a:prstGeom>
          <a:solidFill>
            <a:srgbClr val="E8F3F8"/>
          </a:solidFill>
          <a:ln w="9525">
            <a:solidFill>
              <a:srgbClr val="D3E8F0"/>
            </a:solidFill>
            <a:prstDash val="solid"/>
          </a:ln>
        </p:spPr>
      </p:sp>
      <p:sp>
        <p:nvSpPr>
          <p:cNvPr id="30" name="flow-number-6"/>
          <p:cNvSpPr>
            <a:spLocks noGrp="1"/>
          </p:cNvSpPr>
          <p:nvPr/>
        </p:nvSpPr>
        <p:spPr>
          <a:xfrm>
            <a:off x="10096500" y="1657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flow-title-6"/>
          <p:cNvSpPr>
            <a:spLocks noGrp="1"/>
          </p:cNvSpPr>
          <p:nvPr/>
        </p:nvSpPr>
        <p:spPr>
          <a:xfrm>
            <a:off x="10096500" y="1914525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14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flow-detail-6"/>
          <p:cNvSpPr>
            <a:spLocks noGrp="1"/>
          </p:cNvSpPr>
          <p:nvPr/>
        </p:nvSpPr>
        <p:spPr>
          <a:xfrm>
            <a:off x="10096500" y="228600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 / 暂未匹配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flow-decision-band"/>
          <p:cNvSpPr>
            <a:spLocks noGrp="1"/>
          </p:cNvSpPr>
          <p:nvPr/>
        </p:nvSpPr>
        <p:spPr>
          <a:xfrm>
            <a:off x="571500" y="3067050"/>
            <a:ext cx="10953750" cy="781050"/>
          </a:xfrm>
          <a:prstGeom prst="roundRect">
            <a:avLst>
              <a:gd name="adj" fmla="val 14634"/>
            </a:avLst>
          </a:prstGeom>
          <a:solidFill>
            <a:srgbClr val="E8F4F0"/>
          </a:solidFill>
          <a:ln w="9525">
            <a:solidFill>
              <a:srgbClr val="D4E9E2"/>
            </a:solidFill>
            <a:prstDash val="solid"/>
          </a:ln>
        </p:spPr>
      </p:sp>
      <p:sp>
        <p:nvSpPr>
          <p:cNvPr id="34" name="flow-decision-main"/>
          <p:cNvSpPr>
            <a:spLocks noGrp="1"/>
          </p:cNvSpPr>
          <p:nvPr/>
        </p:nvSpPr>
        <p:spPr>
          <a:xfrm>
            <a:off x="809625" y="3181350"/>
            <a:ext cx="4953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每轮由导师逐项决定：录取 / 不录取</a:t>
            </a:r>
            <a:endParaRPr sz="14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flow-decision-detail"/>
          <p:cNvSpPr>
            <a:spLocks noGrp="1"/>
          </p:cNvSpPr>
          <p:nvPr/>
        </p:nvSpPr>
        <p:spPr>
          <a:xfrm>
            <a:off x="809625" y="3505200"/>
            <a:ext cx="1023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05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录取时校验导师剩余名额；成功后立即锁定关系，已匹配学生不再进入后续轮次。</a:t>
            </a:r>
            <a:endParaRPr sz="1050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flow-outcome-label"/>
          <p:cNvSpPr>
            <a:spLocks noGrp="1"/>
          </p:cNvSpPr>
          <p:nvPr/>
        </p:nvSpPr>
        <p:spPr>
          <a:xfrm>
            <a:off x="571500" y="4048125"/>
            <a:ext cx="304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常规轮次后的去向</a:t>
            </a:r>
            <a:endParaRPr sz="975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flow-outcome-1"/>
          <p:cNvSpPr>
            <a:spLocks noGrp="1"/>
          </p:cNvSpPr>
          <p:nvPr/>
        </p:nvSpPr>
        <p:spPr>
          <a:xfrm>
            <a:off x="571500" y="4371975"/>
            <a:ext cx="3238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38" name="flow-outcome-accent-1"/>
          <p:cNvSpPr>
            <a:spLocks noGrp="1"/>
          </p:cNvSpPr>
          <p:nvPr/>
        </p:nvSpPr>
        <p:spPr>
          <a:xfrm>
            <a:off x="571500" y="4371975"/>
            <a:ext cx="47625" cy="895350"/>
          </a:xfrm>
          <a:prstGeom prst="rect">
            <a:avLst/>
          </a:prstGeom>
          <a:solidFill>
            <a:srgbClr val="248B85"/>
          </a:solidFill>
          <a:ln w="0">
            <a:noFill/>
            <a:prstDash val="solid"/>
          </a:ln>
        </p:spPr>
      </p:sp>
      <p:sp>
        <p:nvSpPr>
          <p:cNvPr id="39" name="flow-outcome-title-1"/>
          <p:cNvSpPr>
            <a:spLocks noGrp="1"/>
          </p:cNvSpPr>
          <p:nvPr/>
        </p:nvSpPr>
        <p:spPr>
          <a:xfrm>
            <a:off x="762000" y="45243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录取成功</a:t>
            </a:r>
            <a:endParaRPr sz="127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flow-outcome-body-1"/>
          <p:cNvSpPr>
            <a:spLocks noGrp="1"/>
          </p:cNvSpPr>
          <p:nvPr/>
        </p:nvSpPr>
        <p:spPr>
          <a:xfrm>
            <a:off x="762000" y="4857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本轮建立并锁定师生关系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flow-outcome-2"/>
          <p:cNvSpPr>
            <a:spLocks noGrp="1"/>
          </p:cNvSpPr>
          <p:nvPr/>
        </p:nvSpPr>
        <p:spPr>
          <a:xfrm>
            <a:off x="4476750" y="4371975"/>
            <a:ext cx="3238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42" name="flow-outcome-accent-2"/>
          <p:cNvSpPr>
            <a:spLocks noGrp="1"/>
          </p:cNvSpPr>
          <p:nvPr/>
        </p:nvSpPr>
        <p:spPr>
          <a:xfrm>
            <a:off x="4476750" y="4371975"/>
            <a:ext cx="47625" cy="895350"/>
          </a:xfrm>
          <a:prstGeom prst="rect">
            <a:avLst/>
          </a:prstGeom>
          <a:solidFill>
            <a:srgbClr val="E6A348"/>
          </a:solidFill>
          <a:ln w="0">
            <a:noFill/>
            <a:prstDash val="solid"/>
          </a:ln>
        </p:spPr>
      </p:sp>
      <p:sp>
        <p:nvSpPr>
          <p:cNvPr id="43" name="flow-outcome-title-2"/>
          <p:cNvSpPr>
            <a:spLocks noGrp="1"/>
          </p:cNvSpPr>
          <p:nvPr/>
        </p:nvSpPr>
        <p:spPr>
          <a:xfrm>
            <a:off x="4667250" y="45243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三轮后仍未匹配</a:t>
            </a:r>
            <a:endParaRPr sz="127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flow-outcome-body-2"/>
          <p:cNvSpPr>
            <a:spLocks noGrp="1"/>
          </p:cNvSpPr>
          <p:nvPr/>
        </p:nvSpPr>
        <p:spPr>
          <a:xfrm>
            <a:off x="4667250" y="4857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按规则转为 UNMATCHED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flow-outcome-3"/>
          <p:cNvSpPr>
            <a:spLocks noGrp="1"/>
          </p:cNvSpPr>
          <p:nvPr/>
        </p:nvSpPr>
        <p:spPr>
          <a:xfrm>
            <a:off x="8382000" y="4371975"/>
            <a:ext cx="31432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6" name="flow-outcome-accent-3"/>
          <p:cNvSpPr>
            <a:spLocks noGrp="1"/>
          </p:cNvSpPr>
          <p:nvPr/>
        </p:nvSpPr>
        <p:spPr>
          <a:xfrm>
            <a:off x="8382000" y="4371975"/>
            <a:ext cx="47625" cy="895350"/>
          </a:xfrm>
          <a:prstGeom prst="rect">
            <a:avLst/>
          </a:prstGeom>
          <a:solidFill>
            <a:srgbClr val="0982B2"/>
          </a:solidFill>
          <a:ln w="0">
            <a:noFill/>
            <a:prstDash val="solid"/>
          </a:ln>
        </p:spPr>
      </p:sp>
      <p:sp>
        <p:nvSpPr>
          <p:cNvPr id="47" name="flow-outcome-title-3"/>
          <p:cNvSpPr>
            <a:spLocks noGrp="1"/>
          </p:cNvSpPr>
          <p:nvPr/>
        </p:nvSpPr>
        <p:spPr>
          <a:xfrm>
            <a:off x="8572500" y="452437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批次预先安排补选</a:t>
            </a:r>
            <a:endParaRPr sz="127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flow-outcome-body-3"/>
          <p:cNvSpPr>
            <a:spLocks noGrp="1"/>
          </p:cNvSpPr>
          <p:nvPr/>
        </p:nvSpPr>
        <p:spPr>
          <a:xfrm>
            <a:off x="8572500" y="48577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进入独立补选窗口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flow-supplement-note"/>
          <p:cNvSpPr>
            <a:spLocks noGrp="1"/>
          </p:cNvSpPr>
          <p:nvPr/>
        </p:nvSpPr>
        <p:spPr>
          <a:xfrm>
            <a:off x="8382000" y="53530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8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补选是否安排由管理员在批次发布前决定，并预先配置开放时间。</a:t>
            </a:r>
            <a:endParaRPr sz="82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footer-rule-2"/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8E4EB"/>
          </a:solidFill>
          <a:ln w="0">
            <a:noFill/>
            <a:prstDash val="solid"/>
          </a:ln>
        </p:spPr>
      </p:sp>
      <p:sp>
        <p:nvSpPr>
          <p:cNvPr id="51" name="footer-brand-2"/>
          <p:cNvSpPr>
            <a:spLocks noGrp="1"/>
          </p:cNvSpPr>
          <p:nvPr/>
        </p:nvSpPr>
        <p:spPr>
          <a:xfrm>
            <a:off x="609600" y="65436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750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750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湖南科技大学师生互选系统 · 项目介绍</a:t>
            </a:r>
            <a:endParaRPr sz="750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footer-page-2"/>
          <p:cNvSpPr>
            <a:spLocks noGrp="1"/>
          </p:cNvSpPr>
          <p:nvPr/>
        </p:nvSpPr>
        <p:spPr>
          <a:xfrm>
            <a:off x="11049000" y="6524625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825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825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825" b="1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page-3-kicker"/>
          <p:cNvSpPr>
            <a:spLocks noGrp="1"/>
          </p:cNvSpPr>
          <p:nvPr/>
        </p:nvSpPr>
        <p:spPr>
          <a:xfrm>
            <a:off x="609600" y="85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>
            <a:defPPr algn="l">
              <a:def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 · PREFERENCES</a:t>
            </a:r>
            <a:endParaRPr sz="75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3-title"/>
          <p:cNvSpPr>
            <a:spLocks noGrp="1"/>
          </p:cNvSpPr>
          <p:nvPr/>
        </p:nvSpPr>
        <p:spPr>
          <a:xfrm>
            <a:off x="609600" y="238125"/>
            <a:ext cx="7620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学生端｜选择导师并排列志愿</a:t>
            </a:r>
            <a:endParaRPr sz="187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3-subtitle"/>
          <p:cNvSpPr>
            <a:spLocks noGrp="1"/>
          </p:cNvSpPr>
          <p:nvPr/>
        </p:nvSpPr>
        <p:spPr>
          <a:xfrm>
            <a:off x="609600" y="590550"/>
            <a:ext cx="866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身份核对 → 筛选可报导师 → 选择 1–3 位并保存顺位。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-3-demo-tag"/>
          <p:cNvSpPr>
            <a:spLocks noGrp="1"/>
          </p:cNvSpPr>
          <p:nvPr/>
        </p:nvSpPr>
        <p:spPr>
          <a:xfrm>
            <a:off x="9620250" y="466725"/>
            <a:ext cx="19621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5" name="page-3-demo-tag-text"/>
          <p:cNvSpPr>
            <a:spLocks noGrp="1"/>
          </p:cNvSpPr>
          <p:nvPr/>
        </p:nvSpPr>
        <p:spPr>
          <a:xfrm>
            <a:off x="9696450" y="4667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 · 演示数据   03</a:t>
            </a:r>
            <a:endParaRPr sz="825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3-screenshot-frame"/>
          <p:cNvSpPr>
            <a:spLocks noGrp="1"/>
          </p:cNvSpPr>
          <p:nvPr/>
        </p:nvSpPr>
        <p:spPr>
          <a:xfrm>
            <a:off x="561975" y="771525"/>
            <a:ext cx="11068050" cy="6038850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pic>
        <p:nvPicPr>
          <p:cNvPr id="7" name="图片 6" descr="C:/Users/14426/Desktop/Snipaste_2026-10-10_17-34-23.jpgSnipaste_2026-10-10_17-34-23"/>
          <p:cNvPicPr>
            <a:picLocks noChangeAspect="1"/>
          </p:cNvPicPr>
          <p:nvPr/>
        </p:nvPicPr>
        <p:blipFill>
          <a:blip r:embed="rId1"/>
          <a:srcRect l="3793" r="3793"/>
          <a:stretch>
            <a:fillRect/>
          </a:stretch>
        </p:blipFill>
        <p:spPr>
          <a:xfrm>
            <a:off x="812800" y="819150"/>
            <a:ext cx="10566400" cy="5943600"/>
          </a:xfrm>
          <a:prstGeom prst="roundRect">
            <a:avLst>
              <a:gd name="adj" fmla="val 1282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page-4-kicker"/>
          <p:cNvSpPr>
            <a:spLocks noGrp="1"/>
          </p:cNvSpPr>
          <p:nvPr/>
        </p:nvSpPr>
        <p:spPr>
          <a:xfrm>
            <a:off x="609600" y="85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>
            <a:defPPr algn="l">
              <a:def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 · PROGRESS</a:t>
            </a:r>
            <a:endParaRPr sz="75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4-title"/>
          <p:cNvSpPr>
            <a:spLocks noGrp="1"/>
          </p:cNvSpPr>
          <p:nvPr/>
        </p:nvSpPr>
        <p:spPr>
          <a:xfrm>
            <a:off x="609600" y="238125"/>
            <a:ext cx="7620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学生端｜查看轮次进度与结果</a:t>
            </a:r>
            <a:endParaRPr sz="187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4-subtitle"/>
          <p:cNvSpPr>
            <a:spLocks noGrp="1"/>
          </p:cNvSpPr>
          <p:nvPr/>
        </p:nvSpPr>
        <p:spPr>
          <a:xfrm>
            <a:off x="609600" y="590550"/>
            <a:ext cx="866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查看填报阶段、匹配状态与三轮志愿的逐项进度。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-4-demo-tag"/>
          <p:cNvSpPr>
            <a:spLocks noGrp="1"/>
          </p:cNvSpPr>
          <p:nvPr/>
        </p:nvSpPr>
        <p:spPr>
          <a:xfrm>
            <a:off x="9620250" y="466725"/>
            <a:ext cx="19621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5" name="page-4-demo-tag-text"/>
          <p:cNvSpPr>
            <a:spLocks noGrp="1"/>
          </p:cNvSpPr>
          <p:nvPr/>
        </p:nvSpPr>
        <p:spPr>
          <a:xfrm>
            <a:off x="9696450" y="4667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 · 演示数据   04</a:t>
            </a:r>
            <a:endParaRPr sz="825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4-screenshot-frame"/>
          <p:cNvSpPr>
            <a:spLocks noGrp="1"/>
          </p:cNvSpPr>
          <p:nvPr/>
        </p:nvSpPr>
        <p:spPr>
          <a:xfrm>
            <a:off x="561975" y="771525"/>
            <a:ext cx="11068050" cy="6038850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pic>
        <p:nvPicPr>
          <p:cNvPr id="7" name="图片 6" descr="C:/Users/14426/Desktop/Snipaste_2026-10-10_17-35-54.jpgSnipaste_2026-10-10_17-35-54"/>
          <p:cNvPicPr>
            <a:picLocks noChangeAspect="1"/>
          </p:cNvPicPr>
          <p:nvPr/>
        </p:nvPicPr>
        <p:blipFill>
          <a:blip r:embed="rId1"/>
          <a:srcRect t="267" b="267"/>
          <a:stretch>
            <a:fillRect/>
          </a:stretch>
        </p:blipFill>
        <p:spPr>
          <a:xfrm>
            <a:off x="812800" y="819150"/>
            <a:ext cx="10566400" cy="5943600"/>
          </a:xfrm>
          <a:prstGeom prst="roundRect">
            <a:avLst>
              <a:gd name="adj" fmla="val 1282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page-5-kicker"/>
          <p:cNvSpPr>
            <a:spLocks noGrp="1"/>
          </p:cNvSpPr>
          <p:nvPr/>
        </p:nvSpPr>
        <p:spPr>
          <a:xfrm>
            <a:off x="609600" y="85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>
            <a:defPPr algn="l">
              <a:def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 · REVIEW</a:t>
            </a:r>
            <a:endParaRPr sz="75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5-title"/>
          <p:cNvSpPr>
            <a:spLocks noGrp="1"/>
          </p:cNvSpPr>
          <p:nvPr/>
        </p:nvSpPr>
        <p:spPr>
          <a:xfrm>
            <a:off x="609600" y="238125"/>
            <a:ext cx="7620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导师端｜逐项处理本轮申请</a:t>
            </a:r>
            <a:endParaRPr sz="187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5-subtitle"/>
          <p:cNvSpPr>
            <a:spLocks noGrp="1"/>
          </p:cNvSpPr>
          <p:nvPr/>
        </p:nvSpPr>
        <p:spPr>
          <a:xfrm>
            <a:off x="609600" y="590550"/>
            <a:ext cx="866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仅处理本轮投向本人的申请；名额确认后锁定关系。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-5-demo-tag"/>
          <p:cNvSpPr>
            <a:spLocks noGrp="1"/>
          </p:cNvSpPr>
          <p:nvPr/>
        </p:nvSpPr>
        <p:spPr>
          <a:xfrm>
            <a:off x="9620250" y="466725"/>
            <a:ext cx="19621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5" name="page-5-demo-tag-text"/>
          <p:cNvSpPr>
            <a:spLocks noGrp="1"/>
          </p:cNvSpPr>
          <p:nvPr/>
        </p:nvSpPr>
        <p:spPr>
          <a:xfrm>
            <a:off x="9696450" y="4667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 · 演示数据   05</a:t>
            </a:r>
            <a:endParaRPr sz="825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5-screenshot-frame"/>
          <p:cNvSpPr>
            <a:spLocks noGrp="1"/>
          </p:cNvSpPr>
          <p:nvPr/>
        </p:nvSpPr>
        <p:spPr>
          <a:xfrm>
            <a:off x="561975" y="771525"/>
            <a:ext cx="11068050" cy="6038850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819150"/>
            <a:ext cx="10566400" cy="5943600"/>
          </a:xfrm>
          <a:prstGeom prst="roundRect">
            <a:avLst>
              <a:gd name="adj" fmla="val 1282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page-6-kicker"/>
          <p:cNvSpPr>
            <a:spLocks noGrp="1"/>
          </p:cNvSpPr>
          <p:nvPr/>
        </p:nvSpPr>
        <p:spPr>
          <a:xfrm>
            <a:off x="609600" y="85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>
            <a:defPPr algn="l">
              <a:def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· BATCH MANAGEMENT</a:t>
            </a:r>
            <a:endParaRPr sz="75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6-title"/>
          <p:cNvSpPr>
            <a:spLocks noGrp="1"/>
          </p:cNvSpPr>
          <p:nvPr/>
        </p:nvSpPr>
        <p:spPr>
          <a:xfrm>
            <a:off x="609600" y="238125"/>
            <a:ext cx="7620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管理端｜配置批次并跟踪整体进度</a:t>
            </a:r>
            <a:endParaRPr sz="187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6-subtitle"/>
          <p:cNvSpPr>
            <a:spLocks noGrp="1"/>
          </p:cNvSpPr>
          <p:nvPr/>
        </p:nvSpPr>
        <p:spPr>
          <a:xfrm>
            <a:off x="609600" y="590550"/>
            <a:ext cx="8667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配置阶段时间与导师名额，按冻结名单跟进批次统计。</a:t>
            </a:r>
            <a:endParaRPr sz="97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age-6-demo-tag"/>
          <p:cNvSpPr>
            <a:spLocks noGrp="1"/>
          </p:cNvSpPr>
          <p:nvPr/>
        </p:nvSpPr>
        <p:spPr>
          <a:xfrm>
            <a:off x="9620250" y="466725"/>
            <a:ext cx="19621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5" name="page-6-demo-tag-text"/>
          <p:cNvSpPr>
            <a:spLocks noGrp="1"/>
          </p:cNvSpPr>
          <p:nvPr/>
        </p:nvSpPr>
        <p:spPr>
          <a:xfrm>
            <a:off x="9696450" y="4667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 · 演示数据   06</a:t>
            </a:r>
            <a:endParaRPr sz="825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6-screenshot-frame"/>
          <p:cNvSpPr>
            <a:spLocks noGrp="1"/>
          </p:cNvSpPr>
          <p:nvPr/>
        </p:nvSpPr>
        <p:spPr>
          <a:xfrm>
            <a:off x="561975" y="771525"/>
            <a:ext cx="11068050" cy="6038850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819150"/>
            <a:ext cx="10566400" cy="5943600"/>
          </a:xfrm>
          <a:prstGeom prst="roundRect">
            <a:avLst>
              <a:gd name="adj" fmla="val 1282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" name="kicker-关键规则与当前实现范围"/>
          <p:cNvSpPr>
            <a:spLocks noGrp="1"/>
          </p:cNvSpPr>
          <p:nvPr/>
        </p:nvSpPr>
        <p:spPr>
          <a:xfrm>
            <a:off x="609600" y="24765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>
            <a:defPPr algn="l">
              <a:def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RULES &amp; STATUS</a:t>
            </a:r>
            <a:endParaRPr sz="825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关键规则与当前实现范围"/>
          <p:cNvSpPr>
            <a:spLocks noGrp="1"/>
          </p:cNvSpPr>
          <p:nvPr/>
        </p:nvSpPr>
        <p:spPr>
          <a:xfrm>
            <a:off x="609600" y="466725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22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关键规则与当前实现范围</a:t>
            </a:r>
            <a:endParaRPr sz="2250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-关键规则与当前实现范围"/>
          <p:cNvSpPr>
            <a:spLocks noGrp="1"/>
          </p:cNvSpPr>
          <p:nvPr/>
        </p:nvSpPr>
        <p:spPr>
          <a:xfrm>
            <a:off x="609600" y="885825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页面背后的业务约束统一资格、顺位与名额口径。</a:t>
            </a:r>
            <a:endParaRPr sz="1125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-card-1"/>
          <p:cNvSpPr>
            <a:spLocks noGrp="1"/>
          </p:cNvSpPr>
          <p:nvPr/>
        </p:nvSpPr>
        <p:spPr>
          <a:xfrm>
            <a:off x="609600" y="1562100"/>
            <a:ext cx="352425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5" name="rule-accent-1"/>
          <p:cNvSpPr>
            <a:spLocks noGrp="1"/>
          </p:cNvSpPr>
          <p:nvPr/>
        </p:nvSpPr>
        <p:spPr>
          <a:xfrm>
            <a:off x="609600" y="1562100"/>
            <a:ext cx="47625" cy="2257425"/>
          </a:xfrm>
          <a:prstGeom prst="rect">
            <a:avLst/>
          </a:prstGeom>
          <a:solidFill>
            <a:srgbClr val="0982B2"/>
          </a:solidFill>
          <a:ln w="0">
            <a:noFill/>
            <a:prstDash val="solid"/>
          </a:ln>
        </p:spPr>
      </p:sp>
      <p:sp>
        <p:nvSpPr>
          <p:cNvPr id="6" name="rule-number-1"/>
          <p:cNvSpPr>
            <a:spLocks noGrp="1"/>
          </p:cNvSpPr>
          <p:nvPr/>
        </p:nvSpPr>
        <p:spPr>
          <a:xfrm>
            <a:off x="838200" y="17526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1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ule-title-1"/>
          <p:cNvSpPr>
            <a:spLocks noGrp="1"/>
          </p:cNvSpPr>
          <p:nvPr/>
        </p:nvSpPr>
        <p:spPr>
          <a:xfrm>
            <a:off x="838200" y="2085975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资格范围</a:t>
            </a:r>
            <a:endParaRPr sz="17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ule-dot-1-0"/>
          <p:cNvSpPr>
            <a:spLocks noGrp="1"/>
          </p:cNvSpPr>
          <p:nvPr/>
        </p:nvSpPr>
        <p:spPr>
          <a:xfrm>
            <a:off x="847725" y="2619375"/>
            <a:ext cx="66675" cy="66675"/>
          </a:xfrm>
          <a:prstGeom prst="ellipse">
            <a:avLst/>
          </a:prstGeom>
          <a:solidFill>
            <a:srgbClr val="0982B2"/>
          </a:solidFill>
          <a:ln w="0">
            <a:noFill/>
            <a:prstDash val="solid"/>
          </a:ln>
        </p:spPr>
      </p:sp>
      <p:sp>
        <p:nvSpPr>
          <p:cNvPr id="9" name="rule-line-1-0"/>
          <p:cNvSpPr>
            <a:spLocks noGrp="1"/>
          </p:cNvSpPr>
          <p:nvPr/>
        </p:nvSpPr>
        <p:spPr>
          <a:xfrm>
            <a:off x="1000125" y="2524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学生专业与学位类型进入校验。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ule-dot-1-1"/>
          <p:cNvSpPr>
            <a:spLocks noGrp="1"/>
          </p:cNvSpPr>
          <p:nvPr/>
        </p:nvSpPr>
        <p:spPr>
          <a:xfrm>
            <a:off x="847725" y="2952750"/>
            <a:ext cx="66675" cy="66675"/>
          </a:xfrm>
          <a:prstGeom prst="ellipse">
            <a:avLst/>
          </a:prstGeom>
          <a:solidFill>
            <a:srgbClr val="0982B2"/>
          </a:solidFill>
          <a:ln w="0">
            <a:noFill/>
            <a:prstDash val="solid"/>
          </a:ln>
        </p:spPr>
      </p:sp>
      <p:sp>
        <p:nvSpPr>
          <p:cNvPr id="11" name="rule-line-1-1"/>
          <p:cNvSpPr>
            <a:spLocks noGrp="1"/>
          </p:cNvSpPr>
          <p:nvPr/>
        </p:nvSpPr>
        <p:spPr>
          <a:xfrm>
            <a:off x="1000125" y="2857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导师按批次配置专业与学位范围。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ule-dot-1-2"/>
          <p:cNvSpPr>
            <a:spLocks noGrp="1"/>
          </p:cNvSpPr>
          <p:nvPr/>
        </p:nvSpPr>
        <p:spPr>
          <a:xfrm>
            <a:off x="847725" y="3286125"/>
            <a:ext cx="66675" cy="66675"/>
          </a:xfrm>
          <a:prstGeom prst="ellipse">
            <a:avLst/>
          </a:prstGeom>
          <a:solidFill>
            <a:srgbClr val="0982B2"/>
          </a:solidFill>
          <a:ln w="0">
            <a:noFill/>
            <a:prstDash val="solid"/>
          </a:ln>
        </p:spPr>
      </p:sp>
      <p:sp>
        <p:nvSpPr>
          <p:cNvPr id="13" name="rule-line-1-2"/>
          <p:cNvSpPr>
            <a:spLocks noGrp="1"/>
          </p:cNvSpPr>
          <p:nvPr/>
        </p:nvSpPr>
        <p:spPr>
          <a:xfrm>
            <a:off x="1000125" y="31908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填报开窗时冻结业务名单与招生范围。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ule-card-2"/>
          <p:cNvSpPr>
            <a:spLocks noGrp="1"/>
          </p:cNvSpPr>
          <p:nvPr/>
        </p:nvSpPr>
        <p:spPr>
          <a:xfrm>
            <a:off x="4333875" y="1562100"/>
            <a:ext cx="3524250" cy="2257425"/>
          </a:xfrm>
          <a:prstGeom prst="roundRect">
            <a:avLst>
              <a:gd name="adj" fmla="val 5063"/>
            </a:avLst>
          </a:prstGeom>
          <a:solidFill>
            <a:srgbClr val="E8F3F8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15" name="rule-accent-2"/>
          <p:cNvSpPr>
            <a:spLocks noGrp="1"/>
          </p:cNvSpPr>
          <p:nvPr/>
        </p:nvSpPr>
        <p:spPr>
          <a:xfrm>
            <a:off x="4333875" y="1562100"/>
            <a:ext cx="47625" cy="2257425"/>
          </a:xfrm>
          <a:prstGeom prst="rect">
            <a:avLst/>
          </a:prstGeom>
          <a:solidFill>
            <a:srgbClr val="248B85"/>
          </a:solidFill>
          <a:ln w="0">
            <a:noFill/>
            <a:prstDash val="solid"/>
          </a:ln>
        </p:spPr>
      </p:sp>
      <p:sp>
        <p:nvSpPr>
          <p:cNvPr id="16" name="rule-number-2"/>
          <p:cNvSpPr>
            <a:spLocks noGrp="1"/>
          </p:cNvSpPr>
          <p:nvPr/>
        </p:nvSpPr>
        <p:spPr>
          <a:xfrm>
            <a:off x="4562475" y="17526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1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ule-title-2"/>
          <p:cNvSpPr>
            <a:spLocks noGrp="1"/>
          </p:cNvSpPr>
          <p:nvPr/>
        </p:nvSpPr>
        <p:spPr>
          <a:xfrm>
            <a:off x="4562475" y="2085975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分轮处理</a:t>
            </a:r>
            <a:endParaRPr sz="17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ule-dot-2-0"/>
          <p:cNvSpPr>
            <a:spLocks noGrp="1"/>
          </p:cNvSpPr>
          <p:nvPr/>
        </p:nvSpPr>
        <p:spPr>
          <a:xfrm>
            <a:off x="4572000" y="2619375"/>
            <a:ext cx="66675" cy="66675"/>
          </a:xfrm>
          <a:prstGeom prst="ellipse">
            <a:avLst/>
          </a:prstGeom>
          <a:solidFill>
            <a:srgbClr val="248B85"/>
          </a:solidFill>
          <a:ln w="0">
            <a:noFill/>
            <a:prstDash val="solid"/>
          </a:ln>
        </p:spPr>
      </p:sp>
      <p:sp>
        <p:nvSpPr>
          <p:cNvPr id="19" name="rule-line-2-0"/>
          <p:cNvSpPr>
            <a:spLocks noGrp="1"/>
          </p:cNvSpPr>
          <p:nvPr/>
        </p:nvSpPr>
        <p:spPr>
          <a:xfrm>
            <a:off x="4724400" y="2524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/ 2 / 3 轮对应第 1 / 2 / 3 志愿。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ule-dot-2-1"/>
          <p:cNvSpPr>
            <a:spLocks noGrp="1"/>
          </p:cNvSpPr>
          <p:nvPr/>
        </p:nvSpPr>
        <p:spPr>
          <a:xfrm>
            <a:off x="4572000" y="2952750"/>
            <a:ext cx="66675" cy="66675"/>
          </a:xfrm>
          <a:prstGeom prst="ellipse">
            <a:avLst/>
          </a:prstGeom>
          <a:solidFill>
            <a:srgbClr val="248B85"/>
          </a:solidFill>
          <a:ln w="0">
            <a:noFill/>
            <a:prstDash val="solid"/>
          </a:ln>
        </p:spPr>
      </p:sp>
      <p:sp>
        <p:nvSpPr>
          <p:cNvPr id="21" name="rule-line-2-1"/>
          <p:cNvSpPr>
            <a:spLocks noGrp="1"/>
          </p:cNvSpPr>
          <p:nvPr/>
        </p:nvSpPr>
        <p:spPr>
          <a:xfrm>
            <a:off x="4724400" y="2857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导师对投向本人的申请逐项决定。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ule-dot-2-2"/>
          <p:cNvSpPr>
            <a:spLocks noGrp="1"/>
          </p:cNvSpPr>
          <p:nvPr/>
        </p:nvSpPr>
        <p:spPr>
          <a:xfrm>
            <a:off x="4572000" y="3286125"/>
            <a:ext cx="66675" cy="66675"/>
          </a:xfrm>
          <a:prstGeom prst="ellipse">
            <a:avLst/>
          </a:prstGeom>
          <a:solidFill>
            <a:srgbClr val="248B85"/>
          </a:solidFill>
          <a:ln w="0">
            <a:noFill/>
            <a:prstDash val="solid"/>
          </a:ln>
        </p:spPr>
      </p:sp>
      <p:sp>
        <p:nvSpPr>
          <p:cNvPr id="23" name="rule-line-2-2"/>
          <p:cNvSpPr>
            <a:spLocks noGrp="1"/>
          </p:cNvSpPr>
          <p:nvPr/>
        </p:nvSpPr>
        <p:spPr>
          <a:xfrm>
            <a:off x="4724400" y="31908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录取检查名额并立即锁定关系。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ule-card-3"/>
          <p:cNvSpPr>
            <a:spLocks noGrp="1"/>
          </p:cNvSpPr>
          <p:nvPr/>
        </p:nvSpPr>
        <p:spPr>
          <a:xfrm>
            <a:off x="8058150" y="1562100"/>
            <a:ext cx="352425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25" name="rule-accent-3"/>
          <p:cNvSpPr>
            <a:spLocks noGrp="1"/>
          </p:cNvSpPr>
          <p:nvPr/>
        </p:nvSpPr>
        <p:spPr>
          <a:xfrm>
            <a:off x="8058150" y="1562100"/>
            <a:ext cx="47625" cy="2257425"/>
          </a:xfrm>
          <a:prstGeom prst="rect">
            <a:avLst/>
          </a:prstGeom>
          <a:solidFill>
            <a:srgbClr val="E6A348"/>
          </a:solidFill>
          <a:ln w="0">
            <a:noFill/>
            <a:prstDash val="solid"/>
          </a:ln>
        </p:spPr>
      </p:sp>
      <p:sp>
        <p:nvSpPr>
          <p:cNvPr id="26" name="rule-number-3"/>
          <p:cNvSpPr>
            <a:spLocks noGrp="1"/>
          </p:cNvSpPr>
          <p:nvPr/>
        </p:nvSpPr>
        <p:spPr>
          <a:xfrm>
            <a:off x="8286750" y="17526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125" b="1">
                <a:solidFill>
                  <a:srgbClr val="E6A3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E6A3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6A3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1">
              <a:solidFill>
                <a:srgbClr val="E6A3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ule-title-3"/>
          <p:cNvSpPr>
            <a:spLocks noGrp="1"/>
          </p:cNvSpPr>
          <p:nvPr/>
        </p:nvSpPr>
        <p:spPr>
          <a:xfrm>
            <a:off x="8286750" y="2085975"/>
            <a:ext cx="2905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独立补选</a:t>
            </a:r>
            <a:endParaRPr sz="17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ule-dot-3-0"/>
          <p:cNvSpPr>
            <a:spLocks noGrp="1"/>
          </p:cNvSpPr>
          <p:nvPr/>
        </p:nvSpPr>
        <p:spPr>
          <a:xfrm>
            <a:off x="8296275" y="2619375"/>
            <a:ext cx="66675" cy="66675"/>
          </a:xfrm>
          <a:prstGeom prst="ellipse">
            <a:avLst/>
          </a:prstGeom>
          <a:solidFill>
            <a:srgbClr val="E6A348"/>
          </a:solidFill>
          <a:ln w="0">
            <a:noFill/>
            <a:prstDash val="solid"/>
          </a:ln>
        </p:spPr>
      </p:sp>
      <p:sp>
        <p:nvSpPr>
          <p:cNvPr id="29" name="rule-line-3-0"/>
          <p:cNvSpPr>
            <a:spLocks noGrp="1"/>
          </p:cNvSpPr>
          <p:nvPr/>
        </p:nvSpPr>
        <p:spPr>
          <a:xfrm>
            <a:off x="8448675" y="2524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是否安排补选在批次发布前确定。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ule-dot-3-1"/>
          <p:cNvSpPr>
            <a:spLocks noGrp="1"/>
          </p:cNvSpPr>
          <p:nvPr/>
        </p:nvSpPr>
        <p:spPr>
          <a:xfrm>
            <a:off x="8296275" y="2952750"/>
            <a:ext cx="66675" cy="66675"/>
          </a:xfrm>
          <a:prstGeom prst="ellipse">
            <a:avLst/>
          </a:prstGeom>
          <a:solidFill>
            <a:srgbClr val="E6A348"/>
          </a:solidFill>
          <a:ln w="0">
            <a:noFill/>
            <a:prstDash val="solid"/>
          </a:ln>
        </p:spPr>
      </p:sp>
      <p:sp>
        <p:nvSpPr>
          <p:cNvPr id="31" name="rule-line-3-1"/>
          <p:cNvSpPr>
            <a:spLocks noGrp="1"/>
          </p:cNvSpPr>
          <p:nvPr/>
        </p:nvSpPr>
        <p:spPr>
          <a:xfrm>
            <a:off x="8448675" y="2857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补选窗口单独排期，不重跑三轮。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ule-dot-3-2"/>
          <p:cNvSpPr>
            <a:spLocks noGrp="1"/>
          </p:cNvSpPr>
          <p:nvPr/>
        </p:nvSpPr>
        <p:spPr>
          <a:xfrm>
            <a:off x="8296275" y="3286125"/>
            <a:ext cx="66675" cy="66675"/>
          </a:xfrm>
          <a:prstGeom prst="ellipse">
            <a:avLst/>
          </a:prstGeom>
          <a:solidFill>
            <a:srgbClr val="E6A348"/>
          </a:solidFill>
          <a:ln w="0">
            <a:noFill/>
            <a:prstDash val="solid"/>
          </a:ln>
        </p:spPr>
      </p:sp>
      <p:sp>
        <p:nvSpPr>
          <p:cNvPr id="33" name="rule-line-3-2"/>
          <p:cNvSpPr>
            <a:spLocks noGrp="1"/>
          </p:cNvSpPr>
          <p:nvPr/>
        </p:nvSpPr>
        <p:spPr>
          <a:xfrm>
            <a:off x="8448675" y="31908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窗口关闭后结案并完成批次。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tatus-card"/>
          <p:cNvSpPr>
            <a:spLocks noGrp="1"/>
          </p:cNvSpPr>
          <p:nvPr/>
        </p:nvSpPr>
        <p:spPr>
          <a:xfrm>
            <a:off x="609600" y="4114800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E8F4F0"/>
          </a:solidFill>
          <a:ln w="9525">
            <a:solidFill>
              <a:srgbClr val="D4E9E2"/>
            </a:solidFill>
            <a:prstDash val="solid"/>
          </a:ln>
        </p:spPr>
      </p:sp>
      <p:sp>
        <p:nvSpPr>
          <p:cNvPr id="35" name="status-label"/>
          <p:cNvSpPr>
            <a:spLocks noGrp="1"/>
          </p:cNvSpPr>
          <p:nvPr/>
        </p:nvSpPr>
        <p:spPr>
          <a:xfrm>
            <a:off x="838200" y="42576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endParaRPr sz="900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tatus-main"/>
          <p:cNvSpPr>
            <a:spLocks noGrp="1"/>
          </p:cNvSpPr>
          <p:nvPr/>
        </p:nvSpPr>
        <p:spPr>
          <a:xfrm>
            <a:off x="838200" y="447675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3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学生、导师与管理员的主要业务链路已接入当前代码。</a:t>
            </a:r>
            <a:endParaRPr sz="1425" b="1">
              <a:solidFill>
                <a:srgbClr val="123D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status-note"/>
          <p:cNvSpPr>
            <a:spLocks noGrp="1"/>
          </p:cNvSpPr>
          <p:nvPr/>
        </p:nvSpPr>
        <p:spPr>
          <a:xfrm>
            <a:off x="7572375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核心自动化验收与目标环境部署、运维核验仍需继续。</a:t>
            </a:r>
            <a:endParaRPr sz="975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ch-label"/>
          <p:cNvSpPr>
            <a:spLocks noGrp="1"/>
          </p:cNvSpPr>
          <p:nvPr/>
        </p:nvSpPr>
        <p:spPr>
          <a:xfrm>
            <a:off x="609600" y="4912360"/>
            <a:ext cx="2904490" cy="784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9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项目地址：</a:t>
            </a:r>
            <a:r>
              <a:rPr lang="en-US" altLang="zh-CN" sz="1600" b="1">
                <a:solidFill>
                  <a:srgbClr val="0982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https://119.23.64.98/</a:t>
            </a:r>
            <a:endParaRPr lang="en-US" altLang="zh-CN" sz="1600" b="1">
              <a:solidFill>
                <a:srgbClr val="0982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ch-chip-1"/>
          <p:cNvSpPr>
            <a:spLocks noGrp="1"/>
          </p:cNvSpPr>
          <p:nvPr/>
        </p:nvSpPr>
        <p:spPr>
          <a:xfrm>
            <a:off x="609600" y="5657850"/>
            <a:ext cx="23812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40" name="tech-text-1"/>
          <p:cNvSpPr>
            <a:spLocks noGrp="1"/>
          </p:cNvSpPr>
          <p:nvPr/>
        </p:nvSpPr>
        <p:spPr>
          <a:xfrm>
            <a:off x="685800" y="5695950"/>
            <a:ext cx="2228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8 · Spring Boot 2.6.6</a:t>
            </a:r>
            <a:endParaRPr sz="975" b="0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ch-chip-2"/>
          <p:cNvSpPr>
            <a:spLocks noGrp="1"/>
          </p:cNvSpPr>
          <p:nvPr/>
        </p:nvSpPr>
        <p:spPr>
          <a:xfrm>
            <a:off x="3143250" y="5657850"/>
            <a:ext cx="2238375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42" name="tech-text-2"/>
          <p:cNvSpPr>
            <a:spLocks noGrp="1"/>
          </p:cNvSpPr>
          <p:nvPr/>
        </p:nvSpPr>
        <p:spPr>
          <a:xfrm>
            <a:off x="3219450" y="5695950"/>
            <a:ext cx="20859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5.7.36</a:t>
            </a:r>
            <a:endParaRPr sz="975" b="0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ch-chip-3"/>
          <p:cNvSpPr>
            <a:spLocks noGrp="1"/>
          </p:cNvSpPr>
          <p:nvPr/>
        </p:nvSpPr>
        <p:spPr>
          <a:xfrm>
            <a:off x="5534025" y="5657850"/>
            <a:ext cx="23812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44" name="tech-text-3"/>
          <p:cNvSpPr>
            <a:spLocks noGrp="1"/>
          </p:cNvSpPr>
          <p:nvPr/>
        </p:nvSpPr>
        <p:spPr>
          <a:xfrm>
            <a:off x="5610225" y="5695950"/>
            <a:ext cx="2228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3556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</a:t>
            </a:r>
            <a:endParaRPr sz="975" b="0">
              <a:solidFill>
                <a:srgbClr val="3556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ch-chip-4"/>
          <p:cNvSpPr>
            <a:spLocks noGrp="1"/>
          </p:cNvSpPr>
          <p:nvPr/>
        </p:nvSpPr>
        <p:spPr>
          <a:xfrm>
            <a:off x="8067675" y="5657850"/>
            <a:ext cx="3514725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E4EB"/>
            </a:solidFill>
            <a:prstDash val="solid"/>
          </a:ln>
        </p:spPr>
      </p:sp>
      <p:sp>
        <p:nvSpPr>
          <p:cNvPr id="46" name="tech-text-4"/>
          <p:cNvSpPr>
            <a:spLocks noGrp="1"/>
          </p:cNvSpPr>
          <p:nvPr/>
        </p:nvSpPr>
        <p:spPr>
          <a:xfrm>
            <a:off x="8143875" y="5695950"/>
            <a:ext cx="33623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ctr">
              <a:defRPr sz="97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48B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年度资格 · 分轮志愿 · 独立补选</a:t>
            </a:r>
            <a:endParaRPr sz="975" b="1">
              <a:solidFill>
                <a:srgbClr val="248B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footer-rule-7"/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8E4EB"/>
          </a:solidFill>
          <a:ln w="0">
            <a:noFill/>
            <a:prstDash val="solid"/>
          </a:ln>
        </p:spPr>
      </p:sp>
      <p:sp>
        <p:nvSpPr>
          <p:cNvPr id="48" name="footer-brand-7"/>
          <p:cNvSpPr>
            <a:spLocks noGrp="1"/>
          </p:cNvSpPr>
          <p:nvPr/>
        </p:nvSpPr>
        <p:spPr>
          <a:xfrm>
            <a:off x="609600" y="65436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l">
              <a:defRPr sz="750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750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湖南科技大学师生互选系统 · 项目介绍</a:t>
            </a:r>
            <a:endParaRPr sz="750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footer-page-7"/>
          <p:cNvSpPr>
            <a:spLocks noGrp="1"/>
          </p:cNvSpPr>
          <p:nvPr/>
        </p:nvSpPr>
        <p:spPr>
          <a:xfrm>
            <a:off x="11049000" y="6524625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 algn="r">
              <a:defRPr sz="825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825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D8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825" b="1">
              <a:solidFill>
                <a:srgbClr val="6D8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1086</Words>
  <Application>WPS 演示</Application>
  <PresentationFormat>Converted Presentation</PresentationFormat>
  <Paragraphs>184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xiaot</cp:lastModifiedBy>
  <cp:revision>6</cp:revision>
  <dcterms:created xsi:type="dcterms:W3CDTF">2026-10-10T09:20:02Z</dcterms:created>
  <dcterms:modified xsi:type="dcterms:W3CDTF">2026-10-10T09:37:22Z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2050DE502C5A4905A5B8BA493020A11C_12</vt:lpwstr>
  </property>
</Properties>
</file>