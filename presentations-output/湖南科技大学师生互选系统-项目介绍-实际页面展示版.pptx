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c5f31485534726" /><Relationship Type="http://schemas.openxmlformats.org/officeDocument/2006/relationships/extended-properties" Target="/docProps/app.xml" Id="R8c9d6865da3c4fd6" /><Relationship Type="http://schemas.openxmlformats.org/officeDocument/2006/relationships/officeDocument" Target="/ppt/presentation.xml" Id="Rf41be238453f42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9282357d614798"/>
  </p:sldMasterIdLst>
  <p:notesMasterIdLst>
    <p:notesMasterId xmlns:r="http://schemas.openxmlformats.org/officeDocument/2006/relationships" r:id="R452377caa3704392"/>
  </p:notesMasterIdLst>
  <p:sldIdLst>
    <p:sldId xmlns:r="http://schemas.openxmlformats.org/officeDocument/2006/relationships" id="256" r:id="R97447b0e3b8a48cb"/>
    <p:sldId xmlns:r="http://schemas.openxmlformats.org/officeDocument/2006/relationships" id="257" r:id="R88d1aaf076bd473d"/>
    <p:sldId xmlns:r="http://schemas.openxmlformats.org/officeDocument/2006/relationships" id="258" r:id="R8dbe0eabedaf4535"/>
    <p:sldId xmlns:r="http://schemas.openxmlformats.org/officeDocument/2006/relationships" id="259" r:id="R123412f004004438"/>
    <p:sldId xmlns:r="http://schemas.openxmlformats.org/officeDocument/2006/relationships" id="260" r:id="Ra8ce668a7c014f7a"/>
    <p:sldId xmlns:r="http://schemas.openxmlformats.org/officeDocument/2006/relationships" id="261" r:id="R72218bfbbca3408a"/>
    <p:sldId xmlns:r="http://schemas.openxmlformats.org/officeDocument/2006/relationships" id="262" r:id="R0e7b70165eaa41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40e0c088614369" /><Relationship Type="http://schemas.openxmlformats.org/officeDocument/2006/relationships/slideMaster" Target="/ppt/slideMasters/slideMaster1.xml" Id="Rd29282357d614798" /><Relationship Type="http://schemas.openxmlformats.org/officeDocument/2006/relationships/notesMaster" Target="/ppt/notesMasters/notesMaster1.xml" Id="R452377caa3704392" /><Relationship Type="http://schemas.openxmlformats.org/officeDocument/2006/relationships/presProps" Target="/ppt/presProps.xml" Id="Rfcad251bb212498f" /><Relationship Type="http://schemas.openxmlformats.org/officeDocument/2006/relationships/tableStyles" Target="/ppt/tableStyles.xml" Id="R4ec9bcc9fede44cb" /><Relationship Type="http://schemas.openxmlformats.org/officeDocument/2006/relationships/slide" Target="/ppt/slides/slide1.xml" Id="R97447b0e3b8a48cb" /><Relationship Type="http://schemas.openxmlformats.org/officeDocument/2006/relationships/slide" Target="/ppt/slides/slide2.xml" Id="R88d1aaf076bd473d" /><Relationship Type="http://schemas.openxmlformats.org/officeDocument/2006/relationships/slide" Target="/ppt/slides/slide3.xml" Id="R8dbe0eabedaf4535" /><Relationship Type="http://schemas.openxmlformats.org/officeDocument/2006/relationships/slide" Target="/ppt/slides/slide4.xml" Id="R123412f004004438" /><Relationship Type="http://schemas.openxmlformats.org/officeDocument/2006/relationships/slide" Target="/ppt/slides/slide5.xml" Id="Ra8ce668a7c014f7a" /><Relationship Type="http://schemas.openxmlformats.org/officeDocument/2006/relationships/slide" Target="/ppt/slides/slide6.xml" Id="R72218bfbbca3408a" /><Relationship Type="http://schemas.openxmlformats.org/officeDocument/2006/relationships/slide" Target="/ppt/slides/slide7.xml" Id="R0e7b70165eaa41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07690ca96144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7066c94a7c416a" /><Relationship Type="http://schemas.openxmlformats.org/officeDocument/2006/relationships/notesMaster" Target="/ppt/notesMasters/notesMaster1.xml" Id="R0f506800395f40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5b7e5e78c94d5a" /><Relationship Type="http://schemas.openxmlformats.org/officeDocument/2006/relationships/notesMaster" Target="/ppt/notesMasters/notesMaster1.xml" Id="R9e6ae6a3968949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4e6deca1004a3a" /><Relationship Type="http://schemas.openxmlformats.org/officeDocument/2006/relationships/notesMaster" Target="/ppt/notesMasters/notesMaster1.xml" Id="R455dafe76bed48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54786e58354568" /><Relationship Type="http://schemas.openxmlformats.org/officeDocument/2006/relationships/notesMaster" Target="/ppt/notesMasters/notesMaster1.xml" Id="R01ca64e86fba45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f90c40b3ec4f62" /><Relationship Type="http://schemas.openxmlformats.org/officeDocument/2006/relationships/notesMaster" Target="/ppt/notesMasters/notesMaster1.xml" Id="R61492ba5d8c943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33b892da444b28" /><Relationship Type="http://schemas.openxmlformats.org/officeDocument/2006/relationships/notesMaster" Target="/ppt/notesMasters/notesMaster1.xml" Id="R11e89af1045049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bfbb069f9e4741" /><Relationship Type="http://schemas.openxmlformats.org/officeDocument/2006/relationships/notesMaster" Target="/ppt/notesMasters/notesMaster1.xml" Id="R47da103bc6a942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封面页面截图来自 frontend/src/components/student/StudentWorkspace.vue，以合成演示数据运行。项目现状参照用户提供的 AGENTS.md 与 docs/README.md。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业务规则来源：requirements.md、docs/business-rules.md、docs/state-machine.md。顺位轮次为本项目分轮志愿流程；导师逐项决定，录取即时锁定关系，不是标准 Gale–Shapley 排序。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页面依据：frontend/src/components/student/StudentWorkspace.vue 与 frontend/src/services/studentPortalService.ts。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页面依据：frontend/src/components/student/StudentWorkspace.vue。进度文案对应 docs/state-machine.md 与已确认业务规则。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页面依据：frontend/src/components/teacher/TeacherWorkspace.vue 与 frontend/src/services/teacherWorkspaceService.ts。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页面依据：frontend/src/components/admin/BatchManagementPanel.vue 与 frontend/src/services/selectionBatchService.ts。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项目状态、规则依据：用户提供的 AGENTS.md，docs/README.md、docs/business-rules.md、docs/state-machine.md。技术版本参照 AGENTS.md 与 backend/pom.xml、frontend/package.json。当前代码已接入主要业务链路，不代表自动化验收或生产部署核验已完成。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84803634345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8f071e7284d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f483a9cec49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61c9d45f047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8f1d1964945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f96fa78344d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DDEC57-6F07-4532-A512-663BB95F47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A299D8-2962-4164-999C-A46958BDFE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9C03C9-DC63-4624-864B-91AD44BD4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AD321E-7964-4F95-BEBA-D9845F0972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8A0ACB-C191-4586-9DF6-F419DFBA04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DB7D8D-79D0-47D5-9C90-C0F205D3C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2211C5-E7D1-4B69-930F-3945F3EE3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5C5432-F398-4440-8BE7-E02EA67382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08A27F-7E08-49C7-A7E0-527ACDC1F5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992CF9-EBBC-447E-86D4-47C9927E3D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7abe0ae5084f56" /><Relationship Type="http://schemas.openxmlformats.org/officeDocument/2006/relationships/slideLayout" Target="/ppt/slideLayouts/slideLayout1.xml" Id="R2bb736602d0947d9" /><Relationship Type="http://schemas.openxmlformats.org/officeDocument/2006/relationships/slideLayout" Target="/ppt/slideLayouts/slideLayout2.xml" Id="Rc79998a62afc4779" /><Relationship Type="http://schemas.openxmlformats.org/officeDocument/2006/relationships/slideLayout" Target="/ppt/slideLayouts/slideLayout3.xml" Id="R7b5304e2cb924677" /><Relationship Type="http://schemas.openxmlformats.org/officeDocument/2006/relationships/slideLayout" Target="/ppt/slideLayouts/slideLayout4.xml" Id="R838f3c7f5aa54351" /><Relationship Type="http://schemas.openxmlformats.org/officeDocument/2006/relationships/slideLayout" Target="/ppt/slideLayouts/slideLayout5.xml" Id="R0e4709264c744f5d" /><Relationship Type="http://schemas.openxmlformats.org/officeDocument/2006/relationships/slideLayout" Target="/ppt/slideLayouts/slideLayout6.xml" Id="Rad125469e08e4f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736602d0947d9"/>
    <p:sldLayoutId xmlns:r="http://schemas.openxmlformats.org/officeDocument/2006/relationships" id="2147483650" r:id="Rc79998a62afc4779"/>
    <p:sldLayoutId xmlns:r="http://schemas.openxmlformats.org/officeDocument/2006/relationships" id="2147483651" r:id="R7b5304e2cb924677"/>
    <p:sldLayoutId xmlns:r="http://schemas.openxmlformats.org/officeDocument/2006/relationships" id="2147483652" r:id="R838f3c7f5aa54351"/>
    <p:sldLayoutId xmlns:r="http://schemas.openxmlformats.org/officeDocument/2006/relationships" id="2147483653" r:id="R0e4709264c744f5d"/>
    <p:sldLayoutId xmlns:r="http://schemas.openxmlformats.org/officeDocument/2006/relationships" id="2147483654" r:id="Rad125469e08e4f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7ad22ae8741a1" /><Relationship Type="http://schemas.openxmlformats.org/officeDocument/2006/relationships/image" Target="/ppt/media/image.png" Id="R6e2beb6085714809" /><Relationship Type="http://schemas.openxmlformats.org/officeDocument/2006/relationships/notesSlide" Target="/ppt/notesSlides/notesSlide1.xml" Id="R349ecd12dd554b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3991e46074a61" /><Relationship Type="http://schemas.openxmlformats.org/officeDocument/2006/relationships/notesSlide" Target="/ppt/notesSlides/notesSlide2.xml" Id="R193f8d74b8d24c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fa6370f954f41" /><Relationship Type="http://schemas.openxmlformats.org/officeDocument/2006/relationships/image" Target="/ppt/media/image2.png" Id="Rf8a80c2df3a54ebb" /><Relationship Type="http://schemas.openxmlformats.org/officeDocument/2006/relationships/notesSlide" Target="/ppt/notesSlides/notesSlide3.xml" Id="R8a1b050108874f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f6049774e4305" /><Relationship Type="http://schemas.openxmlformats.org/officeDocument/2006/relationships/image" Target="/ppt/media/image3.png" Id="Rc76e4e3123fe42cc" /><Relationship Type="http://schemas.openxmlformats.org/officeDocument/2006/relationships/notesSlide" Target="/ppt/notesSlides/notesSlide4.xml" Id="R514a17f8de2147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4bc0a54ab4a55" /><Relationship Type="http://schemas.openxmlformats.org/officeDocument/2006/relationships/image" Target="/ppt/media/image4.png" Id="R9a7b89be736441e6" /><Relationship Type="http://schemas.openxmlformats.org/officeDocument/2006/relationships/notesSlide" Target="/ppt/notesSlides/notesSlide5.xml" Id="Rb679fbe69d8d42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fd786b15ea43ef" /><Relationship Type="http://schemas.openxmlformats.org/officeDocument/2006/relationships/image" Target="/ppt/media/image5.png" Id="R0d1528d3b9144e31" /><Relationship Type="http://schemas.openxmlformats.org/officeDocument/2006/relationships/notesSlide" Target="/ppt/notesSlides/notesSlide6.xml" Id="R59620542a5dd46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1037194f304b6b" /><Relationship Type="http://schemas.openxmlformats.org/officeDocument/2006/relationships/notesSlide" Target="/ppt/notesSlides/notesSlide7.xml" Id="Reab8b284c96f4e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ver-accent-bar">
            <a:extLst xmlns:a="http://schemas.openxmlformats.org/drawingml/2006/main">
              <a:ext uri="{FF2B5EF4-FFF2-40B4-BE49-F238E27FC236}">
                <a16:creationId xmlns:a16="http://schemas.microsoft.com/office/drawing/2014/main" id="{E88B5C87-49DB-46D1-9F94-A7B10088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oft-circle">
            <a:extLst xmlns:a="http://schemas.openxmlformats.org/drawingml/2006/main">
              <a:ext uri="{FF2B5EF4-FFF2-40B4-BE49-F238E27FC236}">
                <a16:creationId xmlns:a16="http://schemas.microsoft.com/office/drawing/2014/main" id="{1C847167-2FFB-42A4-B428-DC40CF7A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3857625" cy="385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university">
            <a:extLst xmlns:a="http://schemas.openxmlformats.org/drawingml/2006/main">
              <a:ext uri="{FF2B5EF4-FFF2-40B4-BE49-F238E27FC236}">
                <a16:creationId xmlns:a16="http://schemas.microsoft.com/office/drawing/2014/main" id="{9F5ADE1A-D844-43DF-8F19-299D942E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湖南科技大学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A036E98-36E9-488E-AA71-F36AB618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rPr>
              <a:t>师生互选系统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8AE6FB2-FE42-4CB3-B0DB-4248B8B7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从有序志愿，到逐轮处理与结果跟踪</a:t>
            </a:r>
          </a:p>
        </p:txBody>
      </p:sp>
      <p:sp>
        <p:nvSpPr>
          <p:cNvPr id="6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F9F26099-3D6D-4E61-B67A-678BE285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项目介绍 · 学生端 / 导师端 / 管理端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25347B47-9989-4C6E-9696-21074412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2001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972DA-4216-4505-8B14-4CE2B77513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beb6085714809"/>
          <a:srcRect xmlns:a="http://schemas.openxmlformats.org/drawingml/2006/main" l="0" t="1125" r="0" b="1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1285875"/>
            <a:ext cx="5924550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9" name="cover-student-tag">
            <a:extLst xmlns:a="http://schemas.openxmlformats.org/drawingml/2006/main">
              <a:ext uri="{FF2B5EF4-FFF2-40B4-BE49-F238E27FC236}">
                <a16:creationId xmlns:a16="http://schemas.microsoft.com/office/drawing/2014/main" id="{761C1BA1-0594-45B5-A2B4-B32B86B9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863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0" name="cover-teacher-tag">
            <a:extLst xmlns:a="http://schemas.openxmlformats.org/drawingml/2006/main">
              <a:ext uri="{FF2B5EF4-FFF2-40B4-BE49-F238E27FC236}">
                <a16:creationId xmlns:a16="http://schemas.microsoft.com/office/drawing/2014/main" id="{D8FD662B-DB4D-466A-A095-3DFDA7D2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1" name="cover-admin-tag">
            <a:extLst xmlns:a="http://schemas.openxmlformats.org/drawingml/2006/main">
              <a:ext uri="{FF2B5EF4-FFF2-40B4-BE49-F238E27FC236}">
                <a16:creationId xmlns:a16="http://schemas.microsoft.com/office/drawing/2014/main" id="{BC110F6B-A934-47CA-A7D2-87318364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2" name="cover-student-label">
            <a:extLst xmlns:a="http://schemas.openxmlformats.org/drawingml/2006/main">
              <a:ext uri="{FF2B5EF4-FFF2-40B4-BE49-F238E27FC236}">
                <a16:creationId xmlns:a16="http://schemas.microsoft.com/office/drawing/2014/main" id="{634380CF-8C93-4B9E-BC0B-215C4C23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95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 · 填报志愿</a:t>
            </a:r>
          </a:p>
        </p:txBody>
      </p:sp>
      <p:sp>
        <p:nvSpPr>
          <p:cNvPr id="13" name="cover-teacher-label">
            <a:extLst xmlns:a="http://schemas.openxmlformats.org/drawingml/2006/main">
              <a:ext uri="{FF2B5EF4-FFF2-40B4-BE49-F238E27FC236}">
                <a16:creationId xmlns:a16="http://schemas.microsoft.com/office/drawing/2014/main" id="{4B9F87E0-B05E-45A1-B7F6-C3537FF9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95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导师 · 处理申请</a:t>
            </a:r>
          </a:p>
        </p:txBody>
      </p:sp>
      <p:sp>
        <p:nvSpPr>
          <p:cNvPr id="14" name="cover-admin-label">
            <a:extLst xmlns:a="http://schemas.openxmlformats.org/drawingml/2006/main">
              <a:ext uri="{FF2B5EF4-FFF2-40B4-BE49-F238E27FC236}">
                <a16:creationId xmlns:a16="http://schemas.microsoft.com/office/drawing/2014/main" id="{1F40CBB4-C398-4B10-BE3C-06DEEC62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958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管理员 · 配置批次</a:t>
            </a:r>
          </a:p>
        </p:txBody>
      </p:sp>
      <p:sp>
        <p:nvSpPr>
          <p:cNvPr id="15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06DFFE11-5E5E-475D-A8E6-77D36128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340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页面来自项目实际前端组件；页面记录为演示数据。</a:t>
            </a:r>
          </a:p>
        </p:txBody>
      </p:sp>
      <p:sp>
        <p:nvSpPr>
          <p:cNvPr id="16" name="cover-bottom-rule">
            <a:extLst xmlns:a="http://schemas.openxmlformats.org/drawingml/2006/main">
              <a:ext uri="{FF2B5EF4-FFF2-40B4-BE49-F238E27FC236}">
                <a16:creationId xmlns:a16="http://schemas.microsoft.com/office/drawing/2014/main" id="{ED706B7B-A508-4131-A214-F69E44E5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bottom-label">
            <a:extLst xmlns:a="http://schemas.openxmlformats.org/drawingml/2006/main">
              <a:ext uri="{FF2B5EF4-FFF2-40B4-BE49-F238E27FC236}">
                <a16:creationId xmlns:a16="http://schemas.microsoft.com/office/drawing/2014/main" id="{92E0D216-29B8-4224-BDA1-7212B805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项目展示</a:t>
            </a:r>
          </a:p>
        </p:txBody>
      </p:sp>
      <p:sp>
        <p:nvSpPr>
          <p:cNvPr id="18" name="cover-bottom-year">
            <a:extLst xmlns:a="http://schemas.openxmlformats.org/drawingml/2006/main">
              <a:ext uri="{FF2B5EF4-FFF2-40B4-BE49-F238E27FC236}">
                <a16:creationId xmlns:a16="http://schemas.microsoft.com/office/drawing/2014/main" id="{EE5F9F48-8F81-41F0-ABC9-16D357E2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943522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kicker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F85B77A7-4B90-481C-9B54-56DF1757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BUSINESS FLOW</a:t>
            </a:r>
          </a:p>
        </p:txBody>
      </p:sp>
      <p:sp>
        <p:nvSpPr>
          <p:cNvPr id="2" name="title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9E49AE7F-1DD3-4072-ADF9-DD010AFD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一条互选流程，依次完成志愿与轮次处理</a:t>
            </a:r>
          </a:p>
        </p:txBody>
      </p:sp>
      <p:sp>
        <p:nvSpPr>
          <p:cNvPr id="3" name="subtitle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520DA3B5-8A0E-42A8-802F-93C2C373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学生提交有序志愿；导师对投向本人的申请逐项决定。</a:t>
            </a:r>
          </a:p>
        </p:txBody>
      </p:sp>
      <p:sp>
        <p:nvSpPr>
          <p:cNvPr id="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1119EDE8-14BD-4F98-94A7-BF9C41B6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CA81DAAE-5422-4FE3-B7D6-918C19E2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67A94757-CFEE-413E-90B1-601C02B2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身份核对</a:t>
            </a:r>
          </a:p>
        </p:txBody>
      </p:sp>
      <p:sp>
        <p:nvSpPr>
          <p:cNvPr id="7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6AEBF3B1-9695-4F19-977D-82398FC5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确认专业与学位</a:t>
            </a:r>
          </a:p>
        </p:txBody>
      </p:sp>
      <p:sp>
        <p:nvSpPr>
          <p:cNvPr id="8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27C5AE96-1EE5-4BC7-B804-B3AAF764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flow-step-2">
            <a:extLst xmlns:a="http://schemas.openxmlformats.org/drawingml/2006/main">
              <a:ext uri="{FF2B5EF4-FFF2-40B4-BE49-F238E27FC236}">
                <a16:creationId xmlns:a16="http://schemas.microsoft.com/office/drawing/2014/main" id="{D68C5390-4306-4EE6-95B1-80005B8A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0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FBB6E6D2-07C8-4A4E-B82F-8FDE0AE7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01C7A695-B005-4DF2-A305-352BEA10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志愿提交</a:t>
            </a:r>
          </a:p>
        </p:txBody>
      </p:sp>
      <p:sp>
        <p:nvSpPr>
          <p:cNvPr id="12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42CB142A-C7C5-4E03-A151-160D69E0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1–3 位不同导师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0FFFAD7-3BDE-4E4B-87F4-34EB6B10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flow-step-3">
            <a:extLst xmlns:a="http://schemas.openxmlformats.org/drawingml/2006/main">
              <a:ext uri="{FF2B5EF4-FFF2-40B4-BE49-F238E27FC236}">
                <a16:creationId xmlns:a16="http://schemas.microsoft.com/office/drawing/2014/main" id="{F9C3CBE1-90B3-435A-9958-8D4FB834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15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476B3F6E-92F8-43B0-A9C5-5BA5F9A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2253EC2D-02F8-425B-89B2-1C3EFD02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第一轮</a:t>
            </a:r>
          </a:p>
        </p:txBody>
      </p:sp>
      <p:sp>
        <p:nvSpPr>
          <p:cNvPr id="17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2D6BB0F5-79A2-484C-895C-6B34B626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1 志愿</a:t>
            </a:r>
          </a:p>
        </p:txBody>
      </p:sp>
      <p:sp>
        <p:nvSpPr>
          <p:cNvPr id="1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1CDEC942-AE3F-4DE0-B48C-2682982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flow-step-4">
            <a:extLst xmlns:a="http://schemas.openxmlformats.org/drawingml/2006/main">
              <a:ext uri="{FF2B5EF4-FFF2-40B4-BE49-F238E27FC236}">
                <a16:creationId xmlns:a16="http://schemas.microsoft.com/office/drawing/2014/main" id="{8D5BD823-BD0D-415D-8418-4DD47DA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20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54722C5D-940D-4495-BEE0-D6925A9E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954FBCA7-6C3C-407E-BE2F-EB5BCC11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第二轮</a:t>
            </a:r>
          </a:p>
        </p:txBody>
      </p:sp>
      <p:sp>
        <p:nvSpPr>
          <p:cNvPr id="22" name="flow-detail-4">
            <a:extLst xmlns:a="http://schemas.openxmlformats.org/drawingml/2006/main">
              <a:ext uri="{FF2B5EF4-FFF2-40B4-BE49-F238E27FC236}">
                <a16:creationId xmlns:a16="http://schemas.microsoft.com/office/drawing/2014/main" id="{DBB79ED0-C380-4010-834F-A78899CA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2 志愿</a:t>
            </a:r>
          </a:p>
        </p:txBody>
      </p:sp>
      <p:sp>
        <p:nvSpPr>
          <p:cNvPr id="23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8B7D1CD2-8F3A-4884-9764-F6E8A2C9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4" name="flow-step-5">
            <a:extLst xmlns:a="http://schemas.openxmlformats.org/drawingml/2006/main">
              <a:ext uri="{FF2B5EF4-FFF2-40B4-BE49-F238E27FC236}">
                <a16:creationId xmlns:a16="http://schemas.microsoft.com/office/drawing/2014/main" id="{C91657AD-2206-41BD-B8B8-4CD415A3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25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25311445-46F1-4A52-B198-D992FAC4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0586AEE7-5B45-4DDD-8125-6B5F9AFA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第三轮</a:t>
            </a:r>
          </a:p>
        </p:txBody>
      </p:sp>
      <p:sp>
        <p:nvSpPr>
          <p:cNvPr id="27" name="flow-detail-5">
            <a:extLst xmlns:a="http://schemas.openxmlformats.org/drawingml/2006/main">
              <a:ext uri="{FF2B5EF4-FFF2-40B4-BE49-F238E27FC236}">
                <a16:creationId xmlns:a16="http://schemas.microsoft.com/office/drawing/2014/main" id="{67A35F7D-1F17-499B-8AFE-7072C009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3 志愿</a:t>
            </a:r>
          </a:p>
        </p:txBody>
      </p:sp>
      <p:sp>
        <p:nvSpPr>
          <p:cNvPr id="28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93FAB3BB-0F97-4972-924F-BD3F6957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flow-step-6">
            <a:extLst xmlns:a="http://schemas.openxmlformats.org/drawingml/2006/main">
              <a:ext uri="{FF2B5EF4-FFF2-40B4-BE49-F238E27FC236}">
                <a16:creationId xmlns:a16="http://schemas.microsoft.com/office/drawing/2014/main" id="{3BF22CDB-0150-4E4D-BFB5-8DC3D081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30" name="flow-number-6">
            <a:extLst xmlns:a="http://schemas.openxmlformats.org/drawingml/2006/main">
              <a:ext uri="{FF2B5EF4-FFF2-40B4-BE49-F238E27FC236}">
                <a16:creationId xmlns:a16="http://schemas.microsoft.com/office/drawing/2014/main" id="{96DF95CE-B8D1-44FA-9FD7-3FCF67FB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D3D6B13B-D852-44C6-9007-562B6471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2" name="flow-detail-6">
            <a:extLst xmlns:a="http://schemas.openxmlformats.org/drawingml/2006/main">
              <a:ext uri="{FF2B5EF4-FFF2-40B4-BE49-F238E27FC236}">
                <a16:creationId xmlns:a16="http://schemas.microsoft.com/office/drawing/2014/main" id="{5044DD92-A773-402F-9CD0-BCCFE562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匹配 / 暂未匹配</a:t>
            </a:r>
          </a:p>
        </p:txBody>
      </p:sp>
      <p:sp>
        <p:nvSpPr>
          <p:cNvPr id="33" name="flow-decision-band">
            <a:extLst xmlns:a="http://schemas.openxmlformats.org/drawingml/2006/main">
              <a:ext uri="{FF2B5EF4-FFF2-40B4-BE49-F238E27FC236}">
                <a16:creationId xmlns:a16="http://schemas.microsoft.com/office/drawing/2014/main" id="{384D0C39-210E-42B6-B38D-823B3E5D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095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D4E9E2"/>
            </a:solidFill>
            <a:prstDash val="solid"/>
          </a:ln>
        </p:spPr>
      </p:sp>
      <p:sp>
        <p:nvSpPr>
          <p:cNvPr id="34" name="flow-decision-main">
            <a:extLst xmlns:a="http://schemas.openxmlformats.org/drawingml/2006/main">
              <a:ext uri="{FF2B5EF4-FFF2-40B4-BE49-F238E27FC236}">
                <a16:creationId xmlns:a16="http://schemas.microsoft.com/office/drawing/2014/main" id="{D5F78C6D-9DB6-4C25-BEE1-6CB5D3ED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13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每轮由导师逐项决定：录取 / 不录取</a:t>
            </a:r>
          </a:p>
        </p:txBody>
      </p:sp>
      <p:sp>
        <p:nvSpPr>
          <p:cNvPr id="35" name="flow-decision-detail">
            <a:extLst xmlns:a="http://schemas.openxmlformats.org/drawingml/2006/main">
              <a:ext uri="{FF2B5EF4-FFF2-40B4-BE49-F238E27FC236}">
                <a16:creationId xmlns:a16="http://schemas.microsoft.com/office/drawing/2014/main" id="{6444CDF6-27BE-431D-BD2D-86D89412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052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录取时校验导师剩余名额；成功后立即锁定关系，已匹配学生不再进入后续轮次。</a:t>
            </a:r>
          </a:p>
        </p:txBody>
      </p:sp>
      <p:sp>
        <p:nvSpPr>
          <p:cNvPr id="36" name="flow-outcome-label">
            <a:extLst xmlns:a="http://schemas.openxmlformats.org/drawingml/2006/main">
              <a:ext uri="{FF2B5EF4-FFF2-40B4-BE49-F238E27FC236}">
                <a16:creationId xmlns:a16="http://schemas.microsoft.com/office/drawing/2014/main" id="{384509A4-BF36-4C6C-AD9B-F2B1DF16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常规轮次后的去向</a:t>
            </a:r>
          </a:p>
        </p:txBody>
      </p:sp>
      <p:sp>
        <p:nvSpPr>
          <p:cNvPr id="37" name="flow-outcome-1">
            <a:extLst xmlns:a="http://schemas.openxmlformats.org/drawingml/2006/main">
              <a:ext uri="{FF2B5EF4-FFF2-40B4-BE49-F238E27FC236}">
                <a16:creationId xmlns:a16="http://schemas.microsoft.com/office/drawing/2014/main" id="{FBBEC5FC-239B-4F75-B00A-1AFBE6AB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38" name="flow-outcome-accent-1">
            <a:extLst xmlns:a="http://schemas.openxmlformats.org/drawingml/2006/main">
              <a:ext uri="{FF2B5EF4-FFF2-40B4-BE49-F238E27FC236}">
                <a16:creationId xmlns:a16="http://schemas.microsoft.com/office/drawing/2014/main" id="{3A9448AE-7FB8-4E4C-9983-4007B1EB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low-outcome-title-1">
            <a:extLst xmlns:a="http://schemas.openxmlformats.org/drawingml/2006/main">
              <a:ext uri="{FF2B5EF4-FFF2-40B4-BE49-F238E27FC236}">
                <a16:creationId xmlns:a16="http://schemas.microsoft.com/office/drawing/2014/main" id="{C1C73582-9AE2-4B36-9DD0-AADB7579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录取成功</a:t>
            </a:r>
          </a:p>
        </p:txBody>
      </p:sp>
      <p:sp>
        <p:nvSpPr>
          <p:cNvPr id="40" name="flow-outcome-body-1">
            <a:extLst xmlns:a="http://schemas.openxmlformats.org/drawingml/2006/main">
              <a:ext uri="{FF2B5EF4-FFF2-40B4-BE49-F238E27FC236}">
                <a16:creationId xmlns:a16="http://schemas.microsoft.com/office/drawing/2014/main" id="{14CE79C3-FD06-4FEA-BB09-FC0C630E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本轮建立并锁定师生关系</a:t>
            </a:r>
          </a:p>
        </p:txBody>
      </p:sp>
      <p:sp>
        <p:nvSpPr>
          <p:cNvPr id="41" name="flow-outcome-2">
            <a:extLst xmlns:a="http://schemas.openxmlformats.org/drawingml/2006/main">
              <a:ext uri="{FF2B5EF4-FFF2-40B4-BE49-F238E27FC236}">
                <a16:creationId xmlns:a16="http://schemas.microsoft.com/office/drawing/2014/main" id="{93591E45-8729-4F2A-9BEF-88A1E91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2" name="flow-outcome-accent-2">
            <a:extLst xmlns:a="http://schemas.openxmlformats.org/drawingml/2006/main">
              <a:ext uri="{FF2B5EF4-FFF2-40B4-BE49-F238E27FC236}">
                <a16:creationId xmlns:a16="http://schemas.microsoft.com/office/drawing/2014/main" id="{20FB635A-D473-49D2-9D09-A953B3E7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low-outcome-title-2">
            <a:extLst xmlns:a="http://schemas.openxmlformats.org/drawingml/2006/main">
              <a:ext uri="{FF2B5EF4-FFF2-40B4-BE49-F238E27FC236}">
                <a16:creationId xmlns:a16="http://schemas.microsoft.com/office/drawing/2014/main" id="{5266CC60-5DB7-4E2D-AC07-C8A0326B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三轮后仍未匹配</a:t>
            </a:r>
          </a:p>
        </p:txBody>
      </p:sp>
      <p:sp>
        <p:nvSpPr>
          <p:cNvPr id="44" name="flow-outcome-body-2">
            <a:extLst xmlns:a="http://schemas.openxmlformats.org/drawingml/2006/main">
              <a:ext uri="{FF2B5EF4-FFF2-40B4-BE49-F238E27FC236}">
                <a16:creationId xmlns:a16="http://schemas.microsoft.com/office/drawing/2014/main" id="{5F2E7EDC-D331-4028-BC92-CE578B55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按规则转为 UNMATCHED</a:t>
            </a:r>
          </a:p>
        </p:txBody>
      </p:sp>
      <p:sp>
        <p:nvSpPr>
          <p:cNvPr id="45" name="flow-outcome-3">
            <a:extLst xmlns:a="http://schemas.openxmlformats.org/drawingml/2006/main">
              <a:ext uri="{FF2B5EF4-FFF2-40B4-BE49-F238E27FC236}">
                <a16:creationId xmlns:a16="http://schemas.microsoft.com/office/drawing/2014/main" id="{A5698A3D-FFFE-4AC6-87C3-62BD3FE3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6" name="flow-outcome-accent-3">
            <a:extLst xmlns:a="http://schemas.openxmlformats.org/drawingml/2006/main">
              <a:ext uri="{FF2B5EF4-FFF2-40B4-BE49-F238E27FC236}">
                <a16:creationId xmlns:a16="http://schemas.microsoft.com/office/drawing/2014/main" id="{C821E4C4-D593-4FDA-8A8D-B3303E30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low-outcome-title-3">
            <a:extLst xmlns:a="http://schemas.openxmlformats.org/drawingml/2006/main">
              <a:ext uri="{FF2B5EF4-FFF2-40B4-BE49-F238E27FC236}">
                <a16:creationId xmlns:a16="http://schemas.microsoft.com/office/drawing/2014/main" id="{A3991559-40C7-4EDC-BCDB-7567727A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批次预先安排补选</a:t>
            </a:r>
          </a:p>
        </p:txBody>
      </p:sp>
      <p:sp>
        <p:nvSpPr>
          <p:cNvPr id="48" name="flow-outcome-body-3">
            <a:extLst xmlns:a="http://schemas.openxmlformats.org/drawingml/2006/main">
              <a:ext uri="{FF2B5EF4-FFF2-40B4-BE49-F238E27FC236}">
                <a16:creationId xmlns:a16="http://schemas.microsoft.com/office/drawing/2014/main" id="{03F621B5-678B-4A2F-988A-32181474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进入独立补选窗口，不重跑三轮</a:t>
            </a:r>
          </a:p>
        </p:txBody>
      </p:sp>
      <p:sp>
        <p:nvSpPr>
          <p:cNvPr id="49" name="flow-supplement-note">
            <a:extLst xmlns:a="http://schemas.openxmlformats.org/drawingml/2006/main">
              <a:ext uri="{FF2B5EF4-FFF2-40B4-BE49-F238E27FC236}">
                <a16:creationId xmlns:a16="http://schemas.microsoft.com/office/drawing/2014/main" id="{0CF3831B-8697-47F8-89F2-062EA68B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53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补选是否安排由管理员在批次发布前决定，并预先配置开放时间。</a:t>
            </a:r>
          </a:p>
        </p:txBody>
      </p:sp>
      <p:sp>
        <p:nvSpPr>
          <p:cNvPr id="50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446E54E-2F23-446A-B755-5ED5218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8F9F0E0B-7B32-4888-8E7C-9B45316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5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E379F59E-57C8-45FB-AC05-71F4F2AE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32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ge-3-kicker">
            <a:extLst xmlns:a="http://schemas.openxmlformats.org/drawingml/2006/main">
              <a:ext uri="{FF2B5EF4-FFF2-40B4-BE49-F238E27FC236}">
                <a16:creationId xmlns:a16="http://schemas.microsoft.com/office/drawing/2014/main" id="{063173B2-2026-4F91-8BFB-BD13577F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STUDENT · PREFERENCES</a:t>
            </a:r>
          </a:p>
        </p:txBody>
      </p:sp>
      <p:sp>
        <p:nvSpPr>
          <p:cNvPr id="2" name="page-3-title">
            <a:extLst xmlns:a="http://schemas.openxmlformats.org/drawingml/2006/main">
              <a:ext uri="{FF2B5EF4-FFF2-40B4-BE49-F238E27FC236}">
                <a16:creationId xmlns:a16="http://schemas.microsoft.com/office/drawing/2014/main" id="{68A1AAE2-CFE9-4D71-938A-5D9D120C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62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学生端｜选择导师并排列志愿</a:t>
            </a:r>
          </a:p>
        </p:txBody>
      </p:sp>
      <p:sp>
        <p:nvSpPr>
          <p:cNvPr id="3" name="page-3-subtitle">
            <a:extLst xmlns:a="http://schemas.openxmlformats.org/drawingml/2006/main">
              <a:ext uri="{FF2B5EF4-FFF2-40B4-BE49-F238E27FC236}">
                <a16:creationId xmlns:a16="http://schemas.microsoft.com/office/drawing/2014/main" id="{05154D72-E494-4E93-A45E-BDD56672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66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身份核对 → 筛选可报导师 → 选择 1–3 位并保存顺位。</a:t>
            </a:r>
          </a:p>
        </p:txBody>
      </p:sp>
      <p:sp>
        <p:nvSpPr>
          <p:cNvPr id="4" name="page-3-demo-tag">
            <a:extLst xmlns:a="http://schemas.openxmlformats.org/drawingml/2006/main">
              <a:ext uri="{FF2B5EF4-FFF2-40B4-BE49-F238E27FC236}">
                <a16:creationId xmlns:a16="http://schemas.microsoft.com/office/drawing/2014/main" id="{D39D7683-8672-442E-8BB6-88F04B7C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62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page-3-demo-tag-text">
            <a:extLst xmlns:a="http://schemas.openxmlformats.org/drawingml/2006/main">
              <a:ext uri="{FF2B5EF4-FFF2-40B4-BE49-F238E27FC236}">
                <a16:creationId xmlns:a16="http://schemas.microsoft.com/office/drawing/2014/main" id="{90ADFA28-7188-4085-9C60-4E8AC3B7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真实页面 · 演示数据   03</a:t>
            </a:r>
          </a:p>
        </p:txBody>
      </p:sp>
      <p:sp>
        <p:nvSpPr>
          <p:cNvPr id="6" name="page-3-screenshot-frame">
            <a:extLst xmlns:a="http://schemas.openxmlformats.org/drawingml/2006/main">
              <a:ext uri="{FF2B5EF4-FFF2-40B4-BE49-F238E27FC236}">
                <a16:creationId xmlns:a16="http://schemas.microsoft.com/office/drawing/2014/main" id="{C85BA3C7-A5C9-475B-9607-48F04DC5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19150"/>
            <a:ext cx="11068050" cy="6086475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01EA9-218F-411F-A83E-3429928227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80c2df3a54ebb"/>
          <a:stretch xmlns:a="http://schemas.openxmlformats.org/drawingml/2006/main"/>
        </p:blipFill>
        <p:spPr>
          <a:xfrm xmlns:a="http://schemas.openxmlformats.org/drawingml/2006/main">
            <a:off x="770467" y="866775"/>
            <a:ext cx="10651067" cy="5991225"/>
          </a:xfrm>
          <a:prstGeom xmlns:a="http://schemas.openxmlformats.org/drawingml/2006/main" prst="roundRect">
            <a:avLst>
              <a:gd name="adj" fmla="val 1272"/>
            </a:avLst>
          </a:prstGeom>
        </p:spPr>
      </p:pic>
    </p:spTree>
    <p:extLst>
      <p:ext uri="{BB962C8B-B14F-4D97-AF65-F5344CB8AC3E}">
        <p14:creationId xmlns:p14="http://schemas.microsoft.com/office/powerpoint/2010/main" val="491039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ge-4-kicker">
            <a:extLst xmlns:a="http://schemas.openxmlformats.org/drawingml/2006/main">
              <a:ext uri="{FF2B5EF4-FFF2-40B4-BE49-F238E27FC236}">
                <a16:creationId xmlns:a16="http://schemas.microsoft.com/office/drawing/2014/main" id="{81C94825-409B-4471-AEC7-03D3BDB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STUDENT · PROGRESS</a:t>
            </a:r>
          </a:p>
        </p:txBody>
      </p:sp>
      <p:sp>
        <p:nvSpPr>
          <p:cNvPr id="2" name="page-4-title">
            <a:extLst xmlns:a="http://schemas.openxmlformats.org/drawingml/2006/main">
              <a:ext uri="{FF2B5EF4-FFF2-40B4-BE49-F238E27FC236}">
                <a16:creationId xmlns:a16="http://schemas.microsoft.com/office/drawing/2014/main" id="{8E963068-8BC2-4879-9D2D-BE1F2353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62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学生端｜查看轮次进度与结果</a:t>
            </a:r>
          </a:p>
        </p:txBody>
      </p:sp>
      <p:sp>
        <p:nvSpPr>
          <p:cNvPr id="3" name="page-4-subtitle">
            <a:extLst xmlns:a="http://schemas.openxmlformats.org/drawingml/2006/main">
              <a:ext uri="{FF2B5EF4-FFF2-40B4-BE49-F238E27FC236}">
                <a16:creationId xmlns:a16="http://schemas.microsoft.com/office/drawing/2014/main" id="{D3A0C523-AE35-4E81-A202-121BA3E1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66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查看填报阶段、匹配状态与三轮志愿的逐项进度。</a:t>
            </a:r>
          </a:p>
        </p:txBody>
      </p:sp>
      <p:sp>
        <p:nvSpPr>
          <p:cNvPr id="4" name="page-4-demo-tag">
            <a:extLst xmlns:a="http://schemas.openxmlformats.org/drawingml/2006/main">
              <a:ext uri="{FF2B5EF4-FFF2-40B4-BE49-F238E27FC236}">
                <a16:creationId xmlns:a16="http://schemas.microsoft.com/office/drawing/2014/main" id="{5026D566-F0A6-4E50-B402-54A17DD9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62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page-4-demo-tag-text">
            <a:extLst xmlns:a="http://schemas.openxmlformats.org/drawingml/2006/main">
              <a:ext uri="{FF2B5EF4-FFF2-40B4-BE49-F238E27FC236}">
                <a16:creationId xmlns:a16="http://schemas.microsoft.com/office/drawing/2014/main" id="{F76ACF20-8AF8-438B-9FE7-1BAB9AF1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真实页面 · 演示数据   04</a:t>
            </a:r>
          </a:p>
        </p:txBody>
      </p:sp>
      <p:sp>
        <p:nvSpPr>
          <p:cNvPr id="6" name="page-4-screenshot-frame">
            <a:extLst xmlns:a="http://schemas.openxmlformats.org/drawingml/2006/main">
              <a:ext uri="{FF2B5EF4-FFF2-40B4-BE49-F238E27FC236}">
                <a16:creationId xmlns:a16="http://schemas.microsoft.com/office/drawing/2014/main" id="{41464DE5-10AA-49FE-8F5D-102AA6A3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19150"/>
            <a:ext cx="11068050" cy="6086475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9B4C5-48EA-4A63-849F-340CCE58B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e4e3123fe42cc"/>
          <a:stretch xmlns:a="http://schemas.openxmlformats.org/drawingml/2006/main"/>
        </p:blipFill>
        <p:spPr>
          <a:xfrm xmlns:a="http://schemas.openxmlformats.org/drawingml/2006/main">
            <a:off x="770467" y="866775"/>
            <a:ext cx="10651067" cy="5991225"/>
          </a:xfrm>
          <a:prstGeom xmlns:a="http://schemas.openxmlformats.org/drawingml/2006/main" prst="roundRect">
            <a:avLst>
              <a:gd name="adj" fmla="val 1272"/>
            </a:avLst>
          </a:prstGeom>
        </p:spPr>
      </p:pic>
    </p:spTree>
    <p:extLst>
      <p:ext uri="{BB962C8B-B14F-4D97-AF65-F5344CB8AC3E}">
        <p14:creationId xmlns:p14="http://schemas.microsoft.com/office/powerpoint/2010/main" val="1660996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ge-5-kicker">
            <a:extLst xmlns:a="http://schemas.openxmlformats.org/drawingml/2006/main">
              <a:ext uri="{FF2B5EF4-FFF2-40B4-BE49-F238E27FC236}">
                <a16:creationId xmlns:a16="http://schemas.microsoft.com/office/drawing/2014/main" id="{4F7D2A92-6BED-4124-8E92-D8C6B89C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TEACHER · REVIEW</a:t>
            </a:r>
          </a:p>
        </p:txBody>
      </p:sp>
      <p:sp>
        <p:nvSpPr>
          <p:cNvPr id="2" name="page-5-title">
            <a:extLst xmlns:a="http://schemas.openxmlformats.org/drawingml/2006/main">
              <a:ext uri="{FF2B5EF4-FFF2-40B4-BE49-F238E27FC236}">
                <a16:creationId xmlns:a16="http://schemas.microsoft.com/office/drawing/2014/main" id="{89D5CE5B-9DDC-44CF-A16F-AC53A7D7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62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导师端｜逐项处理本轮申请</a:t>
            </a:r>
          </a:p>
        </p:txBody>
      </p:sp>
      <p:sp>
        <p:nvSpPr>
          <p:cNvPr id="3" name="page-5-subtitle">
            <a:extLst xmlns:a="http://schemas.openxmlformats.org/drawingml/2006/main">
              <a:ext uri="{FF2B5EF4-FFF2-40B4-BE49-F238E27FC236}">
                <a16:creationId xmlns:a16="http://schemas.microsoft.com/office/drawing/2014/main" id="{1957DE55-CF29-4320-8B11-5518EB1F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66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仅处理本轮投向本人的申请；名额确认后锁定关系。</a:t>
            </a:r>
          </a:p>
        </p:txBody>
      </p:sp>
      <p:sp>
        <p:nvSpPr>
          <p:cNvPr id="4" name="page-5-demo-tag">
            <a:extLst xmlns:a="http://schemas.openxmlformats.org/drawingml/2006/main">
              <a:ext uri="{FF2B5EF4-FFF2-40B4-BE49-F238E27FC236}">
                <a16:creationId xmlns:a16="http://schemas.microsoft.com/office/drawing/2014/main" id="{20F499EF-AF56-4711-B27C-44EF0769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62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page-5-demo-tag-text">
            <a:extLst xmlns:a="http://schemas.openxmlformats.org/drawingml/2006/main">
              <a:ext uri="{FF2B5EF4-FFF2-40B4-BE49-F238E27FC236}">
                <a16:creationId xmlns:a16="http://schemas.microsoft.com/office/drawing/2014/main" id="{2317D2DB-F402-446A-B0F6-714CB8AE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真实页面 · 演示数据   05</a:t>
            </a:r>
          </a:p>
        </p:txBody>
      </p:sp>
      <p:sp>
        <p:nvSpPr>
          <p:cNvPr id="6" name="page-5-screenshot-frame">
            <a:extLst xmlns:a="http://schemas.openxmlformats.org/drawingml/2006/main">
              <a:ext uri="{FF2B5EF4-FFF2-40B4-BE49-F238E27FC236}">
                <a16:creationId xmlns:a16="http://schemas.microsoft.com/office/drawing/2014/main" id="{2BDF5271-BD4A-404B-9DE4-54A9F098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19150"/>
            <a:ext cx="11068050" cy="6086475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75042-F14B-419E-BF81-FC29078CA2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b89be736441e6"/>
          <a:stretch xmlns:a="http://schemas.openxmlformats.org/drawingml/2006/main"/>
        </p:blipFill>
        <p:spPr>
          <a:xfrm xmlns:a="http://schemas.openxmlformats.org/drawingml/2006/main">
            <a:off x="770467" y="866775"/>
            <a:ext cx="10651067" cy="5991225"/>
          </a:xfrm>
          <a:prstGeom xmlns:a="http://schemas.openxmlformats.org/drawingml/2006/main" prst="roundRect">
            <a:avLst>
              <a:gd name="adj" fmla="val 1272"/>
            </a:avLst>
          </a:prstGeom>
        </p:spPr>
      </p:pic>
    </p:spTree>
    <p:extLst>
      <p:ext uri="{BB962C8B-B14F-4D97-AF65-F5344CB8AC3E}">
        <p14:creationId xmlns:p14="http://schemas.microsoft.com/office/powerpoint/2010/main" val="1818244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ge-6-kicker">
            <a:extLst xmlns:a="http://schemas.openxmlformats.org/drawingml/2006/main">
              <a:ext uri="{FF2B5EF4-FFF2-40B4-BE49-F238E27FC236}">
                <a16:creationId xmlns:a16="http://schemas.microsoft.com/office/drawing/2014/main" id="{A661C8E6-C56F-40F4-9933-ACE30D21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ADMIN · BATCH MANAGEMENT</a:t>
            </a:r>
          </a:p>
        </p:txBody>
      </p:sp>
      <p:sp>
        <p:nvSpPr>
          <p:cNvPr id="2" name="page-6-title">
            <a:extLst xmlns:a="http://schemas.openxmlformats.org/drawingml/2006/main">
              <a:ext uri="{FF2B5EF4-FFF2-40B4-BE49-F238E27FC236}">
                <a16:creationId xmlns:a16="http://schemas.microsoft.com/office/drawing/2014/main" id="{EEC6371B-2A61-46A5-AEDB-0C4221C7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62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管理端｜配置批次并跟踪整体进度</a:t>
            </a:r>
          </a:p>
        </p:txBody>
      </p:sp>
      <p:sp>
        <p:nvSpPr>
          <p:cNvPr id="3" name="page-6-subtitle">
            <a:extLst xmlns:a="http://schemas.openxmlformats.org/drawingml/2006/main">
              <a:ext uri="{FF2B5EF4-FFF2-40B4-BE49-F238E27FC236}">
                <a16:creationId xmlns:a16="http://schemas.microsoft.com/office/drawing/2014/main" id="{E7E2B05A-A1AD-49A3-AC20-F73DE18B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66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配置阶段时间与导师名额，按冻结名单跟进批次统计。</a:t>
            </a:r>
          </a:p>
        </p:txBody>
      </p:sp>
      <p:sp>
        <p:nvSpPr>
          <p:cNvPr id="4" name="page-6-demo-tag">
            <a:extLst xmlns:a="http://schemas.openxmlformats.org/drawingml/2006/main">
              <a:ext uri="{FF2B5EF4-FFF2-40B4-BE49-F238E27FC236}">
                <a16:creationId xmlns:a16="http://schemas.microsoft.com/office/drawing/2014/main" id="{F20FE429-1AED-43F5-9254-6FD6447F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62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page-6-demo-tag-text">
            <a:extLst xmlns:a="http://schemas.openxmlformats.org/drawingml/2006/main">
              <a:ext uri="{FF2B5EF4-FFF2-40B4-BE49-F238E27FC236}">
                <a16:creationId xmlns:a16="http://schemas.microsoft.com/office/drawing/2014/main" id="{26C38F28-3547-4764-AA2E-037E3B33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真实页面 · 演示数据   06</a:t>
            </a:r>
          </a:p>
        </p:txBody>
      </p:sp>
      <p:sp>
        <p:nvSpPr>
          <p:cNvPr id="6" name="page-6-screenshot-frame">
            <a:extLst xmlns:a="http://schemas.openxmlformats.org/drawingml/2006/main">
              <a:ext uri="{FF2B5EF4-FFF2-40B4-BE49-F238E27FC236}">
                <a16:creationId xmlns:a16="http://schemas.microsoft.com/office/drawing/2014/main" id="{23C9191A-9457-49E3-A088-D7C4B15C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19150"/>
            <a:ext cx="11068050" cy="6086475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34638-20FA-4217-9A8A-8E673E2CF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528d3b9144e31"/>
          <a:stretch xmlns:a="http://schemas.openxmlformats.org/drawingml/2006/main"/>
        </p:blipFill>
        <p:spPr>
          <a:xfrm xmlns:a="http://schemas.openxmlformats.org/drawingml/2006/main">
            <a:off x="770467" y="866775"/>
            <a:ext cx="10651067" cy="5991225"/>
          </a:xfrm>
          <a:prstGeom xmlns:a="http://schemas.openxmlformats.org/drawingml/2006/main" prst="roundRect">
            <a:avLst>
              <a:gd name="adj" fmla="val 1272"/>
            </a:avLst>
          </a:prstGeom>
        </p:spPr>
      </p:pic>
    </p:spTree>
    <p:extLst>
      <p:ext uri="{BB962C8B-B14F-4D97-AF65-F5344CB8AC3E}">
        <p14:creationId xmlns:p14="http://schemas.microsoft.com/office/powerpoint/2010/main" val="133222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kicker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80316078-FC71-4059-ADB9-5DBAA7A7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RULES &amp; STATUS</a:t>
            </a:r>
          </a:p>
        </p:txBody>
      </p:sp>
      <p:sp>
        <p:nvSpPr>
          <p:cNvPr id="2" name="title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D5EE2256-5420-436B-82C9-A14DCE54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关键规则与当前实现范围</a:t>
            </a:r>
          </a:p>
        </p:txBody>
      </p:sp>
      <p:sp>
        <p:nvSpPr>
          <p:cNvPr id="3" name="subtitle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16A1122D-7075-4788-88E1-7BA5A21A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页面背后的业务约束统一资格、顺位与名额口径。</a:t>
            </a:r>
          </a:p>
        </p:txBody>
      </p:sp>
      <p:sp>
        <p:nvSpPr>
          <p:cNvPr id="4" name="rule-card-1">
            <a:extLst xmlns:a="http://schemas.openxmlformats.org/drawingml/2006/main">
              <a:ext uri="{FF2B5EF4-FFF2-40B4-BE49-F238E27FC236}">
                <a16:creationId xmlns:a16="http://schemas.microsoft.com/office/drawing/2014/main" id="{D93F1E0B-8F65-405B-B6D9-581A9521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rule-accent-1">
            <a:extLst xmlns:a="http://schemas.openxmlformats.org/drawingml/2006/main">
              <a:ext uri="{FF2B5EF4-FFF2-40B4-BE49-F238E27FC236}">
                <a16:creationId xmlns:a16="http://schemas.microsoft.com/office/drawing/2014/main" id="{8A9B43AD-4BCE-46FE-B4EF-C1347718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number-1">
            <a:extLst xmlns:a="http://schemas.openxmlformats.org/drawingml/2006/main">
              <a:ext uri="{FF2B5EF4-FFF2-40B4-BE49-F238E27FC236}">
                <a16:creationId xmlns:a16="http://schemas.microsoft.com/office/drawing/2014/main" id="{6DC07E30-7845-4FF1-BEBC-858DC4A3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ule-title-1">
            <a:extLst xmlns:a="http://schemas.openxmlformats.org/drawingml/2006/main">
              <a:ext uri="{FF2B5EF4-FFF2-40B4-BE49-F238E27FC236}">
                <a16:creationId xmlns:a16="http://schemas.microsoft.com/office/drawing/2014/main" id="{FA970C17-BA8E-4744-944C-74A593B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资格范围</a:t>
            </a:r>
          </a:p>
        </p:txBody>
      </p:sp>
      <p:sp>
        <p:nvSpPr>
          <p:cNvPr id="8" name="rule-dot-1-0">
            <a:extLst xmlns:a="http://schemas.openxmlformats.org/drawingml/2006/main">
              <a:ext uri="{FF2B5EF4-FFF2-40B4-BE49-F238E27FC236}">
                <a16:creationId xmlns:a16="http://schemas.microsoft.com/office/drawing/2014/main" id="{4C41A511-6D3D-4437-BCBF-3C52F201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le-line-1-0">
            <a:extLst xmlns:a="http://schemas.openxmlformats.org/drawingml/2006/main">
              <a:ext uri="{FF2B5EF4-FFF2-40B4-BE49-F238E27FC236}">
                <a16:creationId xmlns:a16="http://schemas.microsoft.com/office/drawing/2014/main" id="{70EA4A8D-F45C-4111-8A24-7D6BEF1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学生专业与学位类型进入校验。</a:t>
            </a:r>
          </a:p>
        </p:txBody>
      </p:sp>
      <p:sp>
        <p:nvSpPr>
          <p:cNvPr id="10" name="rule-dot-1-1">
            <a:extLst xmlns:a="http://schemas.openxmlformats.org/drawingml/2006/main">
              <a:ext uri="{FF2B5EF4-FFF2-40B4-BE49-F238E27FC236}">
                <a16:creationId xmlns:a16="http://schemas.microsoft.com/office/drawing/2014/main" id="{A9C10CEE-BE1A-4648-A460-1B9FC65F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line-1-1">
            <a:extLst xmlns:a="http://schemas.openxmlformats.org/drawingml/2006/main">
              <a:ext uri="{FF2B5EF4-FFF2-40B4-BE49-F238E27FC236}">
                <a16:creationId xmlns:a16="http://schemas.microsoft.com/office/drawing/2014/main" id="{69949F09-B73E-4DEE-8F52-0D79F6B5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导师按批次配置专业与学位范围。</a:t>
            </a:r>
          </a:p>
        </p:txBody>
      </p:sp>
      <p:sp>
        <p:nvSpPr>
          <p:cNvPr id="12" name="rule-dot-1-2">
            <a:extLst xmlns:a="http://schemas.openxmlformats.org/drawingml/2006/main">
              <a:ext uri="{FF2B5EF4-FFF2-40B4-BE49-F238E27FC236}">
                <a16:creationId xmlns:a16="http://schemas.microsoft.com/office/drawing/2014/main" id="{FF34131B-15A6-4BB7-A4DC-31D41465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line-1-2">
            <a:extLst xmlns:a="http://schemas.openxmlformats.org/drawingml/2006/main">
              <a:ext uri="{FF2B5EF4-FFF2-40B4-BE49-F238E27FC236}">
                <a16:creationId xmlns:a16="http://schemas.microsoft.com/office/drawing/2014/main" id="{63F85682-D879-4765-B479-2FE0A90F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填报开窗时冻结业务名单与招生范围。</a:t>
            </a:r>
          </a:p>
        </p:txBody>
      </p:sp>
      <p:sp>
        <p:nvSpPr>
          <p:cNvPr id="14" name="rule-card-2">
            <a:extLst xmlns:a="http://schemas.openxmlformats.org/drawingml/2006/main">
              <a:ext uri="{FF2B5EF4-FFF2-40B4-BE49-F238E27FC236}">
                <a16:creationId xmlns:a16="http://schemas.microsoft.com/office/drawing/2014/main" id="{22A0A504-AFCE-48B5-AFC5-70AD13BE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5" name="rule-accent-2">
            <a:extLst xmlns:a="http://schemas.openxmlformats.org/drawingml/2006/main">
              <a:ext uri="{FF2B5EF4-FFF2-40B4-BE49-F238E27FC236}">
                <a16:creationId xmlns:a16="http://schemas.microsoft.com/office/drawing/2014/main" id="{46C33EE4-C4C4-4DE2-BDF5-331F3063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-number-2">
            <a:extLst xmlns:a="http://schemas.openxmlformats.org/drawingml/2006/main">
              <a:ext uri="{FF2B5EF4-FFF2-40B4-BE49-F238E27FC236}">
                <a16:creationId xmlns:a16="http://schemas.microsoft.com/office/drawing/2014/main" id="{688CA601-3071-499D-B4F0-1A573ABF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rule-title-2">
            <a:extLst xmlns:a="http://schemas.openxmlformats.org/drawingml/2006/main">
              <a:ext uri="{FF2B5EF4-FFF2-40B4-BE49-F238E27FC236}">
                <a16:creationId xmlns:a16="http://schemas.microsoft.com/office/drawing/2014/main" id="{5BBDB1E3-1AEB-44A2-B428-22348797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分轮处理</a:t>
            </a:r>
          </a:p>
        </p:txBody>
      </p:sp>
      <p:sp>
        <p:nvSpPr>
          <p:cNvPr id="18" name="rule-dot-2-0">
            <a:extLst xmlns:a="http://schemas.openxmlformats.org/drawingml/2006/main">
              <a:ext uri="{FF2B5EF4-FFF2-40B4-BE49-F238E27FC236}">
                <a16:creationId xmlns:a16="http://schemas.microsoft.com/office/drawing/2014/main" id="{CD117621-08A8-4D0A-9DD0-6DE6BF91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line-2-0">
            <a:extLst xmlns:a="http://schemas.openxmlformats.org/drawingml/2006/main">
              <a:ext uri="{FF2B5EF4-FFF2-40B4-BE49-F238E27FC236}">
                <a16:creationId xmlns:a16="http://schemas.microsoft.com/office/drawing/2014/main" id="{5B38EA01-2A85-4110-8D42-571E44FA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第 1 / 2 / 3 轮对应第 1 / 2 / 3 志愿。</a:t>
            </a:r>
          </a:p>
        </p:txBody>
      </p:sp>
      <p:sp>
        <p:nvSpPr>
          <p:cNvPr id="20" name="rule-dot-2-1">
            <a:extLst xmlns:a="http://schemas.openxmlformats.org/drawingml/2006/main">
              <a:ext uri="{FF2B5EF4-FFF2-40B4-BE49-F238E27FC236}">
                <a16:creationId xmlns:a16="http://schemas.microsoft.com/office/drawing/2014/main" id="{4D0ACCA1-96B7-4D97-AEC4-14DEC8EE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-line-2-1">
            <a:extLst xmlns:a="http://schemas.openxmlformats.org/drawingml/2006/main">
              <a:ext uri="{FF2B5EF4-FFF2-40B4-BE49-F238E27FC236}">
                <a16:creationId xmlns:a16="http://schemas.microsoft.com/office/drawing/2014/main" id="{A51AE0FD-FD10-402A-8C14-FFB94619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导师对投向本人的申请逐项决定。</a:t>
            </a:r>
          </a:p>
        </p:txBody>
      </p:sp>
      <p:sp>
        <p:nvSpPr>
          <p:cNvPr id="22" name="rule-dot-2-2">
            <a:extLst xmlns:a="http://schemas.openxmlformats.org/drawingml/2006/main">
              <a:ext uri="{FF2B5EF4-FFF2-40B4-BE49-F238E27FC236}">
                <a16:creationId xmlns:a16="http://schemas.microsoft.com/office/drawing/2014/main" id="{6C58405C-86AA-4751-99A9-DE53E903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ule-line-2-2">
            <a:extLst xmlns:a="http://schemas.openxmlformats.org/drawingml/2006/main">
              <a:ext uri="{FF2B5EF4-FFF2-40B4-BE49-F238E27FC236}">
                <a16:creationId xmlns:a16="http://schemas.microsoft.com/office/drawing/2014/main" id="{5DC01713-BA15-41AD-BD0A-66F9E1EE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录取检查名额并立即锁定关系。</a:t>
            </a:r>
          </a:p>
        </p:txBody>
      </p:sp>
      <p:sp>
        <p:nvSpPr>
          <p:cNvPr id="24" name="rule-card-3">
            <a:extLst xmlns:a="http://schemas.openxmlformats.org/drawingml/2006/main">
              <a:ext uri="{FF2B5EF4-FFF2-40B4-BE49-F238E27FC236}">
                <a16:creationId xmlns:a16="http://schemas.microsoft.com/office/drawing/2014/main" id="{F8ABDCB5-A675-4516-B692-2DAB2D9F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25" name="rule-accent-3">
            <a:extLst xmlns:a="http://schemas.openxmlformats.org/drawingml/2006/main">
              <a:ext uri="{FF2B5EF4-FFF2-40B4-BE49-F238E27FC236}">
                <a16:creationId xmlns:a16="http://schemas.microsoft.com/office/drawing/2014/main" id="{0C73FF32-80E7-4724-B28C-697153B2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ule-number-3">
            <a:extLst xmlns:a="http://schemas.openxmlformats.org/drawingml/2006/main">
              <a:ext uri="{FF2B5EF4-FFF2-40B4-BE49-F238E27FC236}">
                <a16:creationId xmlns:a16="http://schemas.microsoft.com/office/drawing/2014/main" id="{289077AF-B38F-43EF-ACF5-9D38D7CB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rule-title-3">
            <a:extLst xmlns:a="http://schemas.openxmlformats.org/drawingml/2006/main">
              <a:ext uri="{FF2B5EF4-FFF2-40B4-BE49-F238E27FC236}">
                <a16:creationId xmlns:a16="http://schemas.microsoft.com/office/drawing/2014/main" id="{337EE8F2-3378-49C0-B9DA-C552FD27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独立补选</a:t>
            </a:r>
          </a:p>
        </p:txBody>
      </p:sp>
      <p:sp>
        <p:nvSpPr>
          <p:cNvPr id="28" name="rule-dot-3-0">
            <a:extLst xmlns:a="http://schemas.openxmlformats.org/drawingml/2006/main">
              <a:ext uri="{FF2B5EF4-FFF2-40B4-BE49-F238E27FC236}">
                <a16:creationId xmlns:a16="http://schemas.microsoft.com/office/drawing/2014/main" id="{B3317B22-BF3D-4D66-9921-98DE685B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ule-line-3-0">
            <a:extLst xmlns:a="http://schemas.openxmlformats.org/drawingml/2006/main">
              <a:ext uri="{FF2B5EF4-FFF2-40B4-BE49-F238E27FC236}">
                <a16:creationId xmlns:a16="http://schemas.microsoft.com/office/drawing/2014/main" id="{4B06A960-7DCF-43DF-9BB8-45420853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是否安排补选在批次发布前确定。</a:t>
            </a:r>
          </a:p>
        </p:txBody>
      </p:sp>
      <p:sp>
        <p:nvSpPr>
          <p:cNvPr id="30" name="rule-dot-3-1">
            <a:extLst xmlns:a="http://schemas.openxmlformats.org/drawingml/2006/main">
              <a:ext uri="{FF2B5EF4-FFF2-40B4-BE49-F238E27FC236}">
                <a16:creationId xmlns:a16="http://schemas.microsoft.com/office/drawing/2014/main" id="{7C44F2BA-F0B8-42C8-8D54-BC600587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ule-line-3-1">
            <a:extLst xmlns:a="http://schemas.openxmlformats.org/drawingml/2006/main">
              <a:ext uri="{FF2B5EF4-FFF2-40B4-BE49-F238E27FC236}">
                <a16:creationId xmlns:a16="http://schemas.microsoft.com/office/drawing/2014/main" id="{64048F0C-0BB8-4737-B905-7C9B6FB3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补选窗口单独排期，不重跑三轮。</a:t>
            </a:r>
          </a:p>
        </p:txBody>
      </p:sp>
      <p:sp>
        <p:nvSpPr>
          <p:cNvPr id="32" name="rule-dot-3-2">
            <a:extLst xmlns:a="http://schemas.openxmlformats.org/drawingml/2006/main">
              <a:ext uri="{FF2B5EF4-FFF2-40B4-BE49-F238E27FC236}">
                <a16:creationId xmlns:a16="http://schemas.microsoft.com/office/drawing/2014/main" id="{A2C71F2E-5532-4BD6-A233-AC06E72A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ule-line-3-2">
            <a:extLst xmlns:a="http://schemas.openxmlformats.org/drawingml/2006/main">
              <a:ext uri="{FF2B5EF4-FFF2-40B4-BE49-F238E27FC236}">
                <a16:creationId xmlns:a16="http://schemas.microsoft.com/office/drawing/2014/main" id="{977F9BA3-60C3-4A88-84FF-23F351E6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窗口关闭后结案并完成批次。</a:t>
            </a:r>
          </a:p>
        </p:txBody>
      </p:sp>
      <p:sp>
        <p:nvSpPr>
          <p:cNvPr id="34" name="status-card">
            <a:extLst xmlns:a="http://schemas.openxmlformats.org/drawingml/2006/main">
              <a:ext uri="{FF2B5EF4-FFF2-40B4-BE49-F238E27FC236}">
                <a16:creationId xmlns:a16="http://schemas.microsoft.com/office/drawing/2014/main" id="{B2C48A08-EEB0-45CC-9969-8D9B76CC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D4E9E2"/>
            </a:solidFill>
            <a:prstDash val="solid"/>
          </a:ln>
        </p:spPr>
      </p:sp>
      <p:sp>
        <p:nvSpPr>
          <p:cNvPr id="35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03362FD5-3058-4C94-8312-C023A71C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当前进展</a:t>
            </a:r>
          </a:p>
        </p:txBody>
      </p:sp>
      <p:sp>
        <p:nvSpPr>
          <p:cNvPr id="36" name="status-main">
            <a:extLst xmlns:a="http://schemas.openxmlformats.org/drawingml/2006/main">
              <a:ext uri="{FF2B5EF4-FFF2-40B4-BE49-F238E27FC236}">
                <a16:creationId xmlns:a16="http://schemas.microsoft.com/office/drawing/2014/main" id="{BAC91F31-1A79-4877-A661-6F5D31AC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学生、导师与管理员的主要业务链路已接入当前代码。</a:t>
            </a:r>
          </a:p>
        </p:txBody>
      </p:sp>
      <p:sp>
        <p:nvSpPr>
          <p:cNvPr id="37" name="status-note">
            <a:extLst xmlns:a="http://schemas.openxmlformats.org/drawingml/2006/main">
              <a:ext uri="{FF2B5EF4-FFF2-40B4-BE49-F238E27FC236}">
                <a16:creationId xmlns:a16="http://schemas.microsoft.com/office/drawing/2014/main" id="{F2D24BEE-C1B0-415D-A2FC-FA00F61A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95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核心自动化验收与目标环境部署、运维核验仍需继续。</a:t>
            </a:r>
          </a:p>
        </p:txBody>
      </p:sp>
      <p:sp>
        <p:nvSpPr>
          <p:cNvPr id="38" name="tech-label">
            <a:extLst xmlns:a="http://schemas.openxmlformats.org/drawingml/2006/main">
              <a:ext uri="{FF2B5EF4-FFF2-40B4-BE49-F238E27FC236}">
                <a16:creationId xmlns:a16="http://schemas.microsoft.com/office/drawing/2014/main" id="{8985BA68-D5AA-435C-92F2-A7A15D2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技术基线</a:t>
            </a:r>
          </a:p>
        </p:txBody>
      </p:sp>
      <p:sp>
        <p:nvSpPr>
          <p:cNvPr id="39" name="tech-chip-1">
            <a:extLst xmlns:a="http://schemas.openxmlformats.org/drawingml/2006/main">
              <a:ext uri="{FF2B5EF4-FFF2-40B4-BE49-F238E27FC236}">
                <a16:creationId xmlns:a16="http://schemas.microsoft.com/office/drawing/2014/main" id="{DD5106C6-1C28-4CA3-AB93-9FEDC57B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0" name="tech-text-1">
            <a:extLst xmlns:a="http://schemas.openxmlformats.org/drawingml/2006/main">
              <a:ext uri="{FF2B5EF4-FFF2-40B4-BE49-F238E27FC236}">
                <a16:creationId xmlns:a16="http://schemas.microsoft.com/office/drawing/2014/main" id="{3A7F9C13-A5B3-46A3-82A2-C64244D6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Java 8 · Spring Boot 2.6.6</a:t>
            </a:r>
          </a:p>
        </p:txBody>
      </p:sp>
      <p:sp>
        <p:nvSpPr>
          <p:cNvPr id="41" name="tech-chip-2">
            <a:extLst xmlns:a="http://schemas.openxmlformats.org/drawingml/2006/main">
              <a:ext uri="{FF2B5EF4-FFF2-40B4-BE49-F238E27FC236}">
                <a16:creationId xmlns:a16="http://schemas.microsoft.com/office/drawing/2014/main" id="{E22FE16C-852C-4B3F-806C-48E123C8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57850"/>
            <a:ext cx="2238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2" name="tech-text-2">
            <a:extLst xmlns:a="http://schemas.openxmlformats.org/drawingml/2006/main">
              <a:ext uri="{FF2B5EF4-FFF2-40B4-BE49-F238E27FC236}">
                <a16:creationId xmlns:a16="http://schemas.microsoft.com/office/drawing/2014/main" id="{D6FAB067-EA9E-4DB5-A901-630E079E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69595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MySQL 5.7.36</a:t>
            </a:r>
          </a:p>
        </p:txBody>
      </p:sp>
      <p:sp>
        <p:nvSpPr>
          <p:cNvPr id="43" name="tech-chip-3">
            <a:extLst xmlns:a="http://schemas.openxmlformats.org/drawingml/2006/main">
              <a:ext uri="{FF2B5EF4-FFF2-40B4-BE49-F238E27FC236}">
                <a16:creationId xmlns:a16="http://schemas.microsoft.com/office/drawing/2014/main" id="{8F6C0547-60EC-4E93-8919-E0BC8479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657850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4" name="tech-text-3">
            <a:extLst xmlns:a="http://schemas.openxmlformats.org/drawingml/2006/main">
              <a:ext uri="{FF2B5EF4-FFF2-40B4-BE49-F238E27FC236}">
                <a16:creationId xmlns:a16="http://schemas.microsoft.com/office/drawing/2014/main" id="{A92E98BF-D66C-414A-8063-608988EC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695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Vue 3 · TypeScript</a:t>
            </a:r>
          </a:p>
        </p:txBody>
      </p:sp>
      <p:sp>
        <p:nvSpPr>
          <p:cNvPr id="45" name="tech-chip-4">
            <a:extLst xmlns:a="http://schemas.openxmlformats.org/drawingml/2006/main">
              <a:ext uri="{FF2B5EF4-FFF2-40B4-BE49-F238E27FC236}">
                <a16:creationId xmlns:a16="http://schemas.microsoft.com/office/drawing/2014/main" id="{5BEDE59E-F645-4F9D-A99C-33E14600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657850"/>
            <a:ext cx="35147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6" name="tech-text-4">
            <a:extLst xmlns:a="http://schemas.openxmlformats.org/drawingml/2006/main">
              <a:ext uri="{FF2B5EF4-FFF2-40B4-BE49-F238E27FC236}">
                <a16:creationId xmlns:a16="http://schemas.microsoft.com/office/drawing/2014/main" id="{101659B6-A192-4E50-ABBC-C611C5B9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695950"/>
            <a:ext cx="3362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年度资格 · 分轮志愿 · 独立补选</a:t>
            </a:r>
          </a:p>
        </p:txBody>
      </p:sp>
      <p:sp>
        <p:nvSpPr>
          <p:cNvPr id="4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7A07E5FC-39E4-44D7-B668-E63B3A66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4362815C-26D5-45BC-A5FC-55ADF01F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49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E0038DA8-FD3B-452E-93C7-EBD58E48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784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2026-10-10T08:52:58.9490000Z</dcterms:created>
  <dcterms:modified xsi:type="dcterms:W3CDTF">2026-10-10T08:52:58.9490000Z</dcterms:modified>
</coreProperties>
</file>