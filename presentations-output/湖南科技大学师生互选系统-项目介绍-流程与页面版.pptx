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5ba4c954b4a6b" /><Relationship Type="http://schemas.openxmlformats.org/officeDocument/2006/relationships/extended-properties" Target="/docProps/app.xml" Id="R7f2034c45126442f" /><Relationship Type="http://schemas.openxmlformats.org/officeDocument/2006/relationships/officeDocument" Target="/ppt/presentation.xml" Id="Rc8195c05305e47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540a77f444f6f"/>
  </p:sldMasterIdLst>
  <p:notesMasterIdLst>
    <p:notesMasterId xmlns:r="http://schemas.openxmlformats.org/officeDocument/2006/relationships" r:id="R007ff643a33643a5"/>
  </p:notesMasterIdLst>
  <p:sldIdLst>
    <p:sldId xmlns:r="http://schemas.openxmlformats.org/officeDocument/2006/relationships" id="256" r:id="R388c6d8df29c4cc2"/>
    <p:sldId xmlns:r="http://schemas.openxmlformats.org/officeDocument/2006/relationships" id="257" r:id="R35247065ef284838"/>
    <p:sldId xmlns:r="http://schemas.openxmlformats.org/officeDocument/2006/relationships" id="258" r:id="R1bf0e710138f4a8b"/>
    <p:sldId xmlns:r="http://schemas.openxmlformats.org/officeDocument/2006/relationships" id="259" r:id="Rbce6c38588b941b4"/>
    <p:sldId xmlns:r="http://schemas.openxmlformats.org/officeDocument/2006/relationships" id="260" r:id="R0f75fef30a3d4ae6"/>
    <p:sldId xmlns:r="http://schemas.openxmlformats.org/officeDocument/2006/relationships" id="261" r:id="Rfc24149267474c58"/>
    <p:sldId xmlns:r="http://schemas.openxmlformats.org/officeDocument/2006/relationships" id="262" r:id="R5af2ce74ae164b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f37789abf49f0" /><Relationship Type="http://schemas.openxmlformats.org/officeDocument/2006/relationships/slideMaster" Target="/ppt/slideMasters/slideMaster1.xml" Id="R5a7540a77f444f6f" /><Relationship Type="http://schemas.openxmlformats.org/officeDocument/2006/relationships/notesMaster" Target="/ppt/notesMasters/notesMaster1.xml" Id="R007ff643a33643a5" /><Relationship Type="http://schemas.openxmlformats.org/officeDocument/2006/relationships/presProps" Target="/ppt/presProps.xml" Id="Rd87b8fe8895344f8" /><Relationship Type="http://schemas.openxmlformats.org/officeDocument/2006/relationships/tableStyles" Target="/ppt/tableStyles.xml" Id="R88191f738af14692" /><Relationship Type="http://schemas.openxmlformats.org/officeDocument/2006/relationships/slide" Target="/ppt/slides/slide1.xml" Id="R388c6d8df29c4cc2" /><Relationship Type="http://schemas.openxmlformats.org/officeDocument/2006/relationships/slide" Target="/ppt/slides/slide2.xml" Id="R35247065ef284838" /><Relationship Type="http://schemas.openxmlformats.org/officeDocument/2006/relationships/slide" Target="/ppt/slides/slide3.xml" Id="R1bf0e710138f4a8b" /><Relationship Type="http://schemas.openxmlformats.org/officeDocument/2006/relationships/slide" Target="/ppt/slides/slide4.xml" Id="Rbce6c38588b941b4" /><Relationship Type="http://schemas.openxmlformats.org/officeDocument/2006/relationships/slide" Target="/ppt/slides/slide5.xml" Id="R0f75fef30a3d4ae6" /><Relationship Type="http://schemas.openxmlformats.org/officeDocument/2006/relationships/slide" Target="/ppt/slides/slide6.xml" Id="Rfc24149267474c58" /><Relationship Type="http://schemas.openxmlformats.org/officeDocument/2006/relationships/slide" Target="/ppt/slides/slide7.xml" Id="R5af2ce74ae16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d8d2f7344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e5026070e4ebd" /><Relationship Type="http://schemas.openxmlformats.org/officeDocument/2006/relationships/notesMaster" Target="/ppt/notesMasters/notesMaster1.xml" Id="R38e21b790b7d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0126f9c334d94" /><Relationship Type="http://schemas.openxmlformats.org/officeDocument/2006/relationships/notesMaster" Target="/ppt/notesMasters/notesMaster1.xml" Id="Rbc4c224bbc3c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7f0f287d24ee3" /><Relationship Type="http://schemas.openxmlformats.org/officeDocument/2006/relationships/notesMaster" Target="/ppt/notesMasters/notesMaster1.xml" Id="R5b625cf4a6e247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d5bbeca734f39" /><Relationship Type="http://schemas.openxmlformats.org/officeDocument/2006/relationships/notesMaster" Target="/ppt/notesMasters/notesMaster1.xml" Id="R9ddfc413c2bd4d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e18386cc074dd8" /><Relationship Type="http://schemas.openxmlformats.org/officeDocument/2006/relationships/notesMaster" Target="/ppt/notesMasters/notesMaster1.xml" Id="Rc43397dc3608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7d43168c5e4634" /><Relationship Type="http://schemas.openxmlformats.org/officeDocument/2006/relationships/notesMaster" Target="/ppt/notesMasters/notesMaster1.xml" Id="Re9459ad3d6bf41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91322c7b045d2" /><Relationship Type="http://schemas.openxmlformats.org/officeDocument/2006/relationships/notesMaster" Target="/ppt/notesMasters/notesMaster1.xml" Id="R56c0474c1d1f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封面页面截图来自 frontend/src/components/student/StudentWorkspace.vue，以合成演示数据运行。项目现状参照用户提供的 AGENTS.md 与 docs/README.md。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业务规则来源：requirements.md、docs/business-rules.md、docs/state-machine.md。顺位轮次为本项目分轮志愿流程；导师逐项决定，录取即时锁定关系，不是标准 Gale–Shapley 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 与 frontend/src/services/studentPortalService.ts。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页面依据：frontend/src/components/student/StudentWorkspace.vue。进度文案对应 docs/state-machine.md 与已确认业务规则。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页面依据：frontend/src/components/teacher/TeacherWorkspace.vue 与 frontend/src/services/teacherWorkspaceService.ts。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页面依据：frontend/src/components/admin/BatchManagementPanel.vue 与 frontend/src/services/selectionBatchService.ts。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项目状态、规则依据：用户提供的 AGENTS.md，docs/README.md、docs/business-rules.md、docs/state-machine.md。技术版本参照 AGENTS.md 与 backend/pom.xml、frontend/package.json。当前代码已接入主要业务链路，不代表自动化验收或生产部署核验已完成。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eaccf059a45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41325fe6948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a41f11d7647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b2abd7964b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e8ec1053744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bf0dcba5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FC74B8-069F-465C-849E-DF6CA1DAF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06A682-89D1-4F8A-9BA5-EC2FB0110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0158DB-400A-45EB-A919-6F2EB7D35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0C2485-8C60-4101-9298-D246B6F5A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4DCD7D-28C6-4884-9398-A33242418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F98D63-02CA-49B1-A3C9-07049CB28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E2CDEB-83D6-4AA7-918F-F2E8C168BB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A39F75-929E-4803-B2B1-0672323D15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7E9893-E8F9-4739-B360-0FE6B25A7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C88D36-6771-4338-9F39-11FE37B637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f0e799711d4430" /><Relationship Type="http://schemas.openxmlformats.org/officeDocument/2006/relationships/slideLayout" Target="/ppt/slideLayouts/slideLayout1.xml" Id="R9064a017986f4fc3" /><Relationship Type="http://schemas.openxmlformats.org/officeDocument/2006/relationships/slideLayout" Target="/ppt/slideLayouts/slideLayout2.xml" Id="R3ebe85bbadb84cc0" /><Relationship Type="http://schemas.openxmlformats.org/officeDocument/2006/relationships/slideLayout" Target="/ppt/slideLayouts/slideLayout3.xml" Id="Rcdc9704a0d054696" /><Relationship Type="http://schemas.openxmlformats.org/officeDocument/2006/relationships/slideLayout" Target="/ppt/slideLayouts/slideLayout4.xml" Id="Rcb1fcfb2a34f411e" /><Relationship Type="http://schemas.openxmlformats.org/officeDocument/2006/relationships/slideLayout" Target="/ppt/slideLayouts/slideLayout5.xml" Id="R6bbbfe14e848454f" /><Relationship Type="http://schemas.openxmlformats.org/officeDocument/2006/relationships/slideLayout" Target="/ppt/slideLayouts/slideLayout6.xml" Id="R93de769f4b7e42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64a017986f4fc3"/>
    <p:sldLayoutId xmlns:r="http://schemas.openxmlformats.org/officeDocument/2006/relationships" id="2147483650" r:id="R3ebe85bbadb84cc0"/>
    <p:sldLayoutId xmlns:r="http://schemas.openxmlformats.org/officeDocument/2006/relationships" id="2147483651" r:id="Rcdc9704a0d054696"/>
    <p:sldLayoutId xmlns:r="http://schemas.openxmlformats.org/officeDocument/2006/relationships" id="2147483652" r:id="Rcb1fcfb2a34f411e"/>
    <p:sldLayoutId xmlns:r="http://schemas.openxmlformats.org/officeDocument/2006/relationships" id="2147483653" r:id="R6bbbfe14e848454f"/>
    <p:sldLayoutId xmlns:r="http://schemas.openxmlformats.org/officeDocument/2006/relationships" id="2147483654" r:id="R93de769f4b7e42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19926589c4bf9" /><Relationship Type="http://schemas.openxmlformats.org/officeDocument/2006/relationships/image" Target="/ppt/media/image.png" Id="Re18ceb253fff48db" /><Relationship Type="http://schemas.openxmlformats.org/officeDocument/2006/relationships/notesSlide" Target="/ppt/notesSlides/notesSlide1.xml" Id="Red779d8157c44a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bdb1f01f44223" /><Relationship Type="http://schemas.openxmlformats.org/officeDocument/2006/relationships/notesSlide" Target="/ppt/notesSlides/notesSlide2.xml" Id="R21413dbf95f94e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ceda31f574e81" /><Relationship Type="http://schemas.openxmlformats.org/officeDocument/2006/relationships/image" Target="/ppt/media/image2.png" Id="R5bb8a815d4734b41" /><Relationship Type="http://schemas.openxmlformats.org/officeDocument/2006/relationships/notesSlide" Target="/ppt/notesSlides/notesSlide3.xml" Id="R8dd300035ff8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603df23994358" /><Relationship Type="http://schemas.openxmlformats.org/officeDocument/2006/relationships/image" Target="/ppt/media/image3.png" Id="R5f29c3e35abf47b9" /><Relationship Type="http://schemas.openxmlformats.org/officeDocument/2006/relationships/notesSlide" Target="/ppt/notesSlides/notesSlide4.xml" Id="Rc90ace0bb425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da6333fd4050" /><Relationship Type="http://schemas.openxmlformats.org/officeDocument/2006/relationships/image" Target="/ppt/media/image4.png" Id="R7ed0b0798d86484c" /><Relationship Type="http://schemas.openxmlformats.org/officeDocument/2006/relationships/notesSlide" Target="/ppt/notesSlides/notesSlide5.xml" Id="Rcff498b1a55b47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da33ff03a4791" /><Relationship Type="http://schemas.openxmlformats.org/officeDocument/2006/relationships/image" Target="/ppt/media/image5.png" Id="Rbef0b46ab45248c2" /><Relationship Type="http://schemas.openxmlformats.org/officeDocument/2006/relationships/notesSlide" Target="/ppt/notesSlides/notesSlide6.xml" Id="Rea34f2ade017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95504845a4876" /><Relationship Type="http://schemas.openxmlformats.org/officeDocument/2006/relationships/notesSlide" Target="/ppt/notesSlides/notesSlide7.xml" Id="Rc999600bc4a347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826B5CEB-75DC-4A98-8571-6C4B173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oft-circle">
            <a:extLst xmlns:a="http://schemas.openxmlformats.org/drawingml/2006/main">
              <a:ext uri="{FF2B5EF4-FFF2-40B4-BE49-F238E27FC236}">
                <a16:creationId xmlns:a16="http://schemas.microsoft.com/office/drawing/2014/main" id="{CE3B3EAD-C318-486B-BEA1-FD95A2D5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-1571625"/>
            <a:ext cx="58102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university">
            <a:extLst xmlns:a="http://schemas.openxmlformats.org/drawingml/2006/main">
              <a:ext uri="{FF2B5EF4-FFF2-40B4-BE49-F238E27FC236}">
                <a16:creationId xmlns:a16="http://schemas.microsoft.com/office/drawing/2014/main" id="{E2840261-A8BD-4434-8472-DB6C112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湖南科技大学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05C9A1-2927-4B5E-9A68-4EB7361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rPr>
              <a:t>师生互选系统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8394CE5-F6CB-47D8-8E9B-20D94B3F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从有序志愿，到逐轮处理与结果跟踪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0127DF1E-0B50-4D3E-B8C8-B6064850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项目介绍 · 学生端 / 导师端 / 管理端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DF785222-0930-40D3-B20A-CCBB96C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2001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9DF50-248D-41C3-9780-CF614380E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ceb253fff48db"/>
          <a:srcRect xmlns:a="http://schemas.openxmlformats.org/drawingml/2006/main" l="0" t="1125" r="0" b="1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285875"/>
            <a:ext cx="592455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9" name="cover-student-tag">
            <a:extLst xmlns:a="http://schemas.openxmlformats.org/drawingml/2006/main">
              <a:ext uri="{FF2B5EF4-FFF2-40B4-BE49-F238E27FC236}">
                <a16:creationId xmlns:a16="http://schemas.microsoft.com/office/drawing/2014/main" id="{64AB6579-9FB0-40C7-ACD6-4200EE2A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cover-teacher-tag">
            <a:extLst xmlns:a="http://schemas.openxmlformats.org/drawingml/2006/main">
              <a:ext uri="{FF2B5EF4-FFF2-40B4-BE49-F238E27FC236}">
                <a16:creationId xmlns:a16="http://schemas.microsoft.com/office/drawing/2014/main" id="{A5608269-66D2-4393-AB7F-C0430D4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1" name="cover-admin-tag">
            <a:extLst xmlns:a="http://schemas.openxmlformats.org/drawingml/2006/main">
              <a:ext uri="{FF2B5EF4-FFF2-40B4-BE49-F238E27FC236}">
                <a16:creationId xmlns:a16="http://schemas.microsoft.com/office/drawing/2014/main" id="{0070632C-C84B-4EA9-9F74-F9C7CE0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2" name="cover-student-label">
            <a:extLst xmlns:a="http://schemas.openxmlformats.org/drawingml/2006/main">
              <a:ext uri="{FF2B5EF4-FFF2-40B4-BE49-F238E27FC236}">
                <a16:creationId xmlns:a16="http://schemas.microsoft.com/office/drawing/2014/main" id="{8A01D317-B6F3-4DC6-95FD-9B65B69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 · 填报志愿</a:t>
            </a:r>
          </a:p>
        </p:txBody>
      </p:sp>
      <p:sp>
        <p:nvSpPr>
          <p:cNvPr id="13" name="cover-teacher-label">
            <a:extLst xmlns:a="http://schemas.openxmlformats.org/drawingml/2006/main">
              <a:ext uri="{FF2B5EF4-FFF2-40B4-BE49-F238E27FC236}">
                <a16:creationId xmlns:a16="http://schemas.microsoft.com/office/drawing/2014/main" id="{BAC6C009-7634-4C58-8B3F-6B29AFDE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 · 处理申请</a:t>
            </a:r>
          </a:p>
        </p:txBody>
      </p:sp>
      <p:sp>
        <p:nvSpPr>
          <p:cNvPr id="14" name="cover-admin-label">
            <a:extLst xmlns:a="http://schemas.openxmlformats.org/drawingml/2006/main">
              <a:ext uri="{FF2B5EF4-FFF2-40B4-BE49-F238E27FC236}">
                <a16:creationId xmlns:a16="http://schemas.microsoft.com/office/drawing/2014/main" id="{AC53814A-43B2-4689-9521-C64FE380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管理员 · 配置批次</a:t>
            </a:r>
          </a:p>
        </p:txBody>
      </p:sp>
      <p:sp>
        <p:nvSpPr>
          <p:cNvPr id="15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C33E49E0-54A7-46C7-91D5-1FD5A473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340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页面来自项目实际前端组件；页面记录为演示数据。</a:t>
            </a:r>
          </a:p>
        </p:txBody>
      </p:sp>
      <p:sp>
        <p:nvSpPr>
          <p:cNvPr id="16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B9722179-76C5-438C-8CE5-AB5F1A46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bottom-label">
            <a:extLst xmlns:a="http://schemas.openxmlformats.org/drawingml/2006/main">
              <a:ext uri="{FF2B5EF4-FFF2-40B4-BE49-F238E27FC236}">
                <a16:creationId xmlns:a16="http://schemas.microsoft.com/office/drawing/2014/main" id="{2FC9BE4B-8C69-4D7F-AA32-F617AB09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项目展示</a:t>
            </a:r>
          </a:p>
        </p:txBody>
      </p:sp>
      <p:sp>
        <p:nvSpPr>
          <p:cNvPr id="18" name="cover-bottom-year">
            <a:extLst xmlns:a="http://schemas.openxmlformats.org/drawingml/2006/main">
              <a:ext uri="{FF2B5EF4-FFF2-40B4-BE49-F238E27FC236}">
                <a16:creationId xmlns:a16="http://schemas.microsoft.com/office/drawing/2014/main" id="{7D4C59A5-8409-4348-9B53-8671B64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27365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233FFC6B-065D-4CF7-8D4B-6E68EED1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BUSINESS FLOW</a:t>
            </a:r>
          </a:p>
        </p:txBody>
      </p:sp>
      <p:sp>
        <p:nvSpPr>
          <p:cNvPr id="2" name="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830023D5-7CDB-401C-944B-DD57B3E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一条互选流程，依次完成志愿与轮次处理</a:t>
            </a:r>
          </a:p>
        </p:txBody>
      </p:sp>
      <p:sp>
        <p:nvSpPr>
          <p:cNvPr id="3" name="sub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CC76731F-8E56-49D4-9EB8-7A516B7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学生提交有序志愿；导师对投向本人的申请逐项决定。</a:t>
            </a:r>
          </a:p>
        </p:txBody>
      </p:sp>
      <p:sp>
        <p:nvSpPr>
          <p:cNvPr id="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EB154B48-CD1B-40D2-9698-BF913F8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ED7C8B87-793A-47E6-97AA-A35D964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7EE777E-8990-4515-8067-EA1F78D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身份核对</a:t>
            </a:r>
          </a:p>
        </p:txBody>
      </p:sp>
      <p:sp>
        <p:nvSpPr>
          <p:cNvPr id="7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DB36D75B-EE67-4AEC-9CA7-C21AEC7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确认专业与学位</a:t>
            </a:r>
          </a:p>
        </p:txBody>
      </p:sp>
      <p:sp>
        <p:nvSpPr>
          <p:cNvPr id="8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52BE8A2-3B58-404F-AB21-2C398AC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CE4AE33A-95ED-4EF4-89CB-A11022A5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BB605FED-2618-41CB-81CB-9D183C1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B541688-39A8-4C8D-869C-1D30E31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志愿提交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B1F7BA7D-97D6-467D-A308-EB2F9DA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1–3 位不同导师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899D8E2-F75A-423D-844E-2D18D31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80E1F86D-C125-4E70-8F04-5865668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1E05AD9C-DF31-4EC4-BCA9-250CA18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10E5209A-97D8-437E-946B-C6E5D67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17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23C9C558-82DD-4A82-8A79-4D74D03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1 志愿</a:t>
            </a:r>
          </a:p>
        </p:txBody>
      </p:sp>
      <p:sp>
        <p:nvSpPr>
          <p:cNvPr id="1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BEF01DB-6DDB-4BDA-A200-C3E2A2E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flow-step-4">
            <a:extLst xmlns:a="http://schemas.openxmlformats.org/drawingml/2006/main">
              <a:ext uri="{FF2B5EF4-FFF2-40B4-BE49-F238E27FC236}">
                <a16:creationId xmlns:a16="http://schemas.microsoft.com/office/drawing/2014/main" id="{D8D059B5-6584-4C83-BBD3-EFC2DB3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0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AB4D98F-28C8-4061-9D10-097E22C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AAF6112-5185-4424-9FD9-4F8C5E3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22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380E7F2E-5B7D-4F56-9FF3-30DBCA05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2 志愿</a:t>
            </a:r>
          </a:p>
        </p:txBody>
      </p:sp>
      <p:sp>
        <p:nvSpPr>
          <p:cNvPr id="23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FFBEB028-6CF4-4B21-B2A4-009115C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flow-step-5">
            <a:extLst xmlns:a="http://schemas.openxmlformats.org/drawingml/2006/main">
              <a:ext uri="{FF2B5EF4-FFF2-40B4-BE49-F238E27FC236}">
                <a16:creationId xmlns:a16="http://schemas.microsoft.com/office/drawing/2014/main" id="{F28F4006-1B55-4DD9-9801-E637213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5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D854FED7-AED0-45F4-A3BD-EE03F1A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E221814C-8A0D-4385-8B3D-F191FCB4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27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C0C6126E-9236-4803-AB72-FEFAC82E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3 志愿</a:t>
            </a:r>
          </a:p>
        </p:txBody>
      </p:sp>
      <p:sp>
        <p:nvSpPr>
          <p:cNvPr id="2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5AE10AC9-4C70-4D38-852C-0000FB3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flow-step-6">
            <a:extLst xmlns:a="http://schemas.openxmlformats.org/drawingml/2006/main">
              <a:ext uri="{FF2B5EF4-FFF2-40B4-BE49-F238E27FC236}">
                <a16:creationId xmlns:a16="http://schemas.microsoft.com/office/drawing/2014/main" id="{4E961D00-AFB4-4E0A-ACF2-4182CA6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30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43A048D4-960D-4214-A0BE-1E289E83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4837D4EF-8CDF-4DAC-B342-E8C0D05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flow-detail-6">
            <a:extLst xmlns:a="http://schemas.openxmlformats.org/drawingml/2006/main">
              <a:ext uri="{FF2B5EF4-FFF2-40B4-BE49-F238E27FC236}">
                <a16:creationId xmlns:a16="http://schemas.microsoft.com/office/drawing/2014/main" id="{01624F16-8DBF-42D9-8745-AFB1310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匹配 / 暂未匹配</a:t>
            </a:r>
          </a:p>
        </p:txBody>
      </p:sp>
      <p:sp>
        <p:nvSpPr>
          <p:cNvPr id="33" name="flow-decision-band">
            <a:extLst xmlns:a="http://schemas.openxmlformats.org/drawingml/2006/main">
              <a:ext uri="{FF2B5EF4-FFF2-40B4-BE49-F238E27FC236}">
                <a16:creationId xmlns:a16="http://schemas.microsoft.com/office/drawing/2014/main" id="{E7A4A719-1DB9-40FC-BFDF-853DDD1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095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4" name="flow-decision-main">
            <a:extLst xmlns:a="http://schemas.openxmlformats.org/drawingml/2006/main">
              <a:ext uri="{FF2B5EF4-FFF2-40B4-BE49-F238E27FC236}">
                <a16:creationId xmlns:a16="http://schemas.microsoft.com/office/drawing/2014/main" id="{365C0239-7868-471C-9B48-E6B4EAF2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每轮由导师逐项决定：录取 / 不录取</a:t>
            </a:r>
          </a:p>
        </p:txBody>
      </p:sp>
      <p:sp>
        <p:nvSpPr>
          <p:cNvPr id="35" name="flow-decision-detail">
            <a:extLst xmlns:a="http://schemas.openxmlformats.org/drawingml/2006/main">
              <a:ext uri="{FF2B5EF4-FFF2-40B4-BE49-F238E27FC236}">
                <a16:creationId xmlns:a16="http://schemas.microsoft.com/office/drawing/2014/main" id="{C602E80E-D4C0-4A9D-9558-9E9ED376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录取时校验导师剩余名额；成功后立即锁定关系，已匹配学生不再进入后续轮次。</a:t>
            </a:r>
          </a:p>
        </p:txBody>
      </p:sp>
      <p:sp>
        <p:nvSpPr>
          <p:cNvPr id="36" name="flow-outcome-label">
            <a:extLst xmlns:a="http://schemas.openxmlformats.org/drawingml/2006/main">
              <a:ext uri="{FF2B5EF4-FFF2-40B4-BE49-F238E27FC236}">
                <a16:creationId xmlns:a16="http://schemas.microsoft.com/office/drawing/2014/main" id="{386266C0-8E75-4B99-95BE-39A77DC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常规轮次后的去向</a:t>
            </a:r>
          </a:p>
        </p:txBody>
      </p:sp>
      <p:sp>
        <p:nvSpPr>
          <p:cNvPr id="37" name="flow-outcome-1">
            <a:extLst xmlns:a="http://schemas.openxmlformats.org/drawingml/2006/main">
              <a:ext uri="{FF2B5EF4-FFF2-40B4-BE49-F238E27FC236}">
                <a16:creationId xmlns:a16="http://schemas.microsoft.com/office/drawing/2014/main" id="{64DBE213-62AD-4AD3-997C-AB97C113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38" name="flow-outcome-accent-1">
            <a:extLst xmlns:a="http://schemas.openxmlformats.org/drawingml/2006/main">
              <a:ext uri="{FF2B5EF4-FFF2-40B4-BE49-F238E27FC236}">
                <a16:creationId xmlns:a16="http://schemas.microsoft.com/office/drawing/2014/main" id="{768FBF11-BB00-41EC-81E1-6F01B55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outcome-title-1">
            <a:extLst xmlns:a="http://schemas.openxmlformats.org/drawingml/2006/main">
              <a:ext uri="{FF2B5EF4-FFF2-40B4-BE49-F238E27FC236}">
                <a16:creationId xmlns:a16="http://schemas.microsoft.com/office/drawing/2014/main" id="{002A1D74-8012-4AE2-9116-873E8F89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录取成功</a:t>
            </a:r>
          </a:p>
        </p:txBody>
      </p:sp>
      <p:sp>
        <p:nvSpPr>
          <p:cNvPr id="40" name="flow-outcome-body-1">
            <a:extLst xmlns:a="http://schemas.openxmlformats.org/drawingml/2006/main">
              <a:ext uri="{FF2B5EF4-FFF2-40B4-BE49-F238E27FC236}">
                <a16:creationId xmlns:a16="http://schemas.microsoft.com/office/drawing/2014/main" id="{D17F8A8A-76B5-4339-BA8B-027580B5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本轮建立并锁定师生关系</a:t>
            </a:r>
          </a:p>
        </p:txBody>
      </p:sp>
      <p:sp>
        <p:nvSpPr>
          <p:cNvPr id="41" name="flow-outcome-2">
            <a:extLst xmlns:a="http://schemas.openxmlformats.org/drawingml/2006/main">
              <a:ext uri="{FF2B5EF4-FFF2-40B4-BE49-F238E27FC236}">
                <a16:creationId xmlns:a16="http://schemas.microsoft.com/office/drawing/2014/main" id="{17BC00E6-21B6-4791-9A4C-933BBD9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flow-outcome-accent-2">
            <a:extLst xmlns:a="http://schemas.openxmlformats.org/drawingml/2006/main">
              <a:ext uri="{FF2B5EF4-FFF2-40B4-BE49-F238E27FC236}">
                <a16:creationId xmlns:a16="http://schemas.microsoft.com/office/drawing/2014/main" id="{A3647216-44A6-4CF1-A167-D64D774A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low-outcome-title-2">
            <a:extLst xmlns:a="http://schemas.openxmlformats.org/drawingml/2006/main">
              <a:ext uri="{FF2B5EF4-FFF2-40B4-BE49-F238E27FC236}">
                <a16:creationId xmlns:a16="http://schemas.microsoft.com/office/drawing/2014/main" id="{DAFA27E0-E292-49B0-AD57-CD7626A8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三轮后仍未匹配</a:t>
            </a:r>
          </a:p>
        </p:txBody>
      </p:sp>
      <p:sp>
        <p:nvSpPr>
          <p:cNvPr id="44" name="flow-outcome-body-2">
            <a:extLst xmlns:a="http://schemas.openxmlformats.org/drawingml/2006/main">
              <a:ext uri="{FF2B5EF4-FFF2-40B4-BE49-F238E27FC236}">
                <a16:creationId xmlns:a16="http://schemas.microsoft.com/office/drawing/2014/main" id="{6B903AA5-DFF1-4865-AE91-4488EB4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按规则转为 UNMATCHED</a:t>
            </a:r>
          </a:p>
        </p:txBody>
      </p:sp>
      <p:sp>
        <p:nvSpPr>
          <p:cNvPr id="45" name="flow-outcome-3">
            <a:extLst xmlns:a="http://schemas.openxmlformats.org/drawingml/2006/main">
              <a:ext uri="{FF2B5EF4-FFF2-40B4-BE49-F238E27FC236}">
                <a16:creationId xmlns:a16="http://schemas.microsoft.com/office/drawing/2014/main" id="{41653A9E-8145-49A5-BFC6-2AE44B9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flow-outcome-accent-3">
            <a:extLst xmlns:a="http://schemas.openxmlformats.org/drawingml/2006/main">
              <a:ext uri="{FF2B5EF4-FFF2-40B4-BE49-F238E27FC236}">
                <a16:creationId xmlns:a16="http://schemas.microsoft.com/office/drawing/2014/main" id="{A9BE944B-F8EF-4D17-8426-B833FC4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low-outcome-title-3">
            <a:extLst xmlns:a="http://schemas.openxmlformats.org/drawingml/2006/main">
              <a:ext uri="{FF2B5EF4-FFF2-40B4-BE49-F238E27FC236}">
                <a16:creationId xmlns:a16="http://schemas.microsoft.com/office/drawing/2014/main" id="{5A5C1C15-CB2D-467F-BCAC-95D04984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批次预先安排补选</a:t>
            </a:r>
          </a:p>
        </p:txBody>
      </p:sp>
      <p:sp>
        <p:nvSpPr>
          <p:cNvPr id="48" name="flow-outcome-body-3">
            <a:extLst xmlns:a="http://schemas.openxmlformats.org/drawingml/2006/main">
              <a:ext uri="{FF2B5EF4-FFF2-40B4-BE49-F238E27FC236}">
                <a16:creationId xmlns:a16="http://schemas.microsoft.com/office/drawing/2014/main" id="{39591C62-B6D9-4A68-9C3B-8188C26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进入独立补选窗口，不重跑三轮</a:t>
            </a:r>
          </a:p>
        </p:txBody>
      </p:sp>
      <p:sp>
        <p:nvSpPr>
          <p:cNvPr id="49" name="flow-supplement-note">
            <a:extLst xmlns:a="http://schemas.openxmlformats.org/drawingml/2006/main">
              <a:ext uri="{FF2B5EF4-FFF2-40B4-BE49-F238E27FC236}">
                <a16:creationId xmlns:a16="http://schemas.microsoft.com/office/drawing/2014/main" id="{F7173DEA-3BF0-40D0-A05B-8464BB61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补选是否安排由管理员在批次发布前决定，并预先配置开放时间。</a:t>
            </a:r>
          </a:p>
        </p:txBody>
      </p:sp>
      <p:sp>
        <p:nvSpPr>
          <p:cNvPr id="5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0BCEBE7-2663-40BD-BBC6-50263EF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2CA443B5-4994-4F44-857B-72D37FF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5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B12BC2F-2840-4B61-A98F-7E87EEAD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6864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4C41D891-29B1-4E67-A90E-93E736E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PREFERENCES</a:t>
            </a:r>
          </a:p>
        </p:txBody>
      </p:sp>
      <p:sp>
        <p:nvSpPr>
          <p:cNvPr id="2" name="title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AE10C476-6444-4533-99D0-31DBB50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学生端｜选择导师并排列志愿</a:t>
            </a:r>
          </a:p>
        </p:txBody>
      </p:sp>
      <p:sp>
        <p:nvSpPr>
          <p:cNvPr id="3" name="subtitle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3E8DA991-27B5-4123-82DC-0C00F27A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导师目录与当前志愿在同一工作区内完成。</a:t>
            </a:r>
          </a:p>
        </p:txBody>
      </p:sp>
      <p:sp>
        <p:nvSpPr>
          <p:cNvPr id="4" name="page-3-bubble-01">
            <a:extLst xmlns:a="http://schemas.openxmlformats.org/drawingml/2006/main">
              <a:ext uri="{FF2B5EF4-FFF2-40B4-BE49-F238E27FC236}">
                <a16:creationId xmlns:a16="http://schemas.microsoft.com/office/drawing/2014/main" id="{9CC12E2A-330F-4F3A-BC1D-E62C785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-number-01">
            <a:extLst xmlns:a="http://schemas.openxmlformats.org/drawingml/2006/main">
              <a:ext uri="{FF2B5EF4-FFF2-40B4-BE49-F238E27FC236}">
                <a16:creationId xmlns:a16="http://schemas.microsoft.com/office/drawing/2014/main" id="{45BA4BDF-1A07-4B27-BB96-89A3B6B8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3-heading-01">
            <a:extLst xmlns:a="http://schemas.openxmlformats.org/drawingml/2006/main">
              <a:ext uri="{FF2B5EF4-FFF2-40B4-BE49-F238E27FC236}">
                <a16:creationId xmlns:a16="http://schemas.microsoft.com/office/drawing/2014/main" id="{C8EF159E-04A3-4D6B-AEBD-653A6F0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查看可填导师</a:t>
            </a:r>
          </a:p>
        </p:txBody>
      </p:sp>
      <p:sp>
        <p:nvSpPr>
          <p:cNvPr id="7" name="page-3-body-01">
            <a:extLst xmlns:a="http://schemas.openxmlformats.org/drawingml/2006/main">
              <a:ext uri="{FF2B5EF4-FFF2-40B4-BE49-F238E27FC236}">
                <a16:creationId xmlns:a16="http://schemas.microsoft.com/office/drawing/2014/main" id="{06E3B4F5-3C8F-4ADE-9A08-72243225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按本人专业、学位与导师招生范围显示。</a:t>
            </a:r>
          </a:p>
        </p:txBody>
      </p:sp>
      <p:sp>
        <p:nvSpPr>
          <p:cNvPr id="8" name="page-3-bubble-02">
            <a:extLst xmlns:a="http://schemas.openxmlformats.org/drawingml/2006/main">
              <a:ext uri="{FF2B5EF4-FFF2-40B4-BE49-F238E27FC236}">
                <a16:creationId xmlns:a16="http://schemas.microsoft.com/office/drawing/2014/main" id="{57BA1251-2976-44FF-99BA-02A728B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3-number-02">
            <a:extLst xmlns:a="http://schemas.openxmlformats.org/drawingml/2006/main">
              <a:ext uri="{FF2B5EF4-FFF2-40B4-BE49-F238E27FC236}">
                <a16:creationId xmlns:a16="http://schemas.microsoft.com/office/drawing/2014/main" id="{308EE0DD-D8A0-4C11-8323-A143BFC6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3-heading-02">
            <a:extLst xmlns:a="http://schemas.openxmlformats.org/drawingml/2006/main">
              <a:ext uri="{FF2B5EF4-FFF2-40B4-BE49-F238E27FC236}">
                <a16:creationId xmlns:a16="http://schemas.microsoft.com/office/drawing/2014/main" id="{A02E5F3C-8F97-4FFD-AFB4-910250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加入并排序</a:t>
            </a:r>
          </a:p>
        </p:txBody>
      </p:sp>
      <p:sp>
        <p:nvSpPr>
          <p:cNvPr id="11" name="page-3-body-02">
            <a:extLst xmlns:a="http://schemas.openxmlformats.org/drawingml/2006/main">
              <a:ext uri="{FF2B5EF4-FFF2-40B4-BE49-F238E27FC236}">
                <a16:creationId xmlns:a16="http://schemas.microsoft.com/office/drawing/2014/main" id="{F66E7DDD-FCC0-427B-84EE-DE734FF3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导师卡片标记已加入的志愿顺位。</a:t>
            </a:r>
          </a:p>
        </p:txBody>
      </p:sp>
      <p:sp>
        <p:nvSpPr>
          <p:cNvPr id="12" name="page-3-bubble-03">
            <a:extLst xmlns:a="http://schemas.openxmlformats.org/drawingml/2006/main">
              <a:ext uri="{FF2B5EF4-FFF2-40B4-BE49-F238E27FC236}">
                <a16:creationId xmlns:a16="http://schemas.microsoft.com/office/drawing/2014/main" id="{367704E7-990D-4E1E-A82D-94FE7AB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3-number-03">
            <a:extLst xmlns:a="http://schemas.openxmlformats.org/drawingml/2006/main">
              <a:ext uri="{FF2B5EF4-FFF2-40B4-BE49-F238E27FC236}">
                <a16:creationId xmlns:a16="http://schemas.microsoft.com/office/drawing/2014/main" id="{856F7CD6-EC7B-4247-9537-F91C199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3-heading-03">
            <a:extLst xmlns:a="http://schemas.openxmlformats.org/drawingml/2006/main">
              <a:ext uri="{FF2B5EF4-FFF2-40B4-BE49-F238E27FC236}">
                <a16:creationId xmlns:a16="http://schemas.microsoft.com/office/drawing/2014/main" id="{16359520-9A61-45F1-A6A6-C8FF7518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提交当前版本</a:t>
            </a:r>
          </a:p>
        </p:txBody>
      </p:sp>
      <p:sp>
        <p:nvSpPr>
          <p:cNvPr id="15" name="page-3-body-03">
            <a:extLst xmlns:a="http://schemas.openxmlformats.org/drawingml/2006/main">
              <a:ext uri="{FF2B5EF4-FFF2-40B4-BE49-F238E27FC236}">
                <a16:creationId xmlns:a16="http://schemas.microsoft.com/office/drawing/2014/main" id="{C4730461-8E89-49B2-8748-1372C30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每份志愿包含 1–3 位不同导师。</a:t>
            </a:r>
          </a:p>
        </p:txBody>
      </p:sp>
      <p:sp>
        <p:nvSpPr>
          <p:cNvPr id="16" name="page-3-screenshot-label">
            <a:extLst xmlns:a="http://schemas.openxmlformats.org/drawingml/2006/main">
              <a:ext uri="{FF2B5EF4-FFF2-40B4-BE49-F238E27FC236}">
                <a16:creationId xmlns:a16="http://schemas.microsoft.com/office/drawing/2014/main" id="{EC016899-5D89-42D4-9749-1BB04079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3-screenshot-frame">
            <a:extLst xmlns:a="http://schemas.openxmlformats.org/drawingml/2006/main">
              <a:ext uri="{FF2B5EF4-FFF2-40B4-BE49-F238E27FC236}">
                <a16:creationId xmlns:a16="http://schemas.microsoft.com/office/drawing/2014/main" id="{215C7FA2-607A-4C7D-9FE1-11366CF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F3799-A2D4-4958-9EE5-C0ED92A8F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8a815d4734b41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1A51F01-1684-4492-8B81-401AD79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A86BABA2-0A97-46CC-AFBC-A07EFBD3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03C62F6-15E3-4931-A958-DFF5BCD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1492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0D876F6B-502E-44B6-8FA8-E6C8E274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PROGRESS</a:t>
            </a:r>
          </a:p>
        </p:txBody>
      </p:sp>
      <p:sp>
        <p:nvSpPr>
          <p:cNvPr id="2" name="title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B638EAAE-8DA6-4EB5-8544-B5ACDF9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学生端｜查看轮次进度与结果</a:t>
            </a:r>
          </a:p>
        </p:txBody>
      </p:sp>
      <p:sp>
        <p:nvSpPr>
          <p:cNvPr id="3" name="subtitle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376A058F-11D7-456E-B8C2-3378618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学生本人可跟进当前阶段、匹配状态和每一轮处理结果。</a:t>
            </a:r>
          </a:p>
        </p:txBody>
      </p:sp>
      <p:sp>
        <p:nvSpPr>
          <p:cNvPr id="4" name="page-4-bubble-01">
            <a:extLst xmlns:a="http://schemas.openxmlformats.org/drawingml/2006/main">
              <a:ext uri="{FF2B5EF4-FFF2-40B4-BE49-F238E27FC236}">
                <a16:creationId xmlns:a16="http://schemas.microsoft.com/office/drawing/2014/main" id="{6CFFF3C5-1290-4709-806A-D9AD685C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-number-01">
            <a:extLst xmlns:a="http://schemas.openxmlformats.org/drawingml/2006/main">
              <a:ext uri="{FF2B5EF4-FFF2-40B4-BE49-F238E27FC236}">
                <a16:creationId xmlns:a16="http://schemas.microsoft.com/office/drawing/2014/main" id="{5620A322-E93A-4324-84EC-1C584766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4-heading-01">
            <a:extLst xmlns:a="http://schemas.openxmlformats.org/drawingml/2006/main">
              <a:ext uri="{FF2B5EF4-FFF2-40B4-BE49-F238E27FC236}">
                <a16:creationId xmlns:a16="http://schemas.microsoft.com/office/drawing/2014/main" id="{F99ADDC9-B7CA-4FEB-9D97-ADD259B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查看当前阶段</a:t>
            </a:r>
          </a:p>
        </p:txBody>
      </p:sp>
      <p:sp>
        <p:nvSpPr>
          <p:cNvPr id="7" name="page-4-body-01">
            <a:extLst xmlns:a="http://schemas.openxmlformats.org/drawingml/2006/main">
              <a:ext uri="{FF2B5EF4-FFF2-40B4-BE49-F238E27FC236}">
                <a16:creationId xmlns:a16="http://schemas.microsoft.com/office/drawing/2014/main" id="{818C764E-DE8A-4714-818C-DCFD9DBE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批次状态与当前办理阶段清晰显示。</a:t>
            </a:r>
          </a:p>
        </p:txBody>
      </p:sp>
      <p:sp>
        <p:nvSpPr>
          <p:cNvPr id="8" name="page-4-bubble-02">
            <a:extLst xmlns:a="http://schemas.openxmlformats.org/drawingml/2006/main">
              <a:ext uri="{FF2B5EF4-FFF2-40B4-BE49-F238E27FC236}">
                <a16:creationId xmlns:a16="http://schemas.microsoft.com/office/drawing/2014/main" id="{DFFEB987-3D83-41B8-80EF-58B3E730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4-number-02">
            <a:extLst xmlns:a="http://schemas.openxmlformats.org/drawingml/2006/main">
              <a:ext uri="{FF2B5EF4-FFF2-40B4-BE49-F238E27FC236}">
                <a16:creationId xmlns:a16="http://schemas.microsoft.com/office/drawing/2014/main" id="{4E9BE7C9-78BA-4F0F-8982-E17BBB9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4-heading-02">
            <a:extLst xmlns:a="http://schemas.openxmlformats.org/drawingml/2006/main">
              <a:ext uri="{FF2B5EF4-FFF2-40B4-BE49-F238E27FC236}">
                <a16:creationId xmlns:a16="http://schemas.microsoft.com/office/drawing/2014/main" id="{4353734E-6A39-4B2D-B031-6A43A4E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跟进匹配状态</a:t>
            </a:r>
          </a:p>
        </p:txBody>
      </p:sp>
      <p:sp>
        <p:nvSpPr>
          <p:cNvPr id="11" name="page-4-body-02">
            <a:extLst xmlns:a="http://schemas.openxmlformats.org/drawingml/2006/main">
              <a:ext uri="{FF2B5EF4-FFF2-40B4-BE49-F238E27FC236}">
                <a16:creationId xmlns:a16="http://schemas.microsoft.com/office/drawing/2014/main" id="{A32A4A44-065F-4070-99E8-CE83D3B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待处理、等待后续轮次与录取结果分开呈现。</a:t>
            </a:r>
          </a:p>
        </p:txBody>
      </p:sp>
      <p:sp>
        <p:nvSpPr>
          <p:cNvPr id="12" name="page-4-bubble-03">
            <a:extLst xmlns:a="http://schemas.openxmlformats.org/drawingml/2006/main">
              <a:ext uri="{FF2B5EF4-FFF2-40B4-BE49-F238E27FC236}">
                <a16:creationId xmlns:a16="http://schemas.microsoft.com/office/drawing/2014/main" id="{FE3DED55-4FDA-4D1F-8FD6-AFAC86A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4-number-03">
            <a:extLst xmlns:a="http://schemas.openxmlformats.org/drawingml/2006/main">
              <a:ext uri="{FF2B5EF4-FFF2-40B4-BE49-F238E27FC236}">
                <a16:creationId xmlns:a16="http://schemas.microsoft.com/office/drawing/2014/main" id="{2C73401E-0544-44A0-AA02-4409B07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4-heading-03">
            <a:extLst xmlns:a="http://schemas.openxmlformats.org/drawingml/2006/main">
              <a:ext uri="{FF2B5EF4-FFF2-40B4-BE49-F238E27FC236}">
                <a16:creationId xmlns:a16="http://schemas.microsoft.com/office/drawing/2014/main" id="{7EB0CF9B-7F0C-4D6E-A3E3-4E495B0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核对三轮记录</a:t>
            </a:r>
          </a:p>
        </p:txBody>
      </p:sp>
      <p:sp>
        <p:nvSpPr>
          <p:cNvPr id="15" name="page-4-body-03">
            <a:extLst xmlns:a="http://schemas.openxmlformats.org/drawingml/2006/main">
              <a:ext uri="{FF2B5EF4-FFF2-40B4-BE49-F238E27FC236}">
                <a16:creationId xmlns:a16="http://schemas.microsoft.com/office/drawing/2014/main" id="{E793A6F4-B8C4-40BC-81AD-C288F72D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按对应志愿顺位查看每轮状态。</a:t>
            </a:r>
          </a:p>
        </p:txBody>
      </p:sp>
      <p:sp>
        <p:nvSpPr>
          <p:cNvPr id="16" name="page-4-screenshot-label">
            <a:extLst xmlns:a="http://schemas.openxmlformats.org/drawingml/2006/main">
              <a:ext uri="{FF2B5EF4-FFF2-40B4-BE49-F238E27FC236}">
                <a16:creationId xmlns:a16="http://schemas.microsoft.com/office/drawing/2014/main" id="{A0F2E624-9329-4E23-AD26-F86B312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4-screenshot-frame">
            <a:extLst xmlns:a="http://schemas.openxmlformats.org/drawingml/2006/main">
              <a:ext uri="{FF2B5EF4-FFF2-40B4-BE49-F238E27FC236}">
                <a16:creationId xmlns:a16="http://schemas.microsoft.com/office/drawing/2014/main" id="{D8089C0A-8C73-4AD7-A3CB-B53AFFAA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E7E8C-D2A5-47E6-892E-F4F05C523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9c3e35abf47b9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5A7C34E-44E9-45A7-A9FA-B8BAB58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6BE86D2D-FE1D-4536-8F53-B92D44D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4A228E1-87B4-4E8D-B005-B3242BF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9429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C097BA29-0678-4574-99AC-A650838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TEACHER · REVIEW</a:t>
            </a:r>
          </a:p>
        </p:txBody>
      </p:sp>
      <p:sp>
        <p:nvSpPr>
          <p:cNvPr id="2" name="title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001499FD-D369-46C9-B2BA-3ED0E9A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导师端｜逐项处理本轮申请</a:t>
            </a:r>
          </a:p>
        </p:txBody>
      </p:sp>
      <p:sp>
        <p:nvSpPr>
          <p:cNvPr id="3" name="subtitle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2E5A1C97-251C-4CD3-929D-3436AE8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常规轮次只显示投向本人的对应顺位申请。</a:t>
            </a:r>
          </a:p>
        </p:txBody>
      </p:sp>
      <p:sp>
        <p:nvSpPr>
          <p:cNvPr id="4" name="page-5-bubble-01">
            <a:extLst xmlns:a="http://schemas.openxmlformats.org/drawingml/2006/main">
              <a:ext uri="{FF2B5EF4-FFF2-40B4-BE49-F238E27FC236}">
                <a16:creationId xmlns:a16="http://schemas.microsoft.com/office/drawing/2014/main" id="{3098DF70-E31D-4C37-8777-41CE373E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-number-01">
            <a:extLst xmlns:a="http://schemas.openxmlformats.org/drawingml/2006/main">
              <a:ext uri="{FF2B5EF4-FFF2-40B4-BE49-F238E27FC236}">
                <a16:creationId xmlns:a16="http://schemas.microsoft.com/office/drawing/2014/main" id="{84AFEC49-CA04-4363-B420-0E3669BB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5-heading-01">
            <a:extLst xmlns:a="http://schemas.openxmlformats.org/drawingml/2006/main">
              <a:ext uri="{FF2B5EF4-FFF2-40B4-BE49-F238E27FC236}">
                <a16:creationId xmlns:a16="http://schemas.microsoft.com/office/drawing/2014/main" id="{CBDB142E-77FE-43B0-9590-1E6BA88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按轮次查看</a:t>
            </a:r>
          </a:p>
        </p:txBody>
      </p:sp>
      <p:sp>
        <p:nvSpPr>
          <p:cNvPr id="7" name="page-5-body-01">
            <a:extLst xmlns:a="http://schemas.openxmlformats.org/drawingml/2006/main">
              <a:ext uri="{FF2B5EF4-FFF2-40B4-BE49-F238E27FC236}">
                <a16:creationId xmlns:a16="http://schemas.microsoft.com/office/drawing/2014/main" id="{E84E5754-7B35-4323-9CB7-9D13633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第一、二、三轮分别处理对应顺位。</a:t>
            </a:r>
          </a:p>
        </p:txBody>
      </p:sp>
      <p:sp>
        <p:nvSpPr>
          <p:cNvPr id="8" name="page-5-bubble-02">
            <a:extLst xmlns:a="http://schemas.openxmlformats.org/drawingml/2006/main">
              <a:ext uri="{FF2B5EF4-FFF2-40B4-BE49-F238E27FC236}">
                <a16:creationId xmlns:a16="http://schemas.microsoft.com/office/drawing/2014/main" id="{90B179DD-155C-45FE-A2E7-E3E2B977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5-number-02">
            <a:extLst xmlns:a="http://schemas.openxmlformats.org/drawingml/2006/main">
              <a:ext uri="{FF2B5EF4-FFF2-40B4-BE49-F238E27FC236}">
                <a16:creationId xmlns:a16="http://schemas.microsoft.com/office/drawing/2014/main" id="{0EFCA5F3-2723-4CC2-A3BA-2018916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5-heading-02">
            <a:extLst xmlns:a="http://schemas.openxmlformats.org/drawingml/2006/main">
              <a:ext uri="{FF2B5EF4-FFF2-40B4-BE49-F238E27FC236}">
                <a16:creationId xmlns:a16="http://schemas.microsoft.com/office/drawing/2014/main" id="{73632A41-1CE9-4899-A343-EA8F0AE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独立做决定</a:t>
            </a:r>
          </a:p>
        </p:txBody>
      </p:sp>
      <p:sp>
        <p:nvSpPr>
          <p:cNvPr id="11" name="page-5-body-02">
            <a:extLst xmlns:a="http://schemas.openxmlformats.org/drawingml/2006/main">
              <a:ext uri="{FF2B5EF4-FFF2-40B4-BE49-F238E27FC236}">
                <a16:creationId xmlns:a16="http://schemas.microsoft.com/office/drawing/2014/main" id="{5F40B6FF-9241-409F-B523-B49847A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导师逐项录取或不录取，不对学生排序。</a:t>
            </a:r>
          </a:p>
        </p:txBody>
      </p:sp>
      <p:sp>
        <p:nvSpPr>
          <p:cNvPr id="12" name="page-5-bubble-03">
            <a:extLst xmlns:a="http://schemas.openxmlformats.org/drawingml/2006/main">
              <a:ext uri="{FF2B5EF4-FFF2-40B4-BE49-F238E27FC236}">
                <a16:creationId xmlns:a16="http://schemas.microsoft.com/office/drawing/2014/main" id="{65420580-387B-4870-9C5F-91BB061F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5-number-03">
            <a:extLst xmlns:a="http://schemas.openxmlformats.org/drawingml/2006/main">
              <a:ext uri="{FF2B5EF4-FFF2-40B4-BE49-F238E27FC236}">
                <a16:creationId xmlns:a16="http://schemas.microsoft.com/office/drawing/2014/main" id="{15F2A306-3818-4E7F-B2B4-392D1A91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5-heading-03">
            <a:extLst xmlns:a="http://schemas.openxmlformats.org/drawingml/2006/main">
              <a:ext uri="{FF2B5EF4-FFF2-40B4-BE49-F238E27FC236}">
                <a16:creationId xmlns:a16="http://schemas.microsoft.com/office/drawing/2014/main" id="{BE5D0A7A-ED83-451C-ADAC-EE6B830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成功后锁定关系</a:t>
            </a:r>
          </a:p>
        </p:txBody>
      </p:sp>
      <p:sp>
        <p:nvSpPr>
          <p:cNvPr id="15" name="page-5-body-03">
            <a:extLst xmlns:a="http://schemas.openxmlformats.org/drawingml/2006/main">
              <a:ext uri="{FF2B5EF4-FFF2-40B4-BE49-F238E27FC236}">
                <a16:creationId xmlns:a16="http://schemas.microsoft.com/office/drawing/2014/main" id="{7C251B70-58BD-4E86-B232-216E7BD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名额校验通过后，匹配关系即时确认。</a:t>
            </a:r>
          </a:p>
        </p:txBody>
      </p:sp>
      <p:sp>
        <p:nvSpPr>
          <p:cNvPr id="16" name="page-5-screenshot-label">
            <a:extLst xmlns:a="http://schemas.openxmlformats.org/drawingml/2006/main">
              <a:ext uri="{FF2B5EF4-FFF2-40B4-BE49-F238E27FC236}">
                <a16:creationId xmlns:a16="http://schemas.microsoft.com/office/drawing/2014/main" id="{1A81B4DC-AA93-4A65-A4F5-DEE0402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5-screenshot-frame">
            <a:extLst xmlns:a="http://schemas.openxmlformats.org/drawingml/2006/main">
              <a:ext uri="{FF2B5EF4-FFF2-40B4-BE49-F238E27FC236}">
                <a16:creationId xmlns:a16="http://schemas.microsoft.com/office/drawing/2014/main" id="{39955CA3-F42D-4E71-9DA6-3CCAFD1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35A18-89AB-45B2-AB49-A504223C2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0b0798d86484c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2AA88B1-40E1-44EB-8438-72AA76D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DCFAEFCB-5114-4858-BA25-0C83827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915256C3-997F-4984-A691-E7FDF7F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2070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E954FFAF-751D-4E8F-A293-7EB9127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ADMIN · BATCH MANAGEMENT</a:t>
            </a:r>
          </a:p>
        </p:txBody>
      </p:sp>
      <p:sp>
        <p:nvSpPr>
          <p:cNvPr id="2" name="title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CB24E838-69AA-4347-926F-D32DC5F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管理端｜配置批次并跟踪整体进度</a:t>
            </a:r>
          </a:p>
        </p:txBody>
      </p:sp>
      <p:sp>
        <p:nvSpPr>
          <p:cNvPr id="3" name="subtitle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F7FDE39E-4475-4261-AB79-96DB5C84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阶段排期、导师名额与批次统计集中管理。</a:t>
            </a:r>
          </a:p>
        </p:txBody>
      </p:sp>
      <p:sp>
        <p:nvSpPr>
          <p:cNvPr id="4" name="page-6-bubble-01">
            <a:extLst xmlns:a="http://schemas.openxmlformats.org/drawingml/2006/main">
              <a:ext uri="{FF2B5EF4-FFF2-40B4-BE49-F238E27FC236}">
                <a16:creationId xmlns:a16="http://schemas.microsoft.com/office/drawing/2014/main" id="{4CA067EF-DF76-41EF-84DE-5FF2592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-number-01">
            <a:extLst xmlns:a="http://schemas.openxmlformats.org/drawingml/2006/main">
              <a:ext uri="{FF2B5EF4-FFF2-40B4-BE49-F238E27FC236}">
                <a16:creationId xmlns:a16="http://schemas.microsoft.com/office/drawing/2014/main" id="{7A4162A6-41A9-4FFD-9C40-A7CC1A3C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6-heading-01">
            <a:extLst xmlns:a="http://schemas.openxmlformats.org/drawingml/2006/main">
              <a:ext uri="{FF2B5EF4-FFF2-40B4-BE49-F238E27FC236}">
                <a16:creationId xmlns:a16="http://schemas.microsoft.com/office/drawing/2014/main" id="{5C97F60A-0694-4298-9EFF-AFA1981F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管理批次阶段</a:t>
            </a:r>
          </a:p>
        </p:txBody>
      </p:sp>
      <p:sp>
        <p:nvSpPr>
          <p:cNvPr id="7" name="page-6-body-01">
            <a:extLst xmlns:a="http://schemas.openxmlformats.org/drawingml/2006/main">
              <a:ext uri="{FF2B5EF4-FFF2-40B4-BE49-F238E27FC236}">
                <a16:creationId xmlns:a16="http://schemas.microsoft.com/office/drawing/2014/main" id="{220292FC-6F7E-4BD6-A561-31D2D385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维护学生填报、三轮处理及补选排期。</a:t>
            </a:r>
          </a:p>
        </p:txBody>
      </p:sp>
      <p:sp>
        <p:nvSpPr>
          <p:cNvPr id="8" name="page-6-bubble-02">
            <a:extLst xmlns:a="http://schemas.openxmlformats.org/drawingml/2006/main">
              <a:ext uri="{FF2B5EF4-FFF2-40B4-BE49-F238E27FC236}">
                <a16:creationId xmlns:a16="http://schemas.microsoft.com/office/drawing/2014/main" id="{295D574C-B382-4193-9176-F6CE4AE4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6-number-02">
            <a:extLst xmlns:a="http://schemas.openxmlformats.org/drawingml/2006/main">
              <a:ext uri="{FF2B5EF4-FFF2-40B4-BE49-F238E27FC236}">
                <a16:creationId xmlns:a16="http://schemas.microsoft.com/office/drawing/2014/main" id="{DA04C2D5-F78B-4484-8779-9B0E1365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6-heading-02">
            <a:extLst xmlns:a="http://schemas.openxmlformats.org/drawingml/2006/main">
              <a:ext uri="{FF2B5EF4-FFF2-40B4-BE49-F238E27FC236}">
                <a16:creationId xmlns:a16="http://schemas.microsoft.com/office/drawing/2014/main" id="{CD16105E-394E-4B41-9A4C-6CD8B81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查看统计总览</a:t>
            </a:r>
          </a:p>
        </p:txBody>
      </p:sp>
      <p:sp>
        <p:nvSpPr>
          <p:cNvPr id="11" name="page-6-body-02">
            <a:extLst xmlns:a="http://schemas.openxmlformats.org/drawingml/2006/main">
              <a:ext uri="{FF2B5EF4-FFF2-40B4-BE49-F238E27FC236}">
                <a16:creationId xmlns:a16="http://schemas.microsoft.com/office/drawing/2014/main" id="{90B6CD9D-DBDE-4D5E-927A-C3704AEA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按填报开窗时冻结的合格名单计算分母。</a:t>
            </a:r>
          </a:p>
        </p:txBody>
      </p:sp>
      <p:sp>
        <p:nvSpPr>
          <p:cNvPr id="12" name="page-6-bubble-03">
            <a:extLst xmlns:a="http://schemas.openxmlformats.org/drawingml/2006/main">
              <a:ext uri="{FF2B5EF4-FFF2-40B4-BE49-F238E27FC236}">
                <a16:creationId xmlns:a16="http://schemas.microsoft.com/office/drawing/2014/main" id="{9EDDE01E-28EB-4328-9330-2E9950B4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6-number-03">
            <a:extLst xmlns:a="http://schemas.openxmlformats.org/drawingml/2006/main">
              <a:ext uri="{FF2B5EF4-FFF2-40B4-BE49-F238E27FC236}">
                <a16:creationId xmlns:a16="http://schemas.microsoft.com/office/drawing/2014/main" id="{8C4F7EC5-19D8-494C-A18A-6FC4F5B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6-heading-03">
            <a:extLst xmlns:a="http://schemas.openxmlformats.org/drawingml/2006/main">
              <a:ext uri="{FF2B5EF4-FFF2-40B4-BE49-F238E27FC236}">
                <a16:creationId xmlns:a16="http://schemas.microsoft.com/office/drawing/2014/main" id="{4535A8EC-5093-48C9-8286-7E5035CC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维护导师名额</a:t>
            </a:r>
          </a:p>
        </p:txBody>
      </p:sp>
      <p:sp>
        <p:nvSpPr>
          <p:cNvPr id="15" name="page-6-body-03">
            <a:extLst xmlns:a="http://schemas.openxmlformats.org/drawingml/2006/main">
              <a:ext uri="{FF2B5EF4-FFF2-40B4-BE49-F238E27FC236}">
                <a16:creationId xmlns:a16="http://schemas.microsoft.com/office/drawing/2014/main" id="{A7B26D8A-B3FB-4B88-A7B9-99C4AC07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查看导师资格、已占名额和剩余名额。</a:t>
            </a:r>
          </a:p>
        </p:txBody>
      </p:sp>
      <p:sp>
        <p:nvSpPr>
          <p:cNvPr id="16" name="page-6-screenshot-label">
            <a:extLst xmlns:a="http://schemas.openxmlformats.org/drawingml/2006/main">
              <a:ext uri="{FF2B5EF4-FFF2-40B4-BE49-F238E27FC236}">
                <a16:creationId xmlns:a16="http://schemas.microsoft.com/office/drawing/2014/main" id="{C5F5B3A0-468F-4C0A-A5D0-DB91ADC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6-screenshot-frame">
            <a:extLst xmlns:a="http://schemas.openxmlformats.org/drawingml/2006/main">
              <a:ext uri="{FF2B5EF4-FFF2-40B4-BE49-F238E27FC236}">
                <a16:creationId xmlns:a16="http://schemas.microsoft.com/office/drawing/2014/main" id="{7592B0D9-6615-4A31-80FB-B457949A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65E13-7F04-478E-A19D-FEE93B1D9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0b46ab45248c2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5D7D1F4-E96A-400E-9097-1098661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93ED58CB-B2AE-48FD-AE6F-84140EF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F3A796B-8C27-4A77-A495-44EB190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961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690ED775-3C13-4960-B40B-B6F1A558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RULES &amp; STATUS</a:t>
            </a:r>
          </a:p>
        </p:txBody>
      </p:sp>
      <p:sp>
        <p:nvSpPr>
          <p:cNvPr id="2" name="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E88B2009-4665-402B-B1C8-3968BE0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关键规则与当前实现范围</a:t>
            </a:r>
          </a:p>
        </p:txBody>
      </p:sp>
      <p:sp>
        <p:nvSpPr>
          <p:cNvPr id="3" name="sub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2222DE79-DC02-4A03-B36C-5D0D8318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页面背后的业务约束统一资格、顺位与名额口径。</a:t>
            </a:r>
          </a:p>
        </p:txBody>
      </p:sp>
      <p:sp>
        <p:nvSpPr>
          <p:cNvPr id="4" name="rule-card-1">
            <a:extLst xmlns:a="http://schemas.openxmlformats.org/drawingml/2006/main">
              <a:ext uri="{FF2B5EF4-FFF2-40B4-BE49-F238E27FC236}">
                <a16:creationId xmlns:a16="http://schemas.microsoft.com/office/drawing/2014/main" id="{C1CEE08C-EE97-4AEB-A611-C302854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rule-accent-1">
            <a:extLst xmlns:a="http://schemas.openxmlformats.org/drawingml/2006/main">
              <a:ext uri="{FF2B5EF4-FFF2-40B4-BE49-F238E27FC236}">
                <a16:creationId xmlns:a16="http://schemas.microsoft.com/office/drawing/2014/main" id="{15AE244B-B6A4-4C90-A240-7480E63B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number-1">
            <a:extLst xmlns:a="http://schemas.openxmlformats.org/drawingml/2006/main">
              <a:ext uri="{FF2B5EF4-FFF2-40B4-BE49-F238E27FC236}">
                <a16:creationId xmlns:a16="http://schemas.microsoft.com/office/drawing/2014/main" id="{FB72C8BB-124C-41B2-AF55-7642B47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ule-title-1">
            <a:extLst xmlns:a="http://schemas.openxmlformats.org/drawingml/2006/main">
              <a:ext uri="{FF2B5EF4-FFF2-40B4-BE49-F238E27FC236}">
                <a16:creationId xmlns:a16="http://schemas.microsoft.com/office/drawing/2014/main" id="{957B85DE-91C8-4F67-B538-8F2431D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资格范围</a:t>
            </a:r>
          </a:p>
        </p:txBody>
      </p:sp>
      <p:sp>
        <p:nvSpPr>
          <p:cNvPr id="8" name="rule-dot-1-0">
            <a:extLst xmlns:a="http://schemas.openxmlformats.org/drawingml/2006/main">
              <a:ext uri="{FF2B5EF4-FFF2-40B4-BE49-F238E27FC236}">
                <a16:creationId xmlns:a16="http://schemas.microsoft.com/office/drawing/2014/main" id="{446220D2-6607-4D49-82D8-E13C23E5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line-1-0">
            <a:extLst xmlns:a="http://schemas.openxmlformats.org/drawingml/2006/main">
              <a:ext uri="{FF2B5EF4-FFF2-40B4-BE49-F238E27FC236}">
                <a16:creationId xmlns:a16="http://schemas.microsoft.com/office/drawing/2014/main" id="{E17A75F5-11F6-4031-9F72-9E688F0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学生专业与学位类型进入校验。</a:t>
            </a:r>
          </a:p>
        </p:txBody>
      </p:sp>
      <p:sp>
        <p:nvSpPr>
          <p:cNvPr id="10" name="rule-dot-1-1">
            <a:extLst xmlns:a="http://schemas.openxmlformats.org/drawingml/2006/main">
              <a:ext uri="{FF2B5EF4-FFF2-40B4-BE49-F238E27FC236}">
                <a16:creationId xmlns:a16="http://schemas.microsoft.com/office/drawing/2014/main" id="{6756B080-2902-4E06-94E7-4D53026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line-1-1">
            <a:extLst xmlns:a="http://schemas.openxmlformats.org/drawingml/2006/main">
              <a:ext uri="{FF2B5EF4-FFF2-40B4-BE49-F238E27FC236}">
                <a16:creationId xmlns:a16="http://schemas.microsoft.com/office/drawing/2014/main" id="{ABEC126A-5B21-468A-B6A2-5AC211B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导师按批次配置专业与学位范围。</a:t>
            </a:r>
          </a:p>
        </p:txBody>
      </p:sp>
      <p:sp>
        <p:nvSpPr>
          <p:cNvPr id="12" name="rule-dot-1-2">
            <a:extLst xmlns:a="http://schemas.openxmlformats.org/drawingml/2006/main">
              <a:ext uri="{FF2B5EF4-FFF2-40B4-BE49-F238E27FC236}">
                <a16:creationId xmlns:a16="http://schemas.microsoft.com/office/drawing/2014/main" id="{34F57F0D-E4DE-48E8-B79F-4F6590E2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line-1-2">
            <a:extLst xmlns:a="http://schemas.openxmlformats.org/drawingml/2006/main">
              <a:ext uri="{FF2B5EF4-FFF2-40B4-BE49-F238E27FC236}">
                <a16:creationId xmlns:a16="http://schemas.microsoft.com/office/drawing/2014/main" id="{1D44548D-A963-476C-97FD-8AC3C0E4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填报开窗时冻结业务名单与招生范围。</a:t>
            </a:r>
          </a:p>
        </p:txBody>
      </p:sp>
      <p:sp>
        <p:nvSpPr>
          <p:cNvPr id="14" name="rule-card-2">
            <a:extLst xmlns:a="http://schemas.openxmlformats.org/drawingml/2006/main">
              <a:ext uri="{FF2B5EF4-FFF2-40B4-BE49-F238E27FC236}">
                <a16:creationId xmlns:a16="http://schemas.microsoft.com/office/drawing/2014/main" id="{52C2CE1D-0E44-4E0D-9408-3FBA62D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5" name="rule-accent-2">
            <a:extLst xmlns:a="http://schemas.openxmlformats.org/drawingml/2006/main">
              <a:ext uri="{FF2B5EF4-FFF2-40B4-BE49-F238E27FC236}">
                <a16:creationId xmlns:a16="http://schemas.microsoft.com/office/drawing/2014/main" id="{D1B8E3C4-EC32-4119-A143-D28A4FB0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number-2">
            <a:extLst xmlns:a="http://schemas.openxmlformats.org/drawingml/2006/main">
              <a:ext uri="{FF2B5EF4-FFF2-40B4-BE49-F238E27FC236}">
                <a16:creationId xmlns:a16="http://schemas.microsoft.com/office/drawing/2014/main" id="{B5E8359B-EC2E-4A11-94A0-62E58798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rule-title-2">
            <a:extLst xmlns:a="http://schemas.openxmlformats.org/drawingml/2006/main">
              <a:ext uri="{FF2B5EF4-FFF2-40B4-BE49-F238E27FC236}">
                <a16:creationId xmlns:a16="http://schemas.microsoft.com/office/drawing/2014/main" id="{0B10CA03-E237-42A3-84D8-6E534447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分轮处理</a:t>
            </a:r>
          </a:p>
        </p:txBody>
      </p:sp>
      <p:sp>
        <p:nvSpPr>
          <p:cNvPr id="18" name="rule-dot-2-0">
            <a:extLst xmlns:a="http://schemas.openxmlformats.org/drawingml/2006/main">
              <a:ext uri="{FF2B5EF4-FFF2-40B4-BE49-F238E27FC236}">
                <a16:creationId xmlns:a16="http://schemas.microsoft.com/office/drawing/2014/main" id="{8F226F8F-3C74-4562-A5AE-EEA8BE2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line-2-0">
            <a:extLst xmlns:a="http://schemas.openxmlformats.org/drawingml/2006/main">
              <a:ext uri="{FF2B5EF4-FFF2-40B4-BE49-F238E27FC236}">
                <a16:creationId xmlns:a16="http://schemas.microsoft.com/office/drawing/2014/main" id="{FE8FDF16-6EE7-4CA1-9180-B482877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第 1 / 2 / 3 轮对应第 1 / 2 / 3 志愿。</a:t>
            </a:r>
          </a:p>
        </p:txBody>
      </p:sp>
      <p:sp>
        <p:nvSpPr>
          <p:cNvPr id="20" name="rule-dot-2-1">
            <a:extLst xmlns:a="http://schemas.openxmlformats.org/drawingml/2006/main">
              <a:ext uri="{FF2B5EF4-FFF2-40B4-BE49-F238E27FC236}">
                <a16:creationId xmlns:a16="http://schemas.microsoft.com/office/drawing/2014/main" id="{4277B239-7073-4323-AE51-5D3ABAF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line-2-1">
            <a:extLst xmlns:a="http://schemas.openxmlformats.org/drawingml/2006/main">
              <a:ext uri="{FF2B5EF4-FFF2-40B4-BE49-F238E27FC236}">
                <a16:creationId xmlns:a16="http://schemas.microsoft.com/office/drawing/2014/main" id="{169EB878-7653-45E4-926A-F64336CE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导师对投向本人的申请逐项决定。</a:t>
            </a:r>
          </a:p>
        </p:txBody>
      </p:sp>
      <p:sp>
        <p:nvSpPr>
          <p:cNvPr id="22" name="rule-dot-2-2">
            <a:extLst xmlns:a="http://schemas.openxmlformats.org/drawingml/2006/main">
              <a:ext uri="{FF2B5EF4-FFF2-40B4-BE49-F238E27FC236}">
                <a16:creationId xmlns:a16="http://schemas.microsoft.com/office/drawing/2014/main" id="{733D86E9-D8DF-4162-BF5D-AA621005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ule-line-2-2">
            <a:extLst xmlns:a="http://schemas.openxmlformats.org/drawingml/2006/main">
              <a:ext uri="{FF2B5EF4-FFF2-40B4-BE49-F238E27FC236}">
                <a16:creationId xmlns:a16="http://schemas.microsoft.com/office/drawing/2014/main" id="{02B7A719-9BD1-4877-B177-ECE257A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录取检查名额并立即锁定关系。</a:t>
            </a:r>
          </a:p>
        </p:txBody>
      </p:sp>
      <p:sp>
        <p:nvSpPr>
          <p:cNvPr id="24" name="rule-card-3">
            <a:extLst xmlns:a="http://schemas.openxmlformats.org/drawingml/2006/main">
              <a:ext uri="{FF2B5EF4-FFF2-40B4-BE49-F238E27FC236}">
                <a16:creationId xmlns:a16="http://schemas.microsoft.com/office/drawing/2014/main" id="{32F21B26-CE5D-4BB3-9C30-987CB282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5" name="rule-accent-3">
            <a:extLst xmlns:a="http://schemas.openxmlformats.org/drawingml/2006/main">
              <a:ext uri="{FF2B5EF4-FFF2-40B4-BE49-F238E27FC236}">
                <a16:creationId xmlns:a16="http://schemas.microsoft.com/office/drawing/2014/main" id="{2BE5A229-CA1F-4571-9025-1A816C47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-number-3">
            <a:extLst xmlns:a="http://schemas.openxmlformats.org/drawingml/2006/main">
              <a:ext uri="{FF2B5EF4-FFF2-40B4-BE49-F238E27FC236}">
                <a16:creationId xmlns:a16="http://schemas.microsoft.com/office/drawing/2014/main" id="{7724ED50-F0CC-491C-8D58-ADD6AF2F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rule-title-3">
            <a:extLst xmlns:a="http://schemas.openxmlformats.org/drawingml/2006/main">
              <a:ext uri="{FF2B5EF4-FFF2-40B4-BE49-F238E27FC236}">
                <a16:creationId xmlns:a16="http://schemas.microsoft.com/office/drawing/2014/main" id="{DBD6A92D-967E-4064-8650-820C47A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独立补选</a:t>
            </a:r>
          </a:p>
        </p:txBody>
      </p:sp>
      <p:sp>
        <p:nvSpPr>
          <p:cNvPr id="28" name="rule-dot-3-0">
            <a:extLst xmlns:a="http://schemas.openxmlformats.org/drawingml/2006/main">
              <a:ext uri="{FF2B5EF4-FFF2-40B4-BE49-F238E27FC236}">
                <a16:creationId xmlns:a16="http://schemas.microsoft.com/office/drawing/2014/main" id="{F0C858CD-C822-4E99-8ABD-2B0051E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ule-line-3-0">
            <a:extLst xmlns:a="http://schemas.openxmlformats.org/drawingml/2006/main">
              <a:ext uri="{FF2B5EF4-FFF2-40B4-BE49-F238E27FC236}">
                <a16:creationId xmlns:a16="http://schemas.microsoft.com/office/drawing/2014/main" id="{43EFA75C-FD8F-41C2-9460-2236DAC3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是否安排补选在批次发布前确定。</a:t>
            </a:r>
          </a:p>
        </p:txBody>
      </p:sp>
      <p:sp>
        <p:nvSpPr>
          <p:cNvPr id="30" name="rule-dot-3-1">
            <a:extLst xmlns:a="http://schemas.openxmlformats.org/drawingml/2006/main">
              <a:ext uri="{FF2B5EF4-FFF2-40B4-BE49-F238E27FC236}">
                <a16:creationId xmlns:a16="http://schemas.microsoft.com/office/drawing/2014/main" id="{00464614-4498-4FAE-B246-D7B5B46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ule-line-3-1">
            <a:extLst xmlns:a="http://schemas.openxmlformats.org/drawingml/2006/main">
              <a:ext uri="{FF2B5EF4-FFF2-40B4-BE49-F238E27FC236}">
                <a16:creationId xmlns:a16="http://schemas.microsoft.com/office/drawing/2014/main" id="{959ADF89-54FB-47A7-B92F-A711C090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补选窗口单独排期，不重跑三轮。</a:t>
            </a:r>
          </a:p>
        </p:txBody>
      </p:sp>
      <p:sp>
        <p:nvSpPr>
          <p:cNvPr id="32" name="rule-dot-3-2">
            <a:extLst xmlns:a="http://schemas.openxmlformats.org/drawingml/2006/main">
              <a:ext uri="{FF2B5EF4-FFF2-40B4-BE49-F238E27FC236}">
                <a16:creationId xmlns:a16="http://schemas.microsoft.com/office/drawing/2014/main" id="{10C56ADA-B1B8-4B36-B3E8-076C99C0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ule-line-3-2">
            <a:extLst xmlns:a="http://schemas.openxmlformats.org/drawingml/2006/main">
              <a:ext uri="{FF2B5EF4-FFF2-40B4-BE49-F238E27FC236}">
                <a16:creationId xmlns:a16="http://schemas.microsoft.com/office/drawing/2014/main" id="{53E5648B-7104-4E34-A765-29ED6B5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窗口关闭后结案并完成批次。</a:t>
            </a:r>
          </a:p>
        </p:txBody>
      </p:sp>
      <p:sp>
        <p:nvSpPr>
          <p:cNvPr id="34" name="status-card">
            <a:extLst xmlns:a="http://schemas.openxmlformats.org/drawingml/2006/main">
              <a:ext uri="{FF2B5EF4-FFF2-40B4-BE49-F238E27FC236}">
                <a16:creationId xmlns:a16="http://schemas.microsoft.com/office/drawing/2014/main" id="{CE2D1FED-FED6-4764-AE1E-9E03EC2F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3BCC3EA8-16E0-49AF-AADF-11703E1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36" name="status-main">
            <a:extLst xmlns:a="http://schemas.openxmlformats.org/drawingml/2006/main">
              <a:ext uri="{FF2B5EF4-FFF2-40B4-BE49-F238E27FC236}">
                <a16:creationId xmlns:a16="http://schemas.microsoft.com/office/drawing/2014/main" id="{45B80E19-A5B3-4F38-BB45-B9D2232D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学生、导师与管理员的主要业务链路已接入当前代码。</a:t>
            </a:r>
          </a:p>
        </p:txBody>
      </p:sp>
      <p:sp>
        <p:nvSpPr>
          <p:cNvPr id="37" name="status-note">
            <a:extLst xmlns:a="http://schemas.openxmlformats.org/drawingml/2006/main">
              <a:ext uri="{FF2B5EF4-FFF2-40B4-BE49-F238E27FC236}">
                <a16:creationId xmlns:a16="http://schemas.microsoft.com/office/drawing/2014/main" id="{588C249F-1AE7-4952-BEBE-42648B98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核心自动化验收与目标环境部署、运维核验仍需继续。</a:t>
            </a:r>
          </a:p>
        </p:txBody>
      </p:sp>
      <p:sp>
        <p:nvSpPr>
          <p:cNvPr id="38" name="tech-label">
            <a:extLst xmlns:a="http://schemas.openxmlformats.org/drawingml/2006/main">
              <a:ext uri="{FF2B5EF4-FFF2-40B4-BE49-F238E27FC236}">
                <a16:creationId xmlns:a16="http://schemas.microsoft.com/office/drawing/2014/main" id="{7F384E92-A41D-4377-A562-D7B8B8DA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技术基线</a:t>
            </a:r>
          </a:p>
        </p:txBody>
      </p:sp>
      <p:sp>
        <p:nvSpPr>
          <p:cNvPr id="39" name="tech-chip-1">
            <a:extLst xmlns:a="http://schemas.openxmlformats.org/drawingml/2006/main">
              <a:ext uri="{FF2B5EF4-FFF2-40B4-BE49-F238E27FC236}">
                <a16:creationId xmlns:a16="http://schemas.microsoft.com/office/drawing/2014/main" id="{5E50467A-CCE7-4FD7-B198-DC70CE9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0" name="tech-text-1">
            <a:extLst xmlns:a="http://schemas.openxmlformats.org/drawingml/2006/main">
              <a:ext uri="{FF2B5EF4-FFF2-40B4-BE49-F238E27FC236}">
                <a16:creationId xmlns:a16="http://schemas.microsoft.com/office/drawing/2014/main" id="{0B401E5B-FC50-46B5-B3B6-B9CC4BA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Java 8 · Spring Boot 2.6.6</a:t>
            </a:r>
          </a:p>
        </p:txBody>
      </p:sp>
      <p:sp>
        <p:nvSpPr>
          <p:cNvPr id="41" name="tech-chip-2">
            <a:extLst xmlns:a="http://schemas.openxmlformats.org/drawingml/2006/main">
              <a:ext uri="{FF2B5EF4-FFF2-40B4-BE49-F238E27FC236}">
                <a16:creationId xmlns:a16="http://schemas.microsoft.com/office/drawing/2014/main" id="{630F6E8B-ACE0-4F0F-9356-5999C67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2238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tech-text-2">
            <a:extLst xmlns:a="http://schemas.openxmlformats.org/drawingml/2006/main">
              <a:ext uri="{FF2B5EF4-FFF2-40B4-BE49-F238E27FC236}">
                <a16:creationId xmlns:a16="http://schemas.microsoft.com/office/drawing/2014/main" id="{8349DCD7-D92B-412D-B468-9582BD77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959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MySQL 5.7.36</a:t>
            </a:r>
          </a:p>
        </p:txBody>
      </p:sp>
      <p:sp>
        <p:nvSpPr>
          <p:cNvPr id="43" name="tech-chip-3">
            <a:extLst xmlns:a="http://schemas.openxmlformats.org/drawingml/2006/main">
              <a:ext uri="{FF2B5EF4-FFF2-40B4-BE49-F238E27FC236}">
                <a16:creationId xmlns:a16="http://schemas.microsoft.com/office/drawing/2014/main" id="{A37B9D93-5D40-4C24-9FDE-E508CA6D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4" name="tech-text-3">
            <a:extLst xmlns:a="http://schemas.openxmlformats.org/drawingml/2006/main">
              <a:ext uri="{FF2B5EF4-FFF2-40B4-BE49-F238E27FC236}">
                <a16:creationId xmlns:a16="http://schemas.microsoft.com/office/drawing/2014/main" id="{52541274-88AB-4F27-8864-DC7FD6F6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Vue 3 · TypeScript</a:t>
            </a:r>
          </a:p>
        </p:txBody>
      </p:sp>
      <p:sp>
        <p:nvSpPr>
          <p:cNvPr id="45" name="tech-chip-4">
            <a:extLst xmlns:a="http://schemas.openxmlformats.org/drawingml/2006/main">
              <a:ext uri="{FF2B5EF4-FFF2-40B4-BE49-F238E27FC236}">
                <a16:creationId xmlns:a16="http://schemas.microsoft.com/office/drawing/2014/main" id="{E00057FC-DEB4-4277-A0E2-7AEB38B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57850"/>
            <a:ext cx="3514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tech-text-4">
            <a:extLst xmlns:a="http://schemas.openxmlformats.org/drawingml/2006/main">
              <a:ext uri="{FF2B5EF4-FFF2-40B4-BE49-F238E27FC236}">
                <a16:creationId xmlns:a16="http://schemas.microsoft.com/office/drawing/2014/main" id="{8BA10C67-8089-4E19-9F39-3B9A1F6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9595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年度资格 · 分轮志愿 · 独立补选</a:t>
            </a:r>
          </a:p>
        </p:txBody>
      </p:sp>
      <p:sp>
        <p:nvSpPr>
          <p:cNvPr id="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56D874F-0B55-4339-B6CC-5F9F940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25D7A6CC-BA48-4146-BF7E-92C4B617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4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CFFAF7D-8043-4135-8DB6-13EB29B9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0205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2026-10-10T08:48:56.7090000Z</dcterms:created>
  <dcterms:modified xsi:type="dcterms:W3CDTF">2026-10-10T08:48:56.7090000Z</dcterms:modified>
</coreProperties>
</file>