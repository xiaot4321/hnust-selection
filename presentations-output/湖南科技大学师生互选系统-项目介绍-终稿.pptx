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cc8df61a594809" /><Relationship Type="http://schemas.openxmlformats.org/officeDocument/2006/relationships/extended-properties" Target="/docProps/app.xml" Id="Refd459d065264a24" /><Relationship Type="http://schemas.openxmlformats.org/officeDocument/2006/relationships/officeDocument" Target="/ppt/presentation.xml" Id="Rac679368d38746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feb3f777564fc5"/>
  </p:sldMasterIdLst>
  <p:notesMasterIdLst>
    <p:notesMasterId xmlns:r="http://schemas.openxmlformats.org/officeDocument/2006/relationships" r:id="Ra6ee1cfafad1480e"/>
  </p:notesMasterIdLst>
  <p:sldIdLst>
    <p:sldId xmlns:r="http://schemas.openxmlformats.org/officeDocument/2006/relationships" id="256" r:id="R41859e99f6d9401f"/>
    <p:sldId xmlns:r="http://schemas.openxmlformats.org/officeDocument/2006/relationships" id="257" r:id="Rc23e6b0914a443a7"/>
    <p:sldId xmlns:r="http://schemas.openxmlformats.org/officeDocument/2006/relationships" id="258" r:id="R97ffc34159364f17"/>
    <p:sldId xmlns:r="http://schemas.openxmlformats.org/officeDocument/2006/relationships" id="259" r:id="Rab29101e7a9247e1"/>
    <p:sldId xmlns:r="http://schemas.openxmlformats.org/officeDocument/2006/relationships" id="260" r:id="R38bf45ab7f764a13"/>
    <p:sldId xmlns:r="http://schemas.openxmlformats.org/officeDocument/2006/relationships" id="261" r:id="R743d7047baaa464c"/>
    <p:sldId xmlns:r="http://schemas.openxmlformats.org/officeDocument/2006/relationships" id="262" r:id="Ref3e8c04c820472a"/>
    <p:sldId xmlns:r="http://schemas.openxmlformats.org/officeDocument/2006/relationships" id="263" r:id="R07b337fbc3944e92"/>
    <p:sldId xmlns:r="http://schemas.openxmlformats.org/officeDocument/2006/relationships" id="264" r:id="Rc3a2d2c134aa45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c80c03d65a4dff" /><Relationship Type="http://schemas.openxmlformats.org/officeDocument/2006/relationships/slideMaster" Target="/ppt/slideMasters/slideMaster1.xml" Id="Rc4feb3f777564fc5" /><Relationship Type="http://schemas.openxmlformats.org/officeDocument/2006/relationships/notesMaster" Target="/ppt/notesMasters/notesMaster1.xml" Id="Ra6ee1cfafad1480e" /><Relationship Type="http://schemas.openxmlformats.org/officeDocument/2006/relationships/presProps" Target="/ppt/presProps.xml" Id="R96be47dc97404841" /><Relationship Type="http://schemas.openxmlformats.org/officeDocument/2006/relationships/tableStyles" Target="/ppt/tableStyles.xml" Id="R6c019cb5091a4313" /><Relationship Type="http://schemas.openxmlformats.org/officeDocument/2006/relationships/slide" Target="/ppt/slides/slide1.xml" Id="R41859e99f6d9401f" /><Relationship Type="http://schemas.openxmlformats.org/officeDocument/2006/relationships/slide" Target="/ppt/slides/slide2.xml" Id="Rc23e6b0914a443a7" /><Relationship Type="http://schemas.openxmlformats.org/officeDocument/2006/relationships/slide" Target="/ppt/slides/slide3.xml" Id="R97ffc34159364f17" /><Relationship Type="http://schemas.openxmlformats.org/officeDocument/2006/relationships/slide" Target="/ppt/slides/slide4.xml" Id="Rab29101e7a9247e1" /><Relationship Type="http://schemas.openxmlformats.org/officeDocument/2006/relationships/slide" Target="/ppt/slides/slide5.xml" Id="R38bf45ab7f764a13" /><Relationship Type="http://schemas.openxmlformats.org/officeDocument/2006/relationships/slide" Target="/ppt/slides/slide6.xml" Id="R743d7047baaa464c" /><Relationship Type="http://schemas.openxmlformats.org/officeDocument/2006/relationships/slide" Target="/ppt/slides/slide7.xml" Id="Ref3e8c04c820472a" /><Relationship Type="http://schemas.openxmlformats.org/officeDocument/2006/relationships/slide" Target="/ppt/slides/slide8.xml" Id="R07b337fbc3944e92" /><Relationship Type="http://schemas.openxmlformats.org/officeDocument/2006/relationships/slide" Target="/ppt/slides/slide9.xml" Id="Rc3a2d2c134aa45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1efbc4ca9c45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c669a9d7194251" /><Relationship Type="http://schemas.openxmlformats.org/officeDocument/2006/relationships/notesMaster" Target="/ppt/notesMasters/notesMaster1.xml" Id="R97fa81989f3b41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945b158dfe457d" /><Relationship Type="http://schemas.openxmlformats.org/officeDocument/2006/relationships/notesMaster" Target="/ppt/notesMasters/notesMaster1.xml" Id="Rd2df01a2397a4f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fc2265854a4ed8" /><Relationship Type="http://schemas.openxmlformats.org/officeDocument/2006/relationships/notesMaster" Target="/ppt/notesMasters/notesMaster1.xml" Id="R61c96d7006d141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e358ca88a84ff2" /><Relationship Type="http://schemas.openxmlformats.org/officeDocument/2006/relationships/notesMaster" Target="/ppt/notesMasters/notesMaster1.xml" Id="R558b51ddccf24b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326c20fd6f4919" /><Relationship Type="http://schemas.openxmlformats.org/officeDocument/2006/relationships/notesMaster" Target="/ppt/notesMasters/notesMaster1.xml" Id="R6b75db3f6a0643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e3fa716a224353" /><Relationship Type="http://schemas.openxmlformats.org/officeDocument/2006/relationships/notesMaster" Target="/ppt/notesMasters/notesMaster1.xml" Id="R5a806007fbf54a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1b3b5e42c64cea" /><Relationship Type="http://schemas.openxmlformats.org/officeDocument/2006/relationships/notesMaster" Target="/ppt/notesMasters/notesMaster1.xml" Id="R29f5fbe6cfee4c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9bdc5b1eef4e66" /><Relationship Type="http://schemas.openxmlformats.org/officeDocument/2006/relationships/notesMaster" Target="/ppt/notesMasters/notesMaster1.xml" Id="Rc65d6493b8e343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efe3d32f1d4a4c" /><Relationship Type="http://schemas.openxmlformats.org/officeDocument/2006/relationships/notesMaster" Target="/ppt/notesMasters/notesMaster1.xml" Id="R3b45cee073244d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内容依据：requirements.md；docs/README.md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内容依据：requirements.md；docs/functional-modules.md；docs/business-rules.md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内容依据：docs/functional-modules.md §3；docs/permission-matrix.md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内容依据：requirements.md；docs/functional-modules.md §3.1；docs/business-rules.md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内容依据：requirements.md；docs/functional-modules.md §3.2；docs/state-machine.md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内容依据：docs/functional-modules.md §3.3；docs/permission-matrix.md；docs/api-design.md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内容依据：docs/business-rules.md；docs/state-machine.md；docs/todo-register.md §3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内容依据：requirements.md；docs/api-design.md；docs/database-design.md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内容依据：docs/README.md；docs/functional-modules.md §7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30e964a8148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eaec2423e24b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811140c674d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c01d648af41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f5816937fc44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7cb32a2b754a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E40DE9-531F-434F-B8EC-445408F318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FD55DA-B404-49CF-9A4E-8D71146DA2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58F290-C9F9-4321-B484-7359E6037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9762CE-F1DB-45EC-90A8-AF6C6A305F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9C6DCE-7B83-42A0-84FE-B3C6408D36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E7B93F-4ACC-4051-A011-08E34DE24E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E4F8C2-6725-4402-A4E6-7C62CD7771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3AF73F-06AF-4DE4-A94A-CEBB21213B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AB0CE2-865F-4951-B9ED-0606BBD48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B71DB8-5737-4A0C-AB08-2CB6FCDBD5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fbb84a06954cd6" /><Relationship Type="http://schemas.openxmlformats.org/officeDocument/2006/relationships/slideLayout" Target="/ppt/slideLayouts/slideLayout1.xml" Id="R9b0550a49f6345cd" /><Relationship Type="http://schemas.openxmlformats.org/officeDocument/2006/relationships/slideLayout" Target="/ppt/slideLayouts/slideLayout2.xml" Id="R0878e44519804044" /><Relationship Type="http://schemas.openxmlformats.org/officeDocument/2006/relationships/slideLayout" Target="/ppt/slideLayouts/slideLayout3.xml" Id="R769127db9548483c" /><Relationship Type="http://schemas.openxmlformats.org/officeDocument/2006/relationships/slideLayout" Target="/ppt/slideLayouts/slideLayout4.xml" Id="Rc40aafab6c8d4d6e" /><Relationship Type="http://schemas.openxmlformats.org/officeDocument/2006/relationships/slideLayout" Target="/ppt/slideLayouts/slideLayout5.xml" Id="R44b408a99fda4724" /><Relationship Type="http://schemas.openxmlformats.org/officeDocument/2006/relationships/slideLayout" Target="/ppt/slideLayouts/slideLayout6.xml" Id="R31f32f95394a4b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0550a49f6345cd"/>
    <p:sldLayoutId xmlns:r="http://schemas.openxmlformats.org/officeDocument/2006/relationships" id="2147483650" r:id="R0878e44519804044"/>
    <p:sldLayoutId xmlns:r="http://schemas.openxmlformats.org/officeDocument/2006/relationships" id="2147483651" r:id="R769127db9548483c"/>
    <p:sldLayoutId xmlns:r="http://schemas.openxmlformats.org/officeDocument/2006/relationships" id="2147483652" r:id="Rc40aafab6c8d4d6e"/>
    <p:sldLayoutId xmlns:r="http://schemas.openxmlformats.org/officeDocument/2006/relationships" id="2147483653" r:id="R44b408a99fda4724"/>
    <p:sldLayoutId xmlns:r="http://schemas.openxmlformats.org/officeDocument/2006/relationships" id="2147483654" r:id="R31f32f95394a4b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e2e238c924fd1" /><Relationship Type="http://schemas.openxmlformats.org/officeDocument/2006/relationships/notesSlide" Target="/ppt/notesSlides/notesSlide1.xml" Id="Rfa41c0fc78ce45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055c0a9d045c5" /><Relationship Type="http://schemas.openxmlformats.org/officeDocument/2006/relationships/notesSlide" Target="/ppt/notesSlides/notesSlide2.xml" Id="Ra74a59dc2a8243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fcd14915ad43ad" /><Relationship Type="http://schemas.openxmlformats.org/officeDocument/2006/relationships/notesSlide" Target="/ppt/notesSlides/notesSlide3.xml" Id="R15e3fb0b47c148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1a829286fa4714" /><Relationship Type="http://schemas.openxmlformats.org/officeDocument/2006/relationships/notesSlide" Target="/ppt/notesSlides/notesSlide4.xml" Id="R701fbc99d1ae43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577a4739f4e73" /><Relationship Type="http://schemas.openxmlformats.org/officeDocument/2006/relationships/notesSlide" Target="/ppt/notesSlides/notesSlide5.xml" Id="Rdf7aca1c886e4f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ecb2bd31514a31" /><Relationship Type="http://schemas.openxmlformats.org/officeDocument/2006/relationships/notesSlide" Target="/ppt/notesSlides/notesSlide6.xml" Id="R420f927552944d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59f4e87a44454f" /><Relationship Type="http://schemas.openxmlformats.org/officeDocument/2006/relationships/notesSlide" Target="/ppt/notesSlides/notesSlide7.xml" Id="R5c0352aa22b144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cc238a3514285" /><Relationship Type="http://schemas.openxmlformats.org/officeDocument/2006/relationships/notesSlide" Target="/ppt/notesSlides/notesSlide8.xml" Id="R6dd243306d2c42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f88a1b7f364233" /><Relationship Type="http://schemas.openxmlformats.org/officeDocument/2006/relationships/notesSlide" Target="/ppt/notesSlides/notesSlide9.xml" Id="R4e260e8341da44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40CCF5A-C011-487F-A4FD-C0A1F40E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8001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湖南科技大学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师生互选系统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8C916CF-7F1A-4336-BCC8-A399762D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A7DC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A7DC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7DCDC"/>
                </a:solidFill>
                <a:latin typeface="Microsoft YaHei"/>
                <a:ea typeface="Microsoft YaHei"/>
                <a:cs typeface="Microsoft YaHei"/>
              </a:rPr>
              <a:t>项目介绍</a:t>
            </a:r>
          </a:p>
        </p:txBody>
      </p:sp>
      <p:sp>
        <p:nvSpPr>
          <p:cNvPr id="3" name="cover-date">
            <a:extLst xmlns:a="http://schemas.openxmlformats.org/drawingml/2006/main">
              <a:ext uri="{FF2B5EF4-FFF2-40B4-BE49-F238E27FC236}">
                <a16:creationId xmlns:a16="http://schemas.microsoft.com/office/drawing/2014/main" id="{2CD99C9C-8776-48AC-B5F0-B838B191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D4DE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4D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4DEE8"/>
                </a:solidFill>
                <a:latin typeface="Microsoft YaHei"/>
                <a:ea typeface="Microsoft YaHei"/>
                <a:cs typeface="Microsoft YaHei"/>
              </a:rPr>
              <a:t>项目需求与实现进展  ·  2026年10月</a:t>
            </a:r>
          </a:p>
        </p:txBody>
      </p:sp>
    </p:spTree>
    <p:extLst>
      <p:ext uri="{BB962C8B-B14F-4D97-AF65-F5344CB8AC3E}">
        <p14:creationId xmlns:p14="http://schemas.microsoft.com/office/powerpoint/2010/main" val="579505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30A5D1C-5A17-4E4E-9E2E-7C810D90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项目定位</a:t>
            </a:r>
          </a:p>
        </p:txBody>
      </p:sp>
      <p:sp>
        <p:nvSpPr>
          <p:cNvPr id="2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E98F745B-98E3-4818-8EEE-4D212B54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overview-statement">
            <a:extLst xmlns:a="http://schemas.openxmlformats.org/drawingml/2006/main">
              <a:ext uri="{FF2B5EF4-FFF2-40B4-BE49-F238E27FC236}">
                <a16:creationId xmlns:a16="http://schemas.microsoft.com/office/drawing/2014/main" id="{8095201D-B9C8-469E-9C5A-AE2ECF40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52863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围绕研究生导师双向选择，</a:t>
            </a:r>
          </a:p>
          <a:p xmlns:a="http://schemas.openxmlformats.org/drawingml/2006/main">
            <a:pPr algn="l">
              <a:defRPr sz="285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提供统一的志愿填报与录取管理流程。</a:t>
            </a:r>
          </a:p>
        </p:txBody>
      </p:sp>
      <p:sp>
        <p:nvSpPr>
          <p:cNvPr id="4" name="overview-label-1">
            <a:extLst xmlns:a="http://schemas.openxmlformats.org/drawingml/2006/main">
              <a:ext uri="{FF2B5EF4-FFF2-40B4-BE49-F238E27FC236}">
                <a16:creationId xmlns:a16="http://schemas.microsoft.com/office/drawing/2014/main" id="{FF8BB43C-286C-450F-BDE7-81D31BE8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764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选择条件</a:t>
            </a:r>
          </a:p>
        </p:txBody>
      </p:sp>
      <p:sp>
        <p:nvSpPr>
          <p:cNvPr id="5" name="overview-body-1">
            <a:extLst xmlns:a="http://schemas.openxmlformats.org/drawingml/2006/main">
              <a:ext uri="{FF2B5EF4-FFF2-40B4-BE49-F238E27FC236}">
                <a16:creationId xmlns:a16="http://schemas.microsoft.com/office/drawing/2014/main" id="{8E0AEF22-3E8D-449C-A829-CBCD1110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按学生专业、学位类型与导师冻结范围校验可报关系。</a:t>
            </a:r>
          </a:p>
        </p:txBody>
      </p:sp>
      <p:sp>
        <p:nvSpPr>
          <p:cNvPr id="6" name="overview-label-2">
            <a:extLst xmlns:a="http://schemas.openxmlformats.org/drawingml/2006/main">
              <a:ext uri="{FF2B5EF4-FFF2-40B4-BE49-F238E27FC236}">
                <a16:creationId xmlns:a16="http://schemas.microsoft.com/office/drawing/2014/main" id="{2E565071-ED4C-4433-B799-585CF714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录取决定</a:t>
            </a:r>
          </a:p>
        </p:txBody>
      </p:sp>
      <p:sp>
        <p:nvSpPr>
          <p:cNvPr id="7" name="overview-body-2">
            <a:extLst xmlns:a="http://schemas.openxmlformats.org/drawingml/2006/main">
              <a:ext uri="{FF2B5EF4-FFF2-40B4-BE49-F238E27FC236}">
                <a16:creationId xmlns:a16="http://schemas.microsoft.com/office/drawing/2014/main" id="{58F428AF-C4E0-4C41-8F19-74A1FE73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导师逐项处理申请，录取成功后立即锁定关系和名额。</a:t>
            </a:r>
          </a:p>
        </p:txBody>
      </p:sp>
      <p:sp>
        <p:nvSpPr>
          <p:cNvPr id="8" name="overview-label-3">
            <a:extLst xmlns:a="http://schemas.openxmlformats.org/drawingml/2006/main">
              <a:ext uri="{FF2B5EF4-FFF2-40B4-BE49-F238E27FC236}">
                <a16:creationId xmlns:a16="http://schemas.microsoft.com/office/drawing/2014/main" id="{D631FBD4-B79A-48DE-9FA8-270A080F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过程管理</a:t>
            </a:r>
          </a:p>
        </p:txBody>
      </p:sp>
      <p:sp>
        <p:nvSpPr>
          <p:cNvPr id="9" name="overview-body-3">
            <a:extLst xmlns:a="http://schemas.openxmlformats.org/drawingml/2006/main">
              <a:ext uri="{FF2B5EF4-FFF2-40B4-BE49-F238E27FC236}">
                <a16:creationId xmlns:a16="http://schemas.microsoft.com/office/drawing/2014/main" id="{FFE15DBD-BE21-44F7-A35B-8408F156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管理员维护批次、人员资格、数据范围与审计记录。</a:t>
            </a:r>
          </a:p>
        </p:txBody>
      </p:sp>
    </p:spTree>
    <p:extLst>
      <p:ext uri="{BB962C8B-B14F-4D97-AF65-F5344CB8AC3E}">
        <p14:creationId xmlns:p14="http://schemas.microsoft.com/office/powerpoint/2010/main" val="486898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9945FE3-8C2B-48BC-B3E4-E7164834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三类用户，各司其职</a:t>
            </a:r>
          </a:p>
        </p:txBody>
      </p:sp>
      <p:sp>
        <p:nvSpPr>
          <p:cNvPr id="2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44F5E48E-4FA4-4100-BE0B-A732DD86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role-1-title">
            <a:extLst xmlns:a="http://schemas.openxmlformats.org/drawingml/2006/main">
              <a:ext uri="{FF2B5EF4-FFF2-40B4-BE49-F238E27FC236}">
                <a16:creationId xmlns:a16="http://schemas.microsoft.com/office/drawing/2014/main" id="{B1EB39D5-70F0-4CC4-A978-44F45A5D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4" name="role-1-body">
            <a:extLst xmlns:a="http://schemas.openxmlformats.org/drawingml/2006/main">
              <a:ext uri="{FF2B5EF4-FFF2-40B4-BE49-F238E27FC236}">
                <a16:creationId xmlns:a16="http://schemas.microsoft.com/office/drawing/2014/main" id="{5A60E46D-175E-4562-8585-AE78A50F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核对本人专业与学位信息，</a:t>
            </a:r>
          </a:p>
          <a:p xmlns:a="http://schemas.openxmlformats.org/drawingml/2006/main">
            <a:pPr algn="l">
              <a:defRPr sz="18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提交有序志愿并跟踪进度。</a:t>
            </a:r>
          </a:p>
        </p:txBody>
      </p:sp>
      <p:sp>
        <p:nvSpPr>
          <p:cNvPr id="5" name="role-2-title">
            <a:extLst xmlns:a="http://schemas.openxmlformats.org/drawingml/2006/main">
              <a:ext uri="{FF2B5EF4-FFF2-40B4-BE49-F238E27FC236}">
                <a16:creationId xmlns:a16="http://schemas.microsoft.com/office/drawing/2014/main" id="{3EFBA7A8-233B-4B6E-90DD-298E5D98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导师</a:t>
            </a:r>
          </a:p>
        </p:txBody>
      </p:sp>
      <p:sp>
        <p:nvSpPr>
          <p:cNvPr id="6" name="role-2-body">
            <a:extLst xmlns:a="http://schemas.openxmlformats.org/drawingml/2006/main">
              <a:ext uri="{FF2B5EF4-FFF2-40B4-BE49-F238E27FC236}">
                <a16:creationId xmlns:a16="http://schemas.microsoft.com/office/drawing/2014/main" id="{F26573B0-7060-4360-9E50-46DA6DEE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维护公开资料和招生范围，</a:t>
            </a:r>
          </a:p>
          <a:p xmlns:a="http://schemas.openxmlformats.org/drawingml/2006/main">
            <a:pPr algn="l">
              <a:defRPr sz="18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逐项处理当前轮申请。</a:t>
            </a:r>
          </a:p>
        </p:txBody>
      </p:sp>
      <p:sp>
        <p:nvSpPr>
          <p:cNvPr id="7" name="role-3-title">
            <a:extLst xmlns:a="http://schemas.openxmlformats.org/drawingml/2006/main">
              <a:ext uri="{FF2B5EF4-FFF2-40B4-BE49-F238E27FC236}">
                <a16:creationId xmlns:a16="http://schemas.microsoft.com/office/drawing/2014/main" id="{AA8C8E60-3127-4DC4-A9AC-71B81235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8" name="role-3-body">
            <a:extLst xmlns:a="http://schemas.openxmlformats.org/drawingml/2006/main">
              <a:ext uri="{FF2B5EF4-FFF2-40B4-BE49-F238E27FC236}">
                <a16:creationId xmlns:a16="http://schemas.microsoft.com/office/drawing/2014/main" id="{A68223F0-E8E0-4081-931B-77E71E19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维护人员与批次，</a:t>
            </a:r>
          </a:p>
          <a:p xmlns:a="http://schemas.openxmlformats.org/drawingml/2006/main">
            <a:pPr algn="l">
              <a:defRPr sz="18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处理关系例外并查看统计审计。</a:t>
            </a:r>
          </a:p>
        </p:txBody>
      </p:sp>
      <p:sp>
        <p:nvSpPr>
          <p:cNvPr id="9" name="roles-note">
            <a:extLst xmlns:a="http://schemas.openxmlformats.org/drawingml/2006/main">
              <a:ext uri="{FF2B5EF4-FFF2-40B4-BE49-F238E27FC236}">
                <a16:creationId xmlns:a16="http://schemas.microsoft.com/office/drawing/2014/main" id="{0B7D1449-0074-4C1A-A7F0-43303258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各角色只访问本人业务范围内的数据，敏感文件和导出按权限受控。</a:t>
            </a:r>
          </a:p>
        </p:txBody>
      </p:sp>
    </p:spTree>
    <p:extLst>
      <p:ext uri="{BB962C8B-B14F-4D97-AF65-F5344CB8AC3E}">
        <p14:creationId xmlns:p14="http://schemas.microsoft.com/office/powerpoint/2010/main" val="10395512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5555254F-1C4A-4628-96DF-2A2FB124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学生端：从核对身份到查看结果</a:t>
            </a:r>
          </a:p>
        </p:txBody>
      </p:sp>
      <p:sp>
        <p:nvSpPr>
          <p:cNvPr id="2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96986D2B-F819-42B0-9975-E22B2C46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student-step-01">
            <a:extLst xmlns:a="http://schemas.openxmlformats.org/drawingml/2006/main">
              <a:ext uri="{FF2B5EF4-FFF2-40B4-BE49-F238E27FC236}">
                <a16:creationId xmlns:a16="http://schemas.microsoft.com/office/drawing/2014/main" id="{4A739800-2AC9-4A4B-BECA-43E899FC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student-step-title-01">
            <a:extLst xmlns:a="http://schemas.openxmlformats.org/drawingml/2006/main">
              <a:ext uri="{FF2B5EF4-FFF2-40B4-BE49-F238E27FC236}">
                <a16:creationId xmlns:a16="http://schemas.microsoft.com/office/drawing/2014/main" id="{69C522CB-8D94-4445-A4F2-98DA3F71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954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核对身份</a:t>
            </a:r>
          </a:p>
        </p:txBody>
      </p:sp>
      <p:sp>
        <p:nvSpPr>
          <p:cNvPr id="5" name="student-step-body-01">
            <a:extLst xmlns:a="http://schemas.openxmlformats.org/drawingml/2006/main">
              <a:ext uri="{FF2B5EF4-FFF2-40B4-BE49-F238E27FC236}">
                <a16:creationId xmlns:a16="http://schemas.microsoft.com/office/drawing/2014/main" id="{8361D15B-4178-4B76-B70D-E9EBE884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098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确认当前专业与学位分类，</a:t>
            </a:r>
          </a:p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发现问题可申请更正。</a:t>
            </a:r>
          </a:p>
        </p:txBody>
      </p:sp>
      <p:sp>
        <p:nvSpPr>
          <p:cNvPr id="6" name="student-step-02">
            <a:extLst xmlns:a="http://schemas.openxmlformats.org/drawingml/2006/main">
              <a:ext uri="{FF2B5EF4-FFF2-40B4-BE49-F238E27FC236}">
                <a16:creationId xmlns:a16="http://schemas.microsoft.com/office/drawing/2014/main" id="{2C16E249-D9E7-4EAA-837A-1EC48E32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student-step-title-02">
            <a:extLst xmlns:a="http://schemas.openxmlformats.org/drawingml/2006/main">
              <a:ext uri="{FF2B5EF4-FFF2-40B4-BE49-F238E27FC236}">
                <a16:creationId xmlns:a16="http://schemas.microsoft.com/office/drawing/2014/main" id="{165608F7-9297-4883-BA98-68A2B3F3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选择导师</a:t>
            </a:r>
          </a:p>
        </p:txBody>
      </p:sp>
      <p:sp>
        <p:nvSpPr>
          <p:cNvPr id="8" name="student-step-body-02">
            <a:extLst xmlns:a="http://schemas.openxmlformats.org/drawingml/2006/main">
              <a:ext uri="{FF2B5EF4-FFF2-40B4-BE49-F238E27FC236}">
                <a16:creationId xmlns:a16="http://schemas.microsoft.com/office/drawing/2014/main" id="{AEEB2444-A0A2-452F-A85E-DAACBE90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098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目录依据个人分类和导师招生范围，</a:t>
            </a:r>
          </a:p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展示可报导师。</a:t>
            </a:r>
          </a:p>
        </p:txBody>
      </p:sp>
      <p:sp>
        <p:nvSpPr>
          <p:cNvPr id="9" name="student-step-03">
            <a:extLst xmlns:a="http://schemas.openxmlformats.org/drawingml/2006/main">
              <a:ext uri="{FF2B5EF4-FFF2-40B4-BE49-F238E27FC236}">
                <a16:creationId xmlns:a16="http://schemas.microsoft.com/office/drawing/2014/main" id="{D539E252-C050-4A0B-8CA3-6496B510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student-step-title-03">
            <a:extLst xmlns:a="http://schemas.openxmlformats.org/drawingml/2006/main">
              <a:ext uri="{FF2B5EF4-FFF2-40B4-BE49-F238E27FC236}">
                <a16:creationId xmlns:a16="http://schemas.microsoft.com/office/drawing/2014/main" id="{324CA6BF-6EB6-4958-A148-C74E32AB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290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提交志愿</a:t>
            </a:r>
          </a:p>
        </p:txBody>
      </p:sp>
      <p:sp>
        <p:nvSpPr>
          <p:cNvPr id="11" name="student-step-body-03">
            <a:extLst xmlns:a="http://schemas.openxmlformats.org/drawingml/2006/main">
              <a:ext uri="{FF2B5EF4-FFF2-40B4-BE49-F238E27FC236}">
                <a16:creationId xmlns:a16="http://schemas.microsoft.com/office/drawing/2014/main" id="{9B2C1DEC-DF9F-4EC5-B412-B9FD02F3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433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提交1至3位不同导师的有序志愿。</a:t>
            </a:r>
          </a:p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截止前可修改或撤回。</a:t>
            </a:r>
          </a:p>
        </p:txBody>
      </p:sp>
      <p:sp>
        <p:nvSpPr>
          <p:cNvPr id="12" name="student-step-04">
            <a:extLst xmlns:a="http://schemas.openxmlformats.org/drawingml/2006/main">
              <a:ext uri="{FF2B5EF4-FFF2-40B4-BE49-F238E27FC236}">
                <a16:creationId xmlns:a16="http://schemas.microsoft.com/office/drawing/2014/main" id="{DF329D24-0B3C-404C-9ADD-D912F223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student-step-title-04">
            <a:extLst xmlns:a="http://schemas.openxmlformats.org/drawingml/2006/main">
              <a:ext uri="{FF2B5EF4-FFF2-40B4-BE49-F238E27FC236}">
                <a16:creationId xmlns:a16="http://schemas.microsoft.com/office/drawing/2014/main" id="{AFB9E994-06EB-4B11-8545-EE5D3C0B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跟踪进度</a:t>
            </a:r>
          </a:p>
        </p:txBody>
      </p:sp>
      <p:sp>
        <p:nvSpPr>
          <p:cNvPr id="14" name="student-step-body-04">
            <a:extLst xmlns:a="http://schemas.openxmlformats.org/drawingml/2006/main">
              <a:ext uri="{FF2B5EF4-FFF2-40B4-BE49-F238E27FC236}">
                <a16:creationId xmlns:a16="http://schemas.microsoft.com/office/drawing/2014/main" id="{D732D209-8B3F-46A0-9193-ACF07C2C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查看轮次和匹配结果。符合条件时，</a:t>
            </a:r>
          </a:p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可在独立补选窗口申请。</a:t>
            </a:r>
          </a:p>
        </p:txBody>
      </p:sp>
    </p:spTree>
    <p:extLst>
      <p:ext uri="{BB962C8B-B14F-4D97-AF65-F5344CB8AC3E}">
        <p14:creationId xmlns:p14="http://schemas.microsoft.com/office/powerpoint/2010/main" val="853955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91AF738-C3C9-4E76-A9FB-E982D99E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导师端：范围设置与逐项处理</a:t>
            </a:r>
          </a:p>
        </p:txBody>
      </p:sp>
      <p:sp>
        <p:nvSpPr>
          <p:cNvPr id="2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5AF20E48-EF2F-4E74-A9E6-6E3C17A4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acher-lead">
            <a:extLst xmlns:a="http://schemas.openxmlformats.org/drawingml/2006/main">
              <a:ext uri="{FF2B5EF4-FFF2-40B4-BE49-F238E27FC236}">
                <a16:creationId xmlns:a16="http://schemas.microsoft.com/office/drawing/2014/main" id="{9669E05F-9E45-446A-A74C-23AFD3DD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1038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导师自主维护资料和招生范围，</a:t>
            </a:r>
          </a:p>
          <a:p xmlns:a="http://schemas.openxmlformats.org/drawingml/2006/main">
            <a:pPr algn="l">
              <a:defRPr sz="255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系统按批次规则组织申请。</a:t>
            </a:r>
          </a:p>
        </p:txBody>
      </p:sp>
      <p:sp>
        <p:nvSpPr>
          <p:cNvPr id="4" name="teacher-1-title">
            <a:extLst xmlns:a="http://schemas.openxmlformats.org/drawingml/2006/main">
              <a:ext uri="{FF2B5EF4-FFF2-40B4-BE49-F238E27FC236}">
                <a16:creationId xmlns:a16="http://schemas.microsoft.com/office/drawing/2014/main" id="{474DF201-77F4-4ED5-AC6E-546CC3C9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公开资料</a:t>
            </a:r>
          </a:p>
        </p:txBody>
      </p:sp>
      <p:sp>
        <p:nvSpPr>
          <p:cNvPr id="5" name="teacher-1-body">
            <a:extLst xmlns:a="http://schemas.openxmlformats.org/drawingml/2006/main">
              <a:ext uri="{FF2B5EF4-FFF2-40B4-BE49-F238E27FC236}">
                <a16:creationId xmlns:a16="http://schemas.microsoft.com/office/drawing/2014/main" id="{B07D3FCA-8883-4469-B6A2-37753E7C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头像与文字资料同版审核。</a:t>
            </a:r>
          </a:p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待审核时可继续更新当前版本。</a:t>
            </a:r>
          </a:p>
        </p:txBody>
      </p:sp>
      <p:sp>
        <p:nvSpPr>
          <p:cNvPr id="6" name="teacher-2-title">
            <a:extLst xmlns:a="http://schemas.openxmlformats.org/drawingml/2006/main">
              <a:ext uri="{FF2B5EF4-FFF2-40B4-BE49-F238E27FC236}">
                <a16:creationId xmlns:a16="http://schemas.microsoft.com/office/drawing/2014/main" id="{7A29D89D-5103-4CA4-B1D0-2ECC1205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申请处理</a:t>
            </a:r>
          </a:p>
        </p:txBody>
      </p:sp>
      <p:sp>
        <p:nvSpPr>
          <p:cNvPr id="7" name="teacher-2-body">
            <a:extLst xmlns:a="http://schemas.openxmlformats.org/drawingml/2006/main">
              <a:ext uri="{FF2B5EF4-FFF2-40B4-BE49-F238E27FC236}">
                <a16:creationId xmlns:a16="http://schemas.microsoft.com/office/drawing/2014/main" id="{702C685F-062E-410B-A7FA-CF2BB3F3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只查看投向本人的当前轮申请。</a:t>
            </a:r>
          </a:p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逐项选择录取或不录取。</a:t>
            </a:r>
          </a:p>
        </p:txBody>
      </p:sp>
      <p:sp>
        <p:nvSpPr>
          <p:cNvPr id="8" name="teacher-3-title">
            <a:extLst xmlns:a="http://schemas.openxmlformats.org/drawingml/2006/main">
              <a:ext uri="{FF2B5EF4-FFF2-40B4-BE49-F238E27FC236}">
                <a16:creationId xmlns:a16="http://schemas.microsoft.com/office/drawing/2014/main" id="{A08B7C4F-6CB4-4BF4-A992-16EA75BA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名额与关系</a:t>
            </a:r>
          </a:p>
        </p:txBody>
      </p:sp>
      <p:sp>
        <p:nvSpPr>
          <p:cNvPr id="9" name="teacher-3-body">
            <a:extLst xmlns:a="http://schemas.openxmlformats.org/drawingml/2006/main">
              <a:ext uri="{FF2B5EF4-FFF2-40B4-BE49-F238E27FC236}">
                <a16:creationId xmlns:a16="http://schemas.microsoft.com/office/drawing/2014/main" id="{DEF81373-FB7E-495F-A18A-FDE60C64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录取时校验剩余名额。</a:t>
            </a:r>
          </a:p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成功后立即锁定师生关系。</a:t>
            </a:r>
          </a:p>
        </p:txBody>
      </p:sp>
      <p:sp>
        <p:nvSpPr>
          <p:cNvPr id="10" name="teacher-freeze-note">
            <a:extLst xmlns:a="http://schemas.openxmlformats.org/drawingml/2006/main">
              <a:ext uri="{FF2B5EF4-FFF2-40B4-BE49-F238E27FC236}">
                <a16:creationId xmlns:a16="http://schemas.microsoft.com/office/drawing/2014/main" id="{6544CC98-C010-4E38-A405-98955324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填报开始后，导师可报范围按批次冻结；补选继续使用该范围。</a:t>
            </a:r>
          </a:p>
        </p:txBody>
      </p:sp>
    </p:spTree>
    <p:extLst>
      <p:ext uri="{BB962C8B-B14F-4D97-AF65-F5344CB8AC3E}">
        <p14:creationId xmlns:p14="http://schemas.microsoft.com/office/powerpoint/2010/main" val="1083673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A8F818BA-9EC6-4B78-87EE-0AEA73F0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管理端：维护规则与批次运行</a:t>
            </a:r>
          </a:p>
        </p:txBody>
      </p:sp>
      <p:sp>
        <p:nvSpPr>
          <p:cNvPr id="2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25160D13-532F-49C1-9157-A584D6D0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admin-1-title">
            <a:extLst xmlns:a="http://schemas.openxmlformats.org/drawingml/2006/main">
              <a:ext uri="{FF2B5EF4-FFF2-40B4-BE49-F238E27FC236}">
                <a16:creationId xmlns:a16="http://schemas.microsoft.com/office/drawing/2014/main" id="{20C728E0-F709-474D-AFF3-2F85F6BD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人员与资格</a:t>
            </a:r>
          </a:p>
        </p:txBody>
      </p:sp>
      <p:sp>
        <p:nvSpPr>
          <p:cNvPr id="4" name="admin-1-body">
            <a:extLst xmlns:a="http://schemas.openxmlformats.org/drawingml/2006/main">
              <a:ext uri="{FF2B5EF4-FFF2-40B4-BE49-F238E27FC236}">
                <a16:creationId xmlns:a16="http://schemas.microsoft.com/office/drawing/2014/main" id="{B45BA871-DC00-48D0-B0D8-0C33CBA6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建档、专业纠错、年度资格维护和名单导入。</a:t>
            </a:r>
          </a:p>
        </p:txBody>
      </p:sp>
      <p:sp>
        <p:nvSpPr>
          <p:cNvPr id="5" name="admin-2-title">
            <a:extLst xmlns:a="http://schemas.openxmlformats.org/drawingml/2006/main">
              <a:ext uri="{FF2B5EF4-FFF2-40B4-BE49-F238E27FC236}">
                <a16:creationId xmlns:a16="http://schemas.microsoft.com/office/drawing/2014/main" id="{2E3E024F-8FE5-4DC7-B5C8-C2DB46AC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批次与阶段</a:t>
            </a:r>
          </a:p>
        </p:txBody>
      </p:sp>
      <p:sp>
        <p:nvSpPr>
          <p:cNvPr id="6" name="admin-2-body">
            <a:extLst xmlns:a="http://schemas.openxmlformats.org/drawingml/2006/main">
              <a:ext uri="{FF2B5EF4-FFF2-40B4-BE49-F238E27FC236}">
                <a16:creationId xmlns:a16="http://schemas.microsoft.com/office/drawing/2014/main" id="{30C35200-2AA9-4FAE-94AB-2294DCE5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设置排期、适用范围、名额与轮次，</a:t>
            </a:r>
          </a:p>
          <a:p xmlns:a="http://schemas.openxmlformats.org/drawingml/2006/main">
            <a:pPr algn="l">
              <a:defRPr sz="17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并配置独立补选窗口。</a:t>
            </a:r>
          </a:p>
        </p:txBody>
      </p:sp>
      <p:sp>
        <p:nvSpPr>
          <p:cNvPr id="7" name="admin-3-title">
            <a:extLst xmlns:a="http://schemas.openxmlformats.org/drawingml/2006/main">
              <a:ext uri="{FF2B5EF4-FFF2-40B4-BE49-F238E27FC236}">
                <a16:creationId xmlns:a16="http://schemas.microsoft.com/office/drawing/2014/main" id="{224F2509-578E-436E-9E8F-D44A6755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关系例外</a:t>
            </a:r>
          </a:p>
        </p:txBody>
      </p:sp>
      <p:sp>
        <p:nvSpPr>
          <p:cNvPr id="8" name="admin-3-body">
            <a:extLst xmlns:a="http://schemas.openxmlformats.org/drawingml/2006/main">
              <a:ext uri="{FF2B5EF4-FFF2-40B4-BE49-F238E27FC236}">
                <a16:creationId xmlns:a16="http://schemas.microsoft.com/office/drawing/2014/main" id="{1F0D5DC7-3E26-4542-A1DA-8665CEF0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按授权撤销、恢复或改派关系，并保留原因和历史。</a:t>
            </a:r>
          </a:p>
        </p:txBody>
      </p:sp>
      <p:sp>
        <p:nvSpPr>
          <p:cNvPr id="9" name="admin-4-title">
            <a:extLst xmlns:a="http://schemas.openxmlformats.org/drawingml/2006/main">
              <a:ext uri="{FF2B5EF4-FFF2-40B4-BE49-F238E27FC236}">
                <a16:creationId xmlns:a16="http://schemas.microsoft.com/office/drawing/2014/main" id="{F95CAF9C-A139-40B0-B78D-BA3C0003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719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统计与审计</a:t>
            </a:r>
          </a:p>
        </p:txBody>
      </p:sp>
      <p:sp>
        <p:nvSpPr>
          <p:cNvPr id="10" name="admin-4-body">
            <a:extLst xmlns:a="http://schemas.openxmlformats.org/drawingml/2006/main">
              <a:ext uri="{FF2B5EF4-FFF2-40B4-BE49-F238E27FC236}">
                <a16:creationId xmlns:a16="http://schemas.microsoft.com/office/drawing/2014/main" id="{9DF30F5B-90BE-4EA6-89D0-C560E306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2435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查看冻结统计、业务审计记录并按权限导出。</a:t>
            </a:r>
          </a:p>
        </p:txBody>
      </p:sp>
    </p:spTree>
    <p:extLst>
      <p:ext uri="{BB962C8B-B14F-4D97-AF65-F5344CB8AC3E}">
        <p14:creationId xmlns:p14="http://schemas.microsoft.com/office/powerpoint/2010/main" val="5943903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5C5E47AF-0F77-408B-902D-F696EED1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分轮匹配机制</a:t>
            </a:r>
          </a:p>
        </p:txBody>
      </p:sp>
      <p:sp>
        <p:nvSpPr>
          <p:cNvPr id="2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DF42B8D7-58E3-443F-8DF3-AF55CDBF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round-1-title">
            <a:extLst xmlns:a="http://schemas.openxmlformats.org/drawingml/2006/main">
              <a:ext uri="{FF2B5EF4-FFF2-40B4-BE49-F238E27FC236}">
                <a16:creationId xmlns:a16="http://schemas.microsoft.com/office/drawing/2014/main" id="{04D76063-87D8-41EB-8E89-13FF38DD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第一轮</a:t>
            </a:r>
          </a:p>
        </p:txBody>
      </p:sp>
      <p:sp>
        <p:nvSpPr>
          <p:cNvPr id="4" name="round-1-body">
            <a:extLst xmlns:a="http://schemas.openxmlformats.org/drawingml/2006/main">
              <a:ext uri="{FF2B5EF4-FFF2-40B4-BE49-F238E27FC236}">
                <a16:creationId xmlns:a16="http://schemas.microsoft.com/office/drawing/2014/main" id="{992B3A92-249C-4666-AF3D-3EA6F2D2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处理每位学生的</a:t>
            </a:r>
          </a:p>
          <a:p xmlns:a="http://schemas.openxmlformats.org/drawingml/2006/main">
            <a:pPr algn="l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第一志愿</a:t>
            </a:r>
          </a:p>
        </p:txBody>
      </p:sp>
      <p:sp>
        <p:nvSpPr>
          <p:cNvPr id="5" name="round-2-title">
            <a:extLst xmlns:a="http://schemas.openxmlformats.org/drawingml/2006/main">
              <a:ext uri="{FF2B5EF4-FFF2-40B4-BE49-F238E27FC236}">
                <a16:creationId xmlns:a16="http://schemas.microsoft.com/office/drawing/2014/main" id="{C96717B7-619B-4CC7-B431-9CA9E2D8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第二轮</a:t>
            </a:r>
          </a:p>
        </p:txBody>
      </p:sp>
      <p:sp>
        <p:nvSpPr>
          <p:cNvPr id="6" name="round-2-body">
            <a:extLst xmlns:a="http://schemas.openxmlformats.org/drawingml/2006/main">
              <a:ext uri="{FF2B5EF4-FFF2-40B4-BE49-F238E27FC236}">
                <a16:creationId xmlns:a16="http://schemas.microsoft.com/office/drawing/2014/main" id="{2A94BE50-7423-4EDA-A81E-0C857A55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仍未匹配者进入</a:t>
            </a:r>
          </a:p>
          <a:p xmlns:a="http://schemas.openxmlformats.org/drawingml/2006/main">
            <a:pPr algn="l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第二志愿轮次</a:t>
            </a:r>
          </a:p>
        </p:txBody>
      </p:sp>
      <p:sp>
        <p:nvSpPr>
          <p:cNvPr id="7" name="round-3-title">
            <a:extLst xmlns:a="http://schemas.openxmlformats.org/drawingml/2006/main">
              <a:ext uri="{FF2B5EF4-FFF2-40B4-BE49-F238E27FC236}">
                <a16:creationId xmlns:a16="http://schemas.microsoft.com/office/drawing/2014/main" id="{BDE66771-28BE-4458-B231-83D9579B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43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第三轮</a:t>
            </a:r>
          </a:p>
        </p:txBody>
      </p:sp>
      <p:sp>
        <p:nvSpPr>
          <p:cNvPr id="8" name="round-3-body">
            <a:extLst xmlns:a="http://schemas.openxmlformats.org/drawingml/2006/main">
              <a:ext uri="{FF2B5EF4-FFF2-40B4-BE49-F238E27FC236}">
                <a16:creationId xmlns:a16="http://schemas.microsoft.com/office/drawing/2014/main" id="{44F012BE-FF10-407A-9D8A-23C4BF1A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仍未匹配者进入</a:t>
            </a:r>
          </a:p>
          <a:p xmlns:a="http://schemas.openxmlformats.org/drawingml/2006/main">
            <a:pPr algn="l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第三志愿轮次</a:t>
            </a:r>
          </a:p>
        </p:txBody>
      </p:sp>
      <p:sp>
        <p:nvSpPr>
          <p:cNvPr id="9" name="matching-rule-head">
            <a:extLst xmlns:a="http://schemas.openxmlformats.org/drawingml/2006/main">
              <a:ext uri="{FF2B5EF4-FFF2-40B4-BE49-F238E27FC236}">
                <a16:creationId xmlns:a16="http://schemas.microsoft.com/office/drawing/2014/main" id="{B773D839-6622-4187-928A-14361D89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rPr>
              <a:t>每次录取都重新校验</a:t>
            </a:r>
          </a:p>
        </p:txBody>
      </p:sp>
      <p:sp>
        <p:nvSpPr>
          <p:cNvPr id="10" name="matching-rule-body">
            <a:extLst xmlns:a="http://schemas.openxmlformats.org/drawingml/2006/main">
              <a:ext uri="{FF2B5EF4-FFF2-40B4-BE49-F238E27FC236}">
                <a16:creationId xmlns:a16="http://schemas.microsoft.com/office/drawing/2014/main" id="{0CE85807-B757-4060-B58C-99998C3C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学生状态、导师冻结范围与剩余名额。录取成功后关系立即锁定。</a:t>
            </a:r>
          </a:p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三轮结束仍未匹配者进入未匹配状态；补选使用预设独立窗口，不重跑常规轮次。</a:t>
            </a:r>
          </a:p>
        </p:txBody>
      </p:sp>
    </p:spTree>
    <p:extLst>
      <p:ext uri="{BB962C8B-B14F-4D97-AF65-F5344CB8AC3E}">
        <p14:creationId xmlns:p14="http://schemas.microsoft.com/office/powerpoint/2010/main" val="17190301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34D44533-D249-428D-A58B-0B1442DE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技术架构与运行基线</a:t>
            </a:r>
          </a:p>
        </p:txBody>
      </p:sp>
      <p:sp>
        <p:nvSpPr>
          <p:cNvPr id="2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3CC71B91-31B2-40CC-BF2E-9B160D62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stack-label-1">
            <a:extLst xmlns:a="http://schemas.openxmlformats.org/drawingml/2006/main">
              <a:ext uri="{FF2B5EF4-FFF2-40B4-BE49-F238E27FC236}">
                <a16:creationId xmlns:a16="http://schemas.microsoft.com/office/drawing/2014/main" id="{75DEA857-5ED3-4516-9987-DC72A316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4" name="stack-value-1">
            <a:extLst xmlns:a="http://schemas.openxmlformats.org/drawingml/2006/main">
              <a:ext uri="{FF2B5EF4-FFF2-40B4-BE49-F238E27FC236}">
                <a16:creationId xmlns:a16="http://schemas.microsoft.com/office/drawing/2014/main" id="{13902511-D1C4-4640-AE81-9388ED08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0500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Vue 3  ·  TypeScript 5.2.2  ·  Vite 8.3.2  ·  Node.js 22.20.0</a:t>
            </a:r>
          </a:p>
        </p:txBody>
      </p:sp>
      <p:sp>
        <p:nvSpPr>
          <p:cNvPr id="5" name="stack-label-2">
            <a:extLst xmlns:a="http://schemas.openxmlformats.org/drawingml/2006/main">
              <a:ext uri="{FF2B5EF4-FFF2-40B4-BE49-F238E27FC236}">
                <a16:creationId xmlns:a16="http://schemas.microsoft.com/office/drawing/2014/main" id="{FC045CC0-4F2F-47AD-A942-B4AD2A6F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服务端</a:t>
            </a:r>
          </a:p>
        </p:txBody>
      </p:sp>
      <p:sp>
        <p:nvSpPr>
          <p:cNvPr id="6" name="stack-value-2">
            <a:extLst xmlns:a="http://schemas.openxmlformats.org/drawingml/2006/main">
              <a:ext uri="{FF2B5EF4-FFF2-40B4-BE49-F238E27FC236}">
                <a16:creationId xmlns:a16="http://schemas.microsoft.com/office/drawing/2014/main" id="{CDCAC7C8-A98E-4C5E-929A-A0F43114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6230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Java 8  ·  Spring Boot 2.6.6  ·  MyBatis-Plus 3.3.1</a:t>
            </a:r>
          </a:p>
        </p:txBody>
      </p:sp>
      <p:sp>
        <p:nvSpPr>
          <p:cNvPr id="7" name="stack-label-3">
            <a:extLst xmlns:a="http://schemas.openxmlformats.org/drawingml/2006/main">
              <a:ext uri="{FF2B5EF4-FFF2-40B4-BE49-F238E27FC236}">
                <a16:creationId xmlns:a16="http://schemas.microsoft.com/office/drawing/2014/main" id="{593E0DAC-7980-4800-8AA5-48653FB1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数据与会话</a:t>
            </a:r>
          </a:p>
        </p:txBody>
      </p:sp>
      <p:sp>
        <p:nvSpPr>
          <p:cNvPr id="8" name="stack-value-3">
            <a:extLst xmlns:a="http://schemas.openxmlformats.org/drawingml/2006/main">
              <a:ext uri="{FF2B5EF4-FFF2-40B4-BE49-F238E27FC236}">
                <a16:creationId xmlns:a16="http://schemas.microsoft.com/office/drawing/2014/main" id="{21811DE4-CC3E-4BCE-A29C-C3A53CE2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1960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MySQL 5.7.36  ·  InnoDB  ·  Spring Security 本地账号与服务端 Session</a:t>
            </a:r>
          </a:p>
        </p:txBody>
      </p:sp>
      <p:sp>
        <p:nvSpPr>
          <p:cNvPr id="9" name="stack-note">
            <a:extLst xmlns:a="http://schemas.openxmlformats.org/drawingml/2006/main">
              <a:ext uri="{FF2B5EF4-FFF2-40B4-BE49-F238E27FC236}">
                <a16:creationId xmlns:a16="http://schemas.microsoft.com/office/drawing/2014/main" id="{9DC47AD1-9084-442C-B330-D370A5BA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核心业务由服务端校验权限、状态与名额，并在数据库事务内维护关系和审计。</a:t>
            </a:r>
          </a:p>
        </p:txBody>
      </p:sp>
    </p:spTree>
    <p:extLst>
      <p:ext uri="{BB962C8B-B14F-4D97-AF65-F5344CB8AC3E}">
        <p14:creationId xmlns:p14="http://schemas.microsoft.com/office/powerpoint/2010/main" val="15881477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C14CBA53-74A3-48B1-A664-065E3F89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当前实现状态与后续验证</a:t>
            </a:r>
          </a:p>
        </p:txBody>
      </p:sp>
      <p:sp>
        <p:nvSpPr>
          <p:cNvPr id="2" name="slide-9-page">
            <a:extLst xmlns:a="http://schemas.openxmlformats.org/drawingml/2006/main">
              <a:ext uri="{FF2B5EF4-FFF2-40B4-BE49-F238E27FC236}">
                <a16:creationId xmlns:a16="http://schemas.microsoft.com/office/drawing/2014/main" id="{552700F7-38E5-4E7E-8861-E16A6234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status-left-title">
            <a:extLst xmlns:a="http://schemas.openxmlformats.org/drawingml/2006/main">
              <a:ext uri="{FF2B5EF4-FFF2-40B4-BE49-F238E27FC236}">
                <a16:creationId xmlns:a16="http://schemas.microsoft.com/office/drawing/2014/main" id="{291CD112-DEBC-4E0F-8995-0A985D92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主要业务链路已接入代码</a:t>
            </a:r>
          </a:p>
        </p:txBody>
      </p:sp>
      <p:sp>
        <p:nvSpPr>
          <p:cNvPr id="4" name="status-left-body">
            <a:extLst xmlns:a="http://schemas.openxmlformats.org/drawingml/2006/main">
              <a:ext uri="{FF2B5EF4-FFF2-40B4-BE49-F238E27FC236}">
                <a16:creationId xmlns:a16="http://schemas.microsoft.com/office/drawing/2014/main" id="{0A51B1E0-AF2C-45D4-AB6D-FC8BCDBE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8101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学生：身份确认、导师目录、志愿与进度</a:t>
            </a:r>
          </a:p>
          <a:p xmlns:a="http://schemas.openxmlformats.org/drawingml/2006/main">
            <a:pPr algn="l">
              <a:def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补选和个人资料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导师：公开资料、招生范围、轮次决定</a:t>
            </a:r>
          </a:p>
          <a:p xmlns:a="http://schemas.openxmlformats.org/drawingml/2006/main">
            <a:pPr algn="l">
              <a:def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补选处理、名额与关系查询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管理员：人员资格、批次运行、关系调整</a:t>
            </a:r>
          </a:p>
          <a:p xmlns:a="http://schemas.openxmlformats.org/drawingml/2006/main">
            <a:pPr algn="l">
              <a:def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统计与导出</a:t>
            </a:r>
          </a:p>
        </p:txBody>
      </p:sp>
      <p:sp>
        <p:nvSpPr>
          <p:cNvPr id="5" name="status-right-title">
            <a:extLst xmlns:a="http://schemas.openxmlformats.org/drawingml/2006/main">
              <a:ext uri="{FF2B5EF4-FFF2-40B4-BE49-F238E27FC236}">
                <a16:creationId xmlns:a16="http://schemas.microsoft.com/office/drawing/2014/main" id="{A9C38B72-E33E-4A7F-BF18-B8D2B57E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C7842"/>
                </a:solidFill>
                <a:latin typeface="Microsoft YaHei"/>
                <a:ea typeface="Microsoft YaHei"/>
                <a:cs typeface="Microsoft YaHei"/>
              </a:rPr>
              <a:t>部署前仍需完成验证</a:t>
            </a:r>
          </a:p>
        </p:txBody>
      </p:sp>
      <p:sp>
        <p:nvSpPr>
          <p:cNvPr id="6" name="status-right-body">
            <a:extLst xmlns:a="http://schemas.openxmlformats.org/drawingml/2006/main">
              <a:ext uri="{FF2B5EF4-FFF2-40B4-BE49-F238E27FC236}">
                <a16:creationId xmlns:a16="http://schemas.microsoft.com/office/drawing/2014/main" id="{9B25CE8B-5061-4B59-9569-8C7AED00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4667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学校门户动态接口联调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SMTP 与 OSS 运行配置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目标环境数据库迁移、备份与恢复核对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核心业务自动化验收覆盖仍不足</a:t>
            </a:r>
          </a:p>
        </p:txBody>
      </p:sp>
      <p:sp>
        <p:nvSpPr>
          <p:cNvPr id="7" name="status-footnote">
            <a:extLst xmlns:a="http://schemas.openxmlformats.org/drawingml/2006/main">
              <a:ext uri="{FF2B5EF4-FFF2-40B4-BE49-F238E27FC236}">
                <a16:creationId xmlns:a16="http://schemas.microsoft.com/office/drawing/2014/main" id="{F7818DC3-0DB1-4C1C-A4AD-01C1BE8E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代码盘点依据：docs/README.md，状态截至 2026-10-08。已接入不代表端到端验收或生产部署完成。</a:t>
            </a:r>
          </a:p>
        </p:txBody>
      </p:sp>
    </p:spTree>
    <p:extLst>
      <p:ext uri="{BB962C8B-B14F-4D97-AF65-F5344CB8AC3E}">
        <p14:creationId xmlns:p14="http://schemas.microsoft.com/office/powerpoint/2010/main" val="270968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2026-10-10T07:57:58.0030000Z</dcterms:created>
  <dcterms:modified xsi:type="dcterms:W3CDTF">2026-10-10T07:57:58.0030000Z</dcterms:modified>
</coreProperties>
</file>