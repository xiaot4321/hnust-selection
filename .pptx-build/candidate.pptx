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621181498247ba" /><Relationship Type="http://schemas.openxmlformats.org/officeDocument/2006/relationships/extended-properties" Target="/docProps/app.xml" Id="R37ec559631874f12" /><Relationship Type="http://schemas.openxmlformats.org/officeDocument/2006/relationships/officeDocument" Target="/ppt/presentation.xml" Id="R4b00d30a7ef447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6fe72b49ef4216"/>
  </p:sldMasterIdLst>
  <p:notesMasterIdLst>
    <p:notesMasterId xmlns:r="http://schemas.openxmlformats.org/officeDocument/2006/relationships" r:id="Rb1f7de6237ad4063"/>
  </p:notesMasterIdLst>
  <p:sldIdLst>
    <p:sldId xmlns:r="http://schemas.openxmlformats.org/officeDocument/2006/relationships" id="256" r:id="Rd6a182a6d35b4eb8"/>
    <p:sldId xmlns:r="http://schemas.openxmlformats.org/officeDocument/2006/relationships" id="257" r:id="Rbb041f9d49b84589"/>
    <p:sldId xmlns:r="http://schemas.openxmlformats.org/officeDocument/2006/relationships" id="258" r:id="R6c5c03e8a0eb464b"/>
    <p:sldId xmlns:r="http://schemas.openxmlformats.org/officeDocument/2006/relationships" id="259" r:id="R292249906bb042f2"/>
    <p:sldId xmlns:r="http://schemas.openxmlformats.org/officeDocument/2006/relationships" id="260" r:id="R8666c03a8db84ad5"/>
    <p:sldId xmlns:r="http://schemas.openxmlformats.org/officeDocument/2006/relationships" id="261" r:id="Re207de0765204bd5"/>
    <p:sldId xmlns:r="http://schemas.openxmlformats.org/officeDocument/2006/relationships" id="262" r:id="R70c0d4a9b999425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1219bb6a434393" /><Relationship Type="http://schemas.openxmlformats.org/officeDocument/2006/relationships/slideMaster" Target="/ppt/slideMasters/slideMaster1.xml" Id="Rf36fe72b49ef4216" /><Relationship Type="http://schemas.openxmlformats.org/officeDocument/2006/relationships/notesMaster" Target="/ppt/notesMasters/notesMaster1.xml" Id="Rb1f7de6237ad4063" /><Relationship Type="http://schemas.openxmlformats.org/officeDocument/2006/relationships/presProps" Target="/ppt/presProps.xml" Id="Rb078ade4230341ba" /><Relationship Type="http://schemas.openxmlformats.org/officeDocument/2006/relationships/tableStyles" Target="/ppt/tableStyles.xml" Id="R5407a3830b424dfd" /><Relationship Type="http://schemas.openxmlformats.org/officeDocument/2006/relationships/slide" Target="/ppt/slides/slide1.xml" Id="Rd6a182a6d35b4eb8" /><Relationship Type="http://schemas.openxmlformats.org/officeDocument/2006/relationships/slide" Target="/ppt/slides/slide2.xml" Id="Rbb041f9d49b84589" /><Relationship Type="http://schemas.openxmlformats.org/officeDocument/2006/relationships/slide" Target="/ppt/slides/slide3.xml" Id="R6c5c03e8a0eb464b" /><Relationship Type="http://schemas.openxmlformats.org/officeDocument/2006/relationships/slide" Target="/ppt/slides/slide4.xml" Id="R292249906bb042f2" /><Relationship Type="http://schemas.openxmlformats.org/officeDocument/2006/relationships/slide" Target="/ppt/slides/slide5.xml" Id="R8666c03a8db84ad5" /><Relationship Type="http://schemas.openxmlformats.org/officeDocument/2006/relationships/slide" Target="/ppt/slides/slide6.xml" Id="Re207de0765204bd5" /><Relationship Type="http://schemas.openxmlformats.org/officeDocument/2006/relationships/slide" Target="/ppt/slides/slide7.xml" Id="R70c0d4a9b99942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14de4cc78845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0aa4369cba4a87" /><Relationship Type="http://schemas.openxmlformats.org/officeDocument/2006/relationships/notesMaster" Target="/ppt/notesMasters/notesMaster1.xml" Id="Rdc2d1e0b13bc42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3b31078a3b4dc6" /><Relationship Type="http://schemas.openxmlformats.org/officeDocument/2006/relationships/notesMaster" Target="/ppt/notesMasters/notesMaster1.xml" Id="Ra97c10be023a4b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7358f552d941f8" /><Relationship Type="http://schemas.openxmlformats.org/officeDocument/2006/relationships/notesMaster" Target="/ppt/notesMasters/notesMaster1.xml" Id="Ra7f9bd2a46d344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d1065c31134dcf" /><Relationship Type="http://schemas.openxmlformats.org/officeDocument/2006/relationships/notesMaster" Target="/ppt/notesMasters/notesMaster1.xml" Id="Rf2ccd48322104a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339554f4224ebe" /><Relationship Type="http://schemas.openxmlformats.org/officeDocument/2006/relationships/notesMaster" Target="/ppt/notesMasters/notesMaster1.xml" Id="R5f3d8d34fc274a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af6007df114e21" /><Relationship Type="http://schemas.openxmlformats.org/officeDocument/2006/relationships/notesMaster" Target="/ppt/notesMasters/notesMaster1.xml" Id="Ra61bb0559f4542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97c845b55942b0" /><Relationship Type="http://schemas.openxmlformats.org/officeDocument/2006/relationships/notesMaster" Target="/ppt/notesMasters/notesMaster1.xml" Id="R16b05b743bfa4b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封面页面截图来自 frontend/src/components/student/StudentWorkspace.vue，以合成演示数据运行。项目现状参照用户提供的 AGENTS.md 与 docs/README.md。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业务规则来源：requirements.md、docs/business-rules.md、docs/state-machine.md。顺位轮次为本项目分轮志愿流程；导师逐项决定，录取即时锁定关系，不是标准 Gale–Shapley 排序。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页面依据：frontend/src/components/student/StudentWorkspace.vue 与 frontend/src/services/studentPortalService.ts。</a:t>
            </a:r>
          </a:p>
          <a:p xmlns:a="http://schemas.openxmlformats.org/drawingml/2006/main">
            <a:r>
              <a:t>截图来自当前项目的 Vue 页面组件；本演示使用合成数据，不含真实学生或导师记录。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页面依据：frontend/src/components/student/StudentWorkspace.vue。进度文案对应 docs/state-machine.md 与已确认业务规则。</a:t>
            </a:r>
          </a:p>
          <a:p xmlns:a="http://schemas.openxmlformats.org/drawingml/2006/main">
            <a:r>
              <a:t>截图来自当前项目的 Vue 页面组件；本演示使用合成数据，不含真实学生或导师记录。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页面依据：frontend/src/components/teacher/TeacherWorkspace.vue 与 frontend/src/services/teacherWorkspaceService.ts。</a:t>
            </a:r>
          </a:p>
          <a:p xmlns:a="http://schemas.openxmlformats.org/drawingml/2006/main">
            <a:r>
              <a:t>截图来自当前项目的 Vue 页面组件；本演示使用合成数据，不含真实学生或导师记录。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页面依据：frontend/src/components/admin/BatchManagementPanel.vue 与 frontend/src/services/selectionBatchService.ts。</a:t>
            </a:r>
          </a:p>
          <a:p xmlns:a="http://schemas.openxmlformats.org/drawingml/2006/main">
            <a:r>
              <a:t>截图来自当前项目的 Vue 页面组件；本演示使用合成数据，不含真实学生或导师记录。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项目状态、规则依据：用户提供的 AGENTS.md，docs/README.md、docs/business-rules.md、docs/state-machine.md。技术版本参照 AGENTS.md 与 backend/pom.xml、frontend/package.json。当前代码已接入主要业务链路，不代表自动化验收或生产部署核验已完成。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6af0fed0834d7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84e7afcd00457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7889493499414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1fb94db5d9433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d8d937632d492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888b7b6ebb4f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733BF6A-9E57-4136-A516-6DA4F94F94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EDE96BD-AB19-4272-9BB3-8BF42418940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F20F99E-7B7F-4B15-AF42-10B20327D6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5CF57B3-8429-4C44-83DC-B83A0A7B03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9B5BF44-E93C-4F8E-9B50-679B3BE4AF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2B622A-F718-4CD7-9306-3EAB53BCAC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1338423-204A-4C80-9B36-A4C432C346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BF222D8-A226-4CC5-B8F7-1E34993F20C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878A263-9834-4BF9-87DC-D17F7BB079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10D1CCC-5CFC-4504-9852-D0CC718837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3456ac505e4fab" /><Relationship Type="http://schemas.openxmlformats.org/officeDocument/2006/relationships/slideLayout" Target="/ppt/slideLayouts/slideLayout1.xml" Id="Rdf2cd456f51a4023" /><Relationship Type="http://schemas.openxmlformats.org/officeDocument/2006/relationships/slideLayout" Target="/ppt/slideLayouts/slideLayout2.xml" Id="Re064b577f0e24608" /><Relationship Type="http://schemas.openxmlformats.org/officeDocument/2006/relationships/slideLayout" Target="/ppt/slideLayouts/slideLayout3.xml" Id="R7cad85c809884f45" /><Relationship Type="http://schemas.openxmlformats.org/officeDocument/2006/relationships/slideLayout" Target="/ppt/slideLayouts/slideLayout4.xml" Id="Rbff10c809bd34a73" /><Relationship Type="http://schemas.openxmlformats.org/officeDocument/2006/relationships/slideLayout" Target="/ppt/slideLayouts/slideLayout5.xml" Id="R6b532ef43be440c0" /><Relationship Type="http://schemas.openxmlformats.org/officeDocument/2006/relationships/slideLayout" Target="/ppt/slideLayouts/slideLayout6.xml" Id="R76139e5a885c4a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2cd456f51a4023"/>
    <p:sldLayoutId xmlns:r="http://schemas.openxmlformats.org/officeDocument/2006/relationships" id="2147483650" r:id="Re064b577f0e24608"/>
    <p:sldLayoutId xmlns:r="http://schemas.openxmlformats.org/officeDocument/2006/relationships" id="2147483651" r:id="R7cad85c809884f45"/>
    <p:sldLayoutId xmlns:r="http://schemas.openxmlformats.org/officeDocument/2006/relationships" id="2147483652" r:id="Rbff10c809bd34a73"/>
    <p:sldLayoutId xmlns:r="http://schemas.openxmlformats.org/officeDocument/2006/relationships" id="2147483653" r:id="R6b532ef43be440c0"/>
    <p:sldLayoutId xmlns:r="http://schemas.openxmlformats.org/officeDocument/2006/relationships" id="2147483654" r:id="R76139e5a885c4a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fdd4a9edbb4316" /><Relationship Type="http://schemas.openxmlformats.org/officeDocument/2006/relationships/image" Target="/ppt/media/image.png" Id="R985001fa5f41456c" /><Relationship Type="http://schemas.openxmlformats.org/officeDocument/2006/relationships/notesSlide" Target="/ppt/notesSlides/notesSlide1.xml" Id="Ra30963f0cc804b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a810e17b9a41c9" /><Relationship Type="http://schemas.openxmlformats.org/officeDocument/2006/relationships/notesSlide" Target="/ppt/notesSlides/notesSlide2.xml" Id="R8aa6a9cc540c44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c39a3159ee4ecc" /><Relationship Type="http://schemas.openxmlformats.org/officeDocument/2006/relationships/image" Target="/ppt/media/image2.png" Id="Rb18bd2557d274cdb" /><Relationship Type="http://schemas.openxmlformats.org/officeDocument/2006/relationships/notesSlide" Target="/ppt/notesSlides/notesSlide3.xml" Id="Rf2ff60e7d2e64d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1bb31e8dc54089" /><Relationship Type="http://schemas.openxmlformats.org/officeDocument/2006/relationships/image" Target="/ppt/media/image3.png" Id="Rf841291e5b2f4919" /><Relationship Type="http://schemas.openxmlformats.org/officeDocument/2006/relationships/notesSlide" Target="/ppt/notesSlides/notesSlide4.xml" Id="R803b6f9f00bd47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b87785932f4964" /><Relationship Type="http://schemas.openxmlformats.org/officeDocument/2006/relationships/image" Target="/ppt/media/image4.png" Id="R42a0ca6677404138" /><Relationship Type="http://schemas.openxmlformats.org/officeDocument/2006/relationships/notesSlide" Target="/ppt/notesSlides/notesSlide5.xml" Id="R81f62aa27ae943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e73b1e7373494b" /><Relationship Type="http://schemas.openxmlformats.org/officeDocument/2006/relationships/image" Target="/ppt/media/image5.png" Id="R50481f351da94c2c" /><Relationship Type="http://schemas.openxmlformats.org/officeDocument/2006/relationships/notesSlide" Target="/ppt/notesSlides/notesSlide6.xml" Id="Re5b0254b4d994fb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f081c9bbb24d56" /><Relationship Type="http://schemas.openxmlformats.org/officeDocument/2006/relationships/notesSlide" Target="/ppt/notesSlides/notesSlide7.xml" Id="Rc5d5aaa76f4e45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cover-accent-bar">
            <a:extLst xmlns:a="http://schemas.openxmlformats.org/drawingml/2006/main">
              <a:ext uri="{FF2B5EF4-FFF2-40B4-BE49-F238E27FC236}">
                <a16:creationId xmlns:a16="http://schemas.microsoft.com/office/drawing/2014/main" id="{9B5DEEF7-5072-4526-8DD0-F9B4404F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82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soft-circle">
            <a:extLst xmlns:a="http://schemas.openxmlformats.org/drawingml/2006/main">
              <a:ext uri="{FF2B5EF4-FFF2-40B4-BE49-F238E27FC236}">
                <a16:creationId xmlns:a16="http://schemas.microsoft.com/office/drawing/2014/main" id="{B6767604-9862-49E7-A9ED-BD4A1FF4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6700"/>
            <a:ext cx="3857625" cy="385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university">
            <a:extLst xmlns:a="http://schemas.openxmlformats.org/drawingml/2006/main">
              <a:ext uri="{FF2B5EF4-FFF2-40B4-BE49-F238E27FC236}">
                <a16:creationId xmlns:a16="http://schemas.microsoft.com/office/drawing/2014/main" id="{69ADD318-E9FE-4DEE-A64B-1002D8C8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62075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8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湖南科技大学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0EE83F8-2127-4C5B-B819-7AA1E4BC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4286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3450" b="1">
                <a:solidFill>
                  <a:srgbClr val="10354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1035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354C"/>
                </a:solidFill>
                <a:latin typeface="Microsoft YaHei"/>
                <a:ea typeface="Microsoft YaHei"/>
                <a:cs typeface="Microsoft YaHei"/>
              </a:rPr>
              <a:t>师生互选系统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DA61168-7BB6-499F-BA08-5334E8AF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86075"/>
            <a:ext cx="426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5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rPr>
              <a:t>从有序志愿，到逐轮处理与结果跟踪</a:t>
            </a:r>
          </a:p>
        </p:txBody>
      </p:sp>
      <p:sp>
        <p:nvSpPr>
          <p:cNvPr id="6" name="cover-description">
            <a:extLst xmlns:a="http://schemas.openxmlformats.org/drawingml/2006/main">
              <a:ext uri="{FF2B5EF4-FFF2-40B4-BE49-F238E27FC236}">
                <a16:creationId xmlns:a16="http://schemas.microsoft.com/office/drawing/2014/main" id="{6915D093-0D71-4D4F-9256-0AAD3E32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1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项目介绍 · 学生端 / 导师端 / 管理端</a:t>
            </a:r>
          </a:p>
        </p:txBody>
      </p:sp>
      <p:sp>
        <p:nvSpPr>
          <p:cNvPr id="7" name="cover-image-frame">
            <a:extLst xmlns:a="http://schemas.openxmlformats.org/drawingml/2006/main">
              <a:ext uri="{FF2B5EF4-FFF2-40B4-BE49-F238E27FC236}">
                <a16:creationId xmlns:a16="http://schemas.microsoft.com/office/drawing/2014/main" id="{3FCF9B25-C32E-4AC8-863B-A0E39E10C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200150"/>
            <a:ext cx="60960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A92929-6701-47C9-BFDD-EAD1090AF4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5001fa5f41456c"/>
          <a:srcRect xmlns:a="http://schemas.openxmlformats.org/drawingml/2006/main" l="0" t="1125" r="0" b="11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62600" y="1285875"/>
            <a:ext cx="5924550" cy="3257550"/>
          </a:xfrm>
          <a:prstGeom xmlns:a="http://schemas.openxmlformats.org/drawingml/2006/main" prst="roundRect">
            <a:avLst>
              <a:gd name="adj" fmla="val 3509"/>
            </a:avLst>
          </a:prstGeom>
        </p:spPr>
      </p:pic>
      <p:sp>
        <p:nvSpPr>
          <p:cNvPr id="9" name="cover-student-tag">
            <a:extLst xmlns:a="http://schemas.openxmlformats.org/drawingml/2006/main">
              <a:ext uri="{FF2B5EF4-FFF2-40B4-BE49-F238E27FC236}">
                <a16:creationId xmlns:a16="http://schemas.microsoft.com/office/drawing/2014/main" id="{43781A1A-4893-4454-9CB5-244D5E21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886325"/>
            <a:ext cx="1809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10" name="cover-teacher-tag">
            <a:extLst xmlns:a="http://schemas.openxmlformats.org/drawingml/2006/main">
              <a:ext uri="{FF2B5EF4-FFF2-40B4-BE49-F238E27FC236}">
                <a16:creationId xmlns:a16="http://schemas.microsoft.com/office/drawing/2014/main" id="{11F97A89-C406-4FFB-9F52-089F4645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86325"/>
            <a:ext cx="1809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11" name="cover-admin-tag">
            <a:extLst xmlns:a="http://schemas.openxmlformats.org/drawingml/2006/main">
              <a:ext uri="{FF2B5EF4-FFF2-40B4-BE49-F238E27FC236}">
                <a16:creationId xmlns:a16="http://schemas.microsoft.com/office/drawing/2014/main" id="{9436ACC6-49AE-43B0-91A1-83F20CFF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886325"/>
            <a:ext cx="2190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12" name="cover-student-label">
            <a:extLst xmlns:a="http://schemas.openxmlformats.org/drawingml/2006/main">
              <a:ext uri="{FF2B5EF4-FFF2-40B4-BE49-F238E27FC236}">
                <a16:creationId xmlns:a16="http://schemas.microsoft.com/office/drawing/2014/main" id="{FE2F0858-F753-4F43-85E6-59A838B3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958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10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学生 · 填报志愿</a:t>
            </a:r>
          </a:p>
        </p:txBody>
      </p:sp>
      <p:sp>
        <p:nvSpPr>
          <p:cNvPr id="13" name="cover-teacher-label">
            <a:extLst xmlns:a="http://schemas.openxmlformats.org/drawingml/2006/main">
              <a:ext uri="{FF2B5EF4-FFF2-40B4-BE49-F238E27FC236}">
                <a16:creationId xmlns:a16="http://schemas.microsoft.com/office/drawing/2014/main" id="{E1951FAA-7E03-4A43-B3D1-AE0129C5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8958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10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导师 · 处理申请</a:t>
            </a:r>
          </a:p>
        </p:txBody>
      </p:sp>
      <p:sp>
        <p:nvSpPr>
          <p:cNvPr id="14" name="cover-admin-label">
            <a:extLst xmlns:a="http://schemas.openxmlformats.org/drawingml/2006/main">
              <a:ext uri="{FF2B5EF4-FFF2-40B4-BE49-F238E27FC236}">
                <a16:creationId xmlns:a16="http://schemas.microsoft.com/office/drawing/2014/main" id="{0A461E9D-88E4-4CBD-BD52-982DE542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895850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10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管理员 · 配置批次</a:t>
            </a:r>
          </a:p>
        </p:txBody>
      </p:sp>
      <p:sp>
        <p:nvSpPr>
          <p:cNvPr id="15" name="cover-caption">
            <a:extLst xmlns:a="http://schemas.openxmlformats.org/drawingml/2006/main">
              <a:ext uri="{FF2B5EF4-FFF2-40B4-BE49-F238E27FC236}">
                <a16:creationId xmlns:a16="http://schemas.microsoft.com/office/drawing/2014/main" id="{16C92791-B975-4D98-9C57-0344896F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53402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r">
              <a:defRPr sz="8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8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页面来自项目实际前端组件；页面记录为演示数据。</a:t>
            </a:r>
          </a:p>
        </p:txBody>
      </p:sp>
      <p:sp>
        <p:nvSpPr>
          <p:cNvPr id="16" name="cover-bottom-rule">
            <a:extLst xmlns:a="http://schemas.openxmlformats.org/drawingml/2006/main">
              <a:ext uri="{FF2B5EF4-FFF2-40B4-BE49-F238E27FC236}">
                <a16:creationId xmlns:a16="http://schemas.microsoft.com/office/drawing/2014/main" id="{BA5B420E-5554-44F4-84AC-01FAE1FB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ver-bottom-label">
            <a:extLst xmlns:a="http://schemas.openxmlformats.org/drawingml/2006/main">
              <a:ext uri="{FF2B5EF4-FFF2-40B4-BE49-F238E27FC236}">
                <a16:creationId xmlns:a16="http://schemas.microsoft.com/office/drawing/2014/main" id="{32A8BAA7-C3B1-4CF4-80EB-D3D07285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8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项目展示</a:t>
            </a:r>
          </a:p>
        </p:txBody>
      </p:sp>
      <p:sp>
        <p:nvSpPr>
          <p:cNvPr id="18" name="cover-bottom-year">
            <a:extLst xmlns:a="http://schemas.openxmlformats.org/drawingml/2006/main">
              <a:ext uri="{FF2B5EF4-FFF2-40B4-BE49-F238E27FC236}">
                <a16:creationId xmlns:a16="http://schemas.microsoft.com/office/drawing/2014/main" id="{0C325CD6-E6D0-48FC-8D42-15C31040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3246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r">
              <a:defRPr sz="900" b="1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6115474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kicker-一条互选流程，依次完成志愿与轮次处理">
            <a:extLst xmlns:a="http://schemas.openxmlformats.org/drawingml/2006/main">
              <a:ext uri="{FF2B5EF4-FFF2-40B4-BE49-F238E27FC236}">
                <a16:creationId xmlns:a16="http://schemas.microsoft.com/office/drawing/2014/main" id="{0858E68E-F1EF-4DC2-AA0B-E8FF053D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>
            <a:defPPr algn="l">
              <a:defRPr sz="8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BUSINESS FLOW</a:t>
            </a:r>
          </a:p>
        </p:txBody>
      </p:sp>
      <p:sp>
        <p:nvSpPr>
          <p:cNvPr id="2" name="title-一条互选流程，依次完成志愿与轮次处理">
            <a:extLst xmlns:a="http://schemas.openxmlformats.org/drawingml/2006/main">
              <a:ext uri="{FF2B5EF4-FFF2-40B4-BE49-F238E27FC236}">
                <a16:creationId xmlns:a16="http://schemas.microsoft.com/office/drawing/2014/main" id="{122DCB8D-01F3-4AF2-A95F-BEFEF99F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22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一条互选流程，依次完成志愿与轮次处理</a:t>
            </a:r>
          </a:p>
        </p:txBody>
      </p:sp>
      <p:sp>
        <p:nvSpPr>
          <p:cNvPr id="3" name="subtitle-一条互选流程，依次完成志愿与轮次处理">
            <a:extLst xmlns:a="http://schemas.openxmlformats.org/drawingml/2006/main">
              <a:ext uri="{FF2B5EF4-FFF2-40B4-BE49-F238E27FC236}">
                <a16:creationId xmlns:a16="http://schemas.microsoft.com/office/drawing/2014/main" id="{A541E52B-CE51-4BA9-93E6-827A8239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1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学生提交有序志愿；导师对投向本人的申请逐项决定。</a:t>
            </a:r>
          </a:p>
        </p:txBody>
      </p:sp>
      <p:sp>
        <p:nvSpPr>
          <p:cNvPr id="4" name="flow-step-1">
            <a:extLst xmlns:a="http://schemas.openxmlformats.org/drawingml/2006/main">
              <a:ext uri="{FF2B5EF4-FFF2-40B4-BE49-F238E27FC236}">
                <a16:creationId xmlns:a16="http://schemas.microsoft.com/office/drawing/2014/main" id="{C08C4F4F-318B-4B4E-AEB5-45657345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1666875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5" name="flow-number-1">
            <a:extLst xmlns:a="http://schemas.openxmlformats.org/drawingml/2006/main">
              <a:ext uri="{FF2B5EF4-FFF2-40B4-BE49-F238E27FC236}">
                <a16:creationId xmlns:a16="http://schemas.microsoft.com/office/drawing/2014/main" id="{AE0AF338-5643-4A40-9FAC-6E243BFD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573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D0B50060-FC6F-4114-9F06-89E3D19B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145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身份核对</a:t>
            </a:r>
          </a:p>
        </p:txBody>
      </p:sp>
      <p:sp>
        <p:nvSpPr>
          <p:cNvPr id="7" name="flow-detail-1">
            <a:extLst xmlns:a="http://schemas.openxmlformats.org/drawingml/2006/main">
              <a:ext uri="{FF2B5EF4-FFF2-40B4-BE49-F238E27FC236}">
                <a16:creationId xmlns:a16="http://schemas.microsoft.com/office/drawing/2014/main" id="{36F8E626-4DF0-490F-90C5-72F75FAF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860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确认专业与学位</a:t>
            </a:r>
          </a:p>
        </p:txBody>
      </p:sp>
      <p:sp>
        <p:nvSpPr>
          <p:cNvPr id="8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9C39D4D3-52B3-4A9B-B52A-506800BC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885950"/>
            <a:ext cx="19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21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9" name="flow-step-2">
            <a:extLst xmlns:a="http://schemas.openxmlformats.org/drawingml/2006/main">
              <a:ext uri="{FF2B5EF4-FFF2-40B4-BE49-F238E27FC236}">
                <a16:creationId xmlns:a16="http://schemas.microsoft.com/office/drawing/2014/main" id="{339A3A64-1478-46A9-B832-A30CE2A4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524000"/>
            <a:ext cx="1666875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10" name="flow-number-2">
            <a:extLst xmlns:a="http://schemas.openxmlformats.org/drawingml/2006/main">
              <a:ext uri="{FF2B5EF4-FFF2-40B4-BE49-F238E27FC236}">
                <a16:creationId xmlns:a16="http://schemas.microsoft.com/office/drawing/2014/main" id="{F70283B8-63B4-4D90-ACCF-178D3683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737F61C3-0A46-44DA-8EBD-D3A75032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9145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志愿提交</a:t>
            </a:r>
          </a:p>
        </p:txBody>
      </p:sp>
      <p:sp>
        <p:nvSpPr>
          <p:cNvPr id="12" name="flow-detail-2">
            <a:extLst xmlns:a="http://schemas.openxmlformats.org/drawingml/2006/main">
              <a:ext uri="{FF2B5EF4-FFF2-40B4-BE49-F238E27FC236}">
                <a16:creationId xmlns:a16="http://schemas.microsoft.com/office/drawing/2014/main" id="{81767CBE-7ADD-44D7-9A0E-FF1F5907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860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1–3 位不同导师</a:t>
            </a:r>
          </a:p>
        </p:txBody>
      </p:sp>
      <p:sp>
        <p:nvSpPr>
          <p:cNvPr id="13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72D2E519-37DF-48A6-82D1-F099E701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885950"/>
            <a:ext cx="19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21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4" name="flow-step-3">
            <a:extLst xmlns:a="http://schemas.openxmlformats.org/drawingml/2006/main">
              <a:ext uri="{FF2B5EF4-FFF2-40B4-BE49-F238E27FC236}">
                <a16:creationId xmlns:a16="http://schemas.microsoft.com/office/drawing/2014/main" id="{0A313276-C33D-4E6F-B49D-06418B40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24000"/>
            <a:ext cx="1666875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8F3F8"/>
          </a:solidFill>
          <a:ln xmlns:a="http://schemas.openxmlformats.org/drawingml/2006/main" w="9525">
            <a:solidFill>
              <a:srgbClr val="D3E8F0"/>
            </a:solidFill>
            <a:prstDash val="solid"/>
          </a:ln>
        </p:spPr>
      </p:sp>
      <p:sp>
        <p:nvSpPr>
          <p:cNvPr id="15" name="flow-number-3">
            <a:extLst xmlns:a="http://schemas.openxmlformats.org/drawingml/2006/main">
              <a:ext uri="{FF2B5EF4-FFF2-40B4-BE49-F238E27FC236}">
                <a16:creationId xmlns:a16="http://schemas.microsoft.com/office/drawing/2014/main" id="{B4F92FD9-98CA-483B-9E9F-86D12614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6573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00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836CFB1C-535F-4BC9-8777-B6EE479E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9145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第一轮</a:t>
            </a:r>
          </a:p>
        </p:txBody>
      </p:sp>
      <p:sp>
        <p:nvSpPr>
          <p:cNvPr id="17" name="flow-detail-3">
            <a:extLst xmlns:a="http://schemas.openxmlformats.org/drawingml/2006/main">
              <a:ext uri="{FF2B5EF4-FFF2-40B4-BE49-F238E27FC236}">
                <a16:creationId xmlns:a16="http://schemas.microsoft.com/office/drawing/2014/main" id="{98631129-3317-4114-85E0-EBA302C8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2860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只处理第 1 志愿</a:t>
            </a:r>
          </a:p>
        </p:txBody>
      </p:sp>
      <p:sp>
        <p:nvSpPr>
          <p:cNvPr id="18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0149AC88-D9AA-4DB2-AD61-5163FCE4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1885950"/>
            <a:ext cx="19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21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9" name="flow-step-4">
            <a:extLst xmlns:a="http://schemas.openxmlformats.org/drawingml/2006/main">
              <a:ext uri="{FF2B5EF4-FFF2-40B4-BE49-F238E27FC236}">
                <a16:creationId xmlns:a16="http://schemas.microsoft.com/office/drawing/2014/main" id="{1F89B274-AB90-43CE-9D05-F92A27C3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524000"/>
            <a:ext cx="1666875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8F3F8"/>
          </a:solidFill>
          <a:ln xmlns:a="http://schemas.openxmlformats.org/drawingml/2006/main" w="9525">
            <a:solidFill>
              <a:srgbClr val="D3E8F0"/>
            </a:solidFill>
            <a:prstDash val="solid"/>
          </a:ln>
        </p:spPr>
      </p:sp>
      <p:sp>
        <p:nvSpPr>
          <p:cNvPr id="20" name="flow-number-4">
            <a:extLst xmlns:a="http://schemas.openxmlformats.org/drawingml/2006/main">
              <a:ext uri="{FF2B5EF4-FFF2-40B4-BE49-F238E27FC236}">
                <a16:creationId xmlns:a16="http://schemas.microsoft.com/office/drawing/2014/main" id="{6A776C99-419F-481B-924B-9AFFCCB0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573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00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6DABE24F-5374-4E64-BBEF-1DFDA030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145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第二轮</a:t>
            </a:r>
          </a:p>
        </p:txBody>
      </p:sp>
      <p:sp>
        <p:nvSpPr>
          <p:cNvPr id="22" name="flow-detail-4">
            <a:extLst xmlns:a="http://schemas.openxmlformats.org/drawingml/2006/main">
              <a:ext uri="{FF2B5EF4-FFF2-40B4-BE49-F238E27FC236}">
                <a16:creationId xmlns:a16="http://schemas.microsoft.com/office/drawing/2014/main" id="{E1031151-620E-4C68-B997-738A2A13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860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只处理第 2 志愿</a:t>
            </a:r>
          </a:p>
        </p:txBody>
      </p:sp>
      <p:sp>
        <p:nvSpPr>
          <p:cNvPr id="23" name="flow-arrow-4">
            <a:extLst xmlns:a="http://schemas.openxmlformats.org/drawingml/2006/main">
              <a:ext uri="{FF2B5EF4-FFF2-40B4-BE49-F238E27FC236}">
                <a16:creationId xmlns:a16="http://schemas.microsoft.com/office/drawing/2014/main" id="{42287AC3-9832-4750-B376-06293BD7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85950"/>
            <a:ext cx="19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21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4" name="flow-step-5">
            <a:extLst xmlns:a="http://schemas.openxmlformats.org/drawingml/2006/main">
              <a:ext uri="{FF2B5EF4-FFF2-40B4-BE49-F238E27FC236}">
                <a16:creationId xmlns:a16="http://schemas.microsoft.com/office/drawing/2014/main" id="{E01CC9F4-59DA-4A86-93FF-E9102B3E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24000"/>
            <a:ext cx="1666875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8F3F8"/>
          </a:solidFill>
          <a:ln xmlns:a="http://schemas.openxmlformats.org/drawingml/2006/main" w="9525">
            <a:solidFill>
              <a:srgbClr val="D3E8F0"/>
            </a:solidFill>
            <a:prstDash val="solid"/>
          </a:ln>
        </p:spPr>
      </p:sp>
      <p:sp>
        <p:nvSpPr>
          <p:cNvPr id="25" name="flow-number-5">
            <a:extLst xmlns:a="http://schemas.openxmlformats.org/drawingml/2006/main">
              <a:ext uri="{FF2B5EF4-FFF2-40B4-BE49-F238E27FC236}">
                <a16:creationId xmlns:a16="http://schemas.microsoft.com/office/drawing/2014/main" id="{88F4CC04-5014-48CC-B853-EBF8FB13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6573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00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6" name="flow-title-5">
            <a:extLst xmlns:a="http://schemas.openxmlformats.org/drawingml/2006/main">
              <a:ext uri="{FF2B5EF4-FFF2-40B4-BE49-F238E27FC236}">
                <a16:creationId xmlns:a16="http://schemas.microsoft.com/office/drawing/2014/main" id="{5A45FE3C-E951-4FAE-AF7B-6451BA3A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9145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第三轮</a:t>
            </a:r>
          </a:p>
        </p:txBody>
      </p:sp>
      <p:sp>
        <p:nvSpPr>
          <p:cNvPr id="27" name="flow-detail-5">
            <a:extLst xmlns:a="http://schemas.openxmlformats.org/drawingml/2006/main">
              <a:ext uri="{FF2B5EF4-FFF2-40B4-BE49-F238E27FC236}">
                <a16:creationId xmlns:a16="http://schemas.microsoft.com/office/drawing/2014/main" id="{6B01F510-379B-4E1A-8041-AFE06D02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2860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只处理第 3 志愿</a:t>
            </a:r>
          </a:p>
        </p:txBody>
      </p:sp>
      <p:sp>
        <p:nvSpPr>
          <p:cNvPr id="28" name="flow-arrow-5">
            <a:extLst xmlns:a="http://schemas.openxmlformats.org/drawingml/2006/main">
              <a:ext uri="{FF2B5EF4-FFF2-40B4-BE49-F238E27FC236}">
                <a16:creationId xmlns:a16="http://schemas.microsoft.com/office/drawing/2014/main" id="{8EB2EB21-41E1-4407-8B91-94276731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885950"/>
            <a:ext cx="19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21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9" name="flow-step-6">
            <a:extLst xmlns:a="http://schemas.openxmlformats.org/drawingml/2006/main">
              <a:ext uri="{FF2B5EF4-FFF2-40B4-BE49-F238E27FC236}">
                <a16:creationId xmlns:a16="http://schemas.microsoft.com/office/drawing/2014/main" id="{DCD5B05E-3941-422A-BF06-C5944DBC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524000"/>
            <a:ext cx="1666875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8F3F8"/>
          </a:solidFill>
          <a:ln xmlns:a="http://schemas.openxmlformats.org/drawingml/2006/main" w="9525">
            <a:solidFill>
              <a:srgbClr val="D3E8F0"/>
            </a:solidFill>
            <a:prstDash val="solid"/>
          </a:ln>
        </p:spPr>
      </p:sp>
      <p:sp>
        <p:nvSpPr>
          <p:cNvPr id="30" name="flow-number-6">
            <a:extLst xmlns:a="http://schemas.openxmlformats.org/drawingml/2006/main">
              <a:ext uri="{FF2B5EF4-FFF2-40B4-BE49-F238E27FC236}">
                <a16:creationId xmlns:a16="http://schemas.microsoft.com/office/drawing/2014/main" id="{63B5202B-1475-4075-BD97-AE14054F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5735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00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1" name="flow-title-6">
            <a:extLst xmlns:a="http://schemas.openxmlformats.org/drawingml/2006/main">
              <a:ext uri="{FF2B5EF4-FFF2-40B4-BE49-F238E27FC236}">
                <a16:creationId xmlns:a16="http://schemas.microsoft.com/office/drawing/2014/main" id="{37542880-35F0-42A7-94AB-74B18EC2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145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32" name="flow-detail-6">
            <a:extLst xmlns:a="http://schemas.openxmlformats.org/drawingml/2006/main">
              <a:ext uri="{FF2B5EF4-FFF2-40B4-BE49-F238E27FC236}">
                <a16:creationId xmlns:a16="http://schemas.microsoft.com/office/drawing/2014/main" id="{7225F4FF-5392-4397-BEEC-29ACE379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860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匹配 / 暂未匹配</a:t>
            </a:r>
          </a:p>
        </p:txBody>
      </p:sp>
      <p:sp>
        <p:nvSpPr>
          <p:cNvPr id="33" name="flow-decision-band">
            <a:extLst xmlns:a="http://schemas.openxmlformats.org/drawingml/2006/main">
              <a:ext uri="{FF2B5EF4-FFF2-40B4-BE49-F238E27FC236}">
                <a16:creationId xmlns:a16="http://schemas.microsoft.com/office/drawing/2014/main" id="{E761191C-093D-4F6F-B186-C7B5E5EF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67050"/>
            <a:ext cx="10953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8F4F0"/>
          </a:solidFill>
          <a:ln xmlns:a="http://schemas.openxmlformats.org/drawingml/2006/main" w="9525">
            <a:solidFill>
              <a:srgbClr val="D4E9E2"/>
            </a:solidFill>
            <a:prstDash val="solid"/>
          </a:ln>
        </p:spPr>
      </p:sp>
      <p:sp>
        <p:nvSpPr>
          <p:cNvPr id="34" name="flow-decision-main">
            <a:extLst xmlns:a="http://schemas.openxmlformats.org/drawingml/2006/main">
              <a:ext uri="{FF2B5EF4-FFF2-40B4-BE49-F238E27FC236}">
                <a16:creationId xmlns:a16="http://schemas.microsoft.com/office/drawing/2014/main" id="{2E6889C6-04A8-4FA1-9311-72AD33BC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81350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每轮由导师逐项决定：录取 / 不录取</a:t>
            </a:r>
          </a:p>
        </p:txBody>
      </p:sp>
      <p:sp>
        <p:nvSpPr>
          <p:cNvPr id="35" name="flow-decision-detail">
            <a:extLst xmlns:a="http://schemas.openxmlformats.org/drawingml/2006/main">
              <a:ext uri="{FF2B5EF4-FFF2-40B4-BE49-F238E27FC236}">
                <a16:creationId xmlns:a16="http://schemas.microsoft.com/office/drawing/2014/main" id="{DE0C7621-E2E2-40C4-8532-DB3505A4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05200"/>
            <a:ext cx="10239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050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050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rPr>
              <a:t>录取时校验导师剩余名额；成功后立即锁定关系，已匹配学生不再进入后续轮次。</a:t>
            </a:r>
          </a:p>
        </p:txBody>
      </p:sp>
      <p:sp>
        <p:nvSpPr>
          <p:cNvPr id="36" name="flow-outcome-label">
            <a:extLst xmlns:a="http://schemas.openxmlformats.org/drawingml/2006/main">
              <a:ext uri="{FF2B5EF4-FFF2-40B4-BE49-F238E27FC236}">
                <a16:creationId xmlns:a16="http://schemas.microsoft.com/office/drawing/2014/main" id="{81DDBE11-EBEC-451D-8052-C6165A75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4812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常规轮次后的去向</a:t>
            </a:r>
          </a:p>
        </p:txBody>
      </p:sp>
      <p:sp>
        <p:nvSpPr>
          <p:cNvPr id="37" name="flow-outcome-1">
            <a:extLst xmlns:a="http://schemas.openxmlformats.org/drawingml/2006/main">
              <a:ext uri="{FF2B5EF4-FFF2-40B4-BE49-F238E27FC236}">
                <a16:creationId xmlns:a16="http://schemas.microsoft.com/office/drawing/2014/main" id="{426125CC-60AB-4B0A-8582-36AAC794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71975"/>
            <a:ext cx="3238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38" name="flow-outcome-accent-1">
            <a:extLst xmlns:a="http://schemas.openxmlformats.org/drawingml/2006/main">
              <a:ext uri="{FF2B5EF4-FFF2-40B4-BE49-F238E27FC236}">
                <a16:creationId xmlns:a16="http://schemas.microsoft.com/office/drawing/2014/main" id="{76858612-279F-4000-8138-7FAA6485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71975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8B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flow-outcome-title-1">
            <a:extLst xmlns:a="http://schemas.openxmlformats.org/drawingml/2006/main">
              <a:ext uri="{FF2B5EF4-FFF2-40B4-BE49-F238E27FC236}">
                <a16:creationId xmlns:a16="http://schemas.microsoft.com/office/drawing/2014/main" id="{B035246E-DF6A-4C18-8A1D-838DAEB4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2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录取成功</a:t>
            </a:r>
          </a:p>
        </p:txBody>
      </p:sp>
      <p:sp>
        <p:nvSpPr>
          <p:cNvPr id="40" name="flow-outcome-body-1">
            <a:extLst xmlns:a="http://schemas.openxmlformats.org/drawingml/2006/main">
              <a:ext uri="{FF2B5EF4-FFF2-40B4-BE49-F238E27FC236}">
                <a16:creationId xmlns:a16="http://schemas.microsoft.com/office/drawing/2014/main" id="{87865002-78A2-4225-AFB2-F7C962BD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本轮建立并锁定师生关系</a:t>
            </a:r>
          </a:p>
        </p:txBody>
      </p:sp>
      <p:sp>
        <p:nvSpPr>
          <p:cNvPr id="41" name="flow-outcome-2">
            <a:extLst xmlns:a="http://schemas.openxmlformats.org/drawingml/2006/main">
              <a:ext uri="{FF2B5EF4-FFF2-40B4-BE49-F238E27FC236}">
                <a16:creationId xmlns:a16="http://schemas.microsoft.com/office/drawing/2014/main" id="{8C332628-7CFD-4CFA-900B-84AAC5FE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71975"/>
            <a:ext cx="3238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42" name="flow-outcome-accent-2">
            <a:extLst xmlns:a="http://schemas.openxmlformats.org/drawingml/2006/main">
              <a:ext uri="{FF2B5EF4-FFF2-40B4-BE49-F238E27FC236}">
                <a16:creationId xmlns:a16="http://schemas.microsoft.com/office/drawing/2014/main" id="{EAC886A9-E4BA-4C74-B958-F403E2C4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71975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3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flow-outcome-title-2">
            <a:extLst xmlns:a="http://schemas.openxmlformats.org/drawingml/2006/main">
              <a:ext uri="{FF2B5EF4-FFF2-40B4-BE49-F238E27FC236}">
                <a16:creationId xmlns:a16="http://schemas.microsoft.com/office/drawing/2014/main" id="{C344A08E-F506-4B45-BBA3-6D5ABB0D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243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2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三轮后仍未匹配</a:t>
            </a:r>
          </a:p>
        </p:txBody>
      </p:sp>
      <p:sp>
        <p:nvSpPr>
          <p:cNvPr id="44" name="flow-outcome-body-2">
            <a:extLst xmlns:a="http://schemas.openxmlformats.org/drawingml/2006/main">
              <a:ext uri="{FF2B5EF4-FFF2-40B4-BE49-F238E27FC236}">
                <a16:creationId xmlns:a16="http://schemas.microsoft.com/office/drawing/2014/main" id="{A34856C5-7FB9-49CF-8D92-BB337724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57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按规则转为 UNMATCHED</a:t>
            </a:r>
          </a:p>
        </p:txBody>
      </p:sp>
      <p:sp>
        <p:nvSpPr>
          <p:cNvPr id="45" name="flow-outcome-3">
            <a:extLst xmlns:a="http://schemas.openxmlformats.org/drawingml/2006/main">
              <a:ext uri="{FF2B5EF4-FFF2-40B4-BE49-F238E27FC236}">
                <a16:creationId xmlns:a16="http://schemas.microsoft.com/office/drawing/2014/main" id="{55A8EB3D-D41F-4CDA-A118-8A180D8A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71975"/>
            <a:ext cx="31432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46" name="flow-outcome-accent-3">
            <a:extLst xmlns:a="http://schemas.openxmlformats.org/drawingml/2006/main">
              <a:ext uri="{FF2B5EF4-FFF2-40B4-BE49-F238E27FC236}">
                <a16:creationId xmlns:a16="http://schemas.microsoft.com/office/drawing/2014/main" id="{EAAA34DC-D67E-4292-A7D8-C4BEC5DF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71975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82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flow-outcome-title-3">
            <a:extLst xmlns:a="http://schemas.openxmlformats.org/drawingml/2006/main">
              <a:ext uri="{FF2B5EF4-FFF2-40B4-BE49-F238E27FC236}">
                <a16:creationId xmlns:a16="http://schemas.microsoft.com/office/drawing/2014/main" id="{3D3007EF-D9DB-45E8-B598-7DFF089B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2437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2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批次预先安排补选</a:t>
            </a:r>
          </a:p>
        </p:txBody>
      </p:sp>
      <p:sp>
        <p:nvSpPr>
          <p:cNvPr id="48" name="flow-outcome-body-3">
            <a:extLst xmlns:a="http://schemas.openxmlformats.org/drawingml/2006/main">
              <a:ext uri="{FF2B5EF4-FFF2-40B4-BE49-F238E27FC236}">
                <a16:creationId xmlns:a16="http://schemas.microsoft.com/office/drawing/2014/main" id="{3ECCEBE4-9E97-4661-A8FD-A48C2955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进入独立补选窗口，不重跑三轮</a:t>
            </a:r>
          </a:p>
        </p:txBody>
      </p:sp>
      <p:sp>
        <p:nvSpPr>
          <p:cNvPr id="49" name="flow-supplement-note">
            <a:extLst xmlns:a="http://schemas.openxmlformats.org/drawingml/2006/main">
              <a:ext uri="{FF2B5EF4-FFF2-40B4-BE49-F238E27FC236}">
                <a16:creationId xmlns:a16="http://schemas.microsoft.com/office/drawing/2014/main" id="{04A270F5-53B5-4E94-9980-378B92C1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530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8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补选是否安排由管理员在批次发布前决定，并预先配置开放时间。</a:t>
            </a:r>
          </a:p>
        </p:txBody>
      </p:sp>
      <p:sp>
        <p:nvSpPr>
          <p:cNvPr id="50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7CE68FB2-7A07-4256-BC94-FA917ECA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footer-brand-2">
            <a:extLst xmlns:a="http://schemas.openxmlformats.org/drawingml/2006/main">
              <a:ext uri="{FF2B5EF4-FFF2-40B4-BE49-F238E27FC236}">
                <a16:creationId xmlns:a16="http://schemas.microsoft.com/office/drawing/2014/main" id="{23CA8A75-1AB7-43B3-A1A0-28501FA3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75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湖南科技大学师生互选系统 · 项目介绍</a:t>
            </a:r>
          </a:p>
        </p:txBody>
      </p:sp>
      <p:sp>
        <p:nvSpPr>
          <p:cNvPr id="52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F9A7BD41-D9BD-489F-9A29-F7C83C51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r">
              <a:defRPr sz="825" b="1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970057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age-3-kicker">
            <a:extLst xmlns:a="http://schemas.openxmlformats.org/drawingml/2006/main">
              <a:ext uri="{FF2B5EF4-FFF2-40B4-BE49-F238E27FC236}">
                <a16:creationId xmlns:a16="http://schemas.microsoft.com/office/drawing/2014/main" id="{233FE77A-273D-4171-941C-F544440B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>
            <a:defPPr algn="l">
              <a:defRPr sz="75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STUDENT · PREFERENCES</a:t>
            </a:r>
          </a:p>
        </p:txBody>
      </p:sp>
      <p:sp>
        <p:nvSpPr>
          <p:cNvPr id="2" name="page-3-title">
            <a:extLst xmlns:a="http://schemas.openxmlformats.org/drawingml/2006/main">
              <a:ext uri="{FF2B5EF4-FFF2-40B4-BE49-F238E27FC236}">
                <a16:creationId xmlns:a16="http://schemas.microsoft.com/office/drawing/2014/main" id="{9461F7EE-7FCF-4786-A5CE-1C3A3752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620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8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学生端｜选择导师并排列志愿</a:t>
            </a:r>
          </a:p>
        </p:txBody>
      </p:sp>
      <p:sp>
        <p:nvSpPr>
          <p:cNvPr id="3" name="page-3-subtitle">
            <a:extLst xmlns:a="http://schemas.openxmlformats.org/drawingml/2006/main">
              <a:ext uri="{FF2B5EF4-FFF2-40B4-BE49-F238E27FC236}">
                <a16:creationId xmlns:a16="http://schemas.microsoft.com/office/drawing/2014/main" id="{596EE1CC-25B0-4E4E-ABF7-4CBBE651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667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身份核对 → 筛选可报导师 → 选择 1–3 位并保存顺位。</a:t>
            </a:r>
          </a:p>
        </p:txBody>
      </p:sp>
      <p:sp>
        <p:nvSpPr>
          <p:cNvPr id="4" name="page-3-demo-tag">
            <a:extLst xmlns:a="http://schemas.openxmlformats.org/drawingml/2006/main">
              <a:ext uri="{FF2B5EF4-FFF2-40B4-BE49-F238E27FC236}">
                <a16:creationId xmlns:a16="http://schemas.microsoft.com/office/drawing/2014/main" id="{5938298A-89AB-4556-B602-35F0A9E8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6725"/>
            <a:ext cx="19621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5" name="page-3-demo-tag-text">
            <a:extLst xmlns:a="http://schemas.openxmlformats.org/drawingml/2006/main">
              <a:ext uri="{FF2B5EF4-FFF2-40B4-BE49-F238E27FC236}">
                <a16:creationId xmlns:a16="http://schemas.microsoft.com/office/drawing/2014/main" id="{B97F8AFC-F424-48C7-A57E-D608D0D5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667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825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rPr>
              <a:t>真实页面 · 演示数据   03</a:t>
            </a:r>
          </a:p>
        </p:txBody>
      </p:sp>
      <p:sp>
        <p:nvSpPr>
          <p:cNvPr id="6" name="page-3-screenshot-frame">
            <a:extLst xmlns:a="http://schemas.openxmlformats.org/drawingml/2006/main">
              <a:ext uri="{FF2B5EF4-FFF2-40B4-BE49-F238E27FC236}">
                <a16:creationId xmlns:a16="http://schemas.microsoft.com/office/drawing/2014/main" id="{89931324-1DDB-4BE0-86CC-44E24EF8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771525"/>
            <a:ext cx="11068050" cy="6038850"/>
          </a:xfrm>
          <a:prstGeom xmlns:a="http://schemas.openxmlformats.org/drawingml/2006/main" prst="roundRect">
            <a:avLst>
              <a:gd name="adj" fmla="val 18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9D5D84-5B2D-4C28-BA84-94178B00B2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8bd2557d274cdb"/>
          <a:stretch xmlns:a="http://schemas.openxmlformats.org/drawingml/2006/main"/>
        </p:blipFill>
        <p:spPr>
          <a:xfrm xmlns:a="http://schemas.openxmlformats.org/drawingml/2006/main">
            <a:off x="812800" y="819150"/>
            <a:ext cx="10566400" cy="5943600"/>
          </a:xfrm>
          <a:prstGeom xmlns:a="http://schemas.openxmlformats.org/drawingml/2006/main" prst="roundRect">
            <a:avLst>
              <a:gd name="adj" fmla="val 1282"/>
            </a:avLst>
          </a:prstGeom>
        </p:spPr>
      </p:pic>
    </p:spTree>
    <p:extLst>
      <p:ext uri="{BB962C8B-B14F-4D97-AF65-F5344CB8AC3E}">
        <p14:creationId xmlns:p14="http://schemas.microsoft.com/office/powerpoint/2010/main" val="10687918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age-4-kicker">
            <a:extLst xmlns:a="http://schemas.openxmlformats.org/drawingml/2006/main">
              <a:ext uri="{FF2B5EF4-FFF2-40B4-BE49-F238E27FC236}">
                <a16:creationId xmlns:a16="http://schemas.microsoft.com/office/drawing/2014/main" id="{5E599591-D1E2-4B19-A383-468E2949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>
            <a:defPPr algn="l">
              <a:defRPr sz="75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STUDENT · PROGRESS</a:t>
            </a:r>
          </a:p>
        </p:txBody>
      </p:sp>
      <p:sp>
        <p:nvSpPr>
          <p:cNvPr id="2" name="page-4-title">
            <a:extLst xmlns:a="http://schemas.openxmlformats.org/drawingml/2006/main">
              <a:ext uri="{FF2B5EF4-FFF2-40B4-BE49-F238E27FC236}">
                <a16:creationId xmlns:a16="http://schemas.microsoft.com/office/drawing/2014/main" id="{F912BFBD-B678-42D2-9574-1061EFCA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620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8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学生端｜查看轮次进度与结果</a:t>
            </a:r>
          </a:p>
        </p:txBody>
      </p:sp>
      <p:sp>
        <p:nvSpPr>
          <p:cNvPr id="3" name="page-4-subtitle">
            <a:extLst xmlns:a="http://schemas.openxmlformats.org/drawingml/2006/main">
              <a:ext uri="{FF2B5EF4-FFF2-40B4-BE49-F238E27FC236}">
                <a16:creationId xmlns:a16="http://schemas.microsoft.com/office/drawing/2014/main" id="{6D020D5F-41CD-42DF-BFF7-77500FE4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667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查看填报阶段、匹配状态与三轮志愿的逐项进度。</a:t>
            </a:r>
          </a:p>
        </p:txBody>
      </p:sp>
      <p:sp>
        <p:nvSpPr>
          <p:cNvPr id="4" name="page-4-demo-tag">
            <a:extLst xmlns:a="http://schemas.openxmlformats.org/drawingml/2006/main">
              <a:ext uri="{FF2B5EF4-FFF2-40B4-BE49-F238E27FC236}">
                <a16:creationId xmlns:a16="http://schemas.microsoft.com/office/drawing/2014/main" id="{6C1821CD-CC37-488B-8582-4AC42C6B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6725"/>
            <a:ext cx="19621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5" name="page-4-demo-tag-text">
            <a:extLst xmlns:a="http://schemas.openxmlformats.org/drawingml/2006/main">
              <a:ext uri="{FF2B5EF4-FFF2-40B4-BE49-F238E27FC236}">
                <a16:creationId xmlns:a16="http://schemas.microsoft.com/office/drawing/2014/main" id="{CE5CF5B0-3FF2-4C62-B4B0-0F8F63A9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667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825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rPr>
              <a:t>真实页面 · 演示数据   04</a:t>
            </a:r>
          </a:p>
        </p:txBody>
      </p:sp>
      <p:sp>
        <p:nvSpPr>
          <p:cNvPr id="6" name="page-4-screenshot-frame">
            <a:extLst xmlns:a="http://schemas.openxmlformats.org/drawingml/2006/main">
              <a:ext uri="{FF2B5EF4-FFF2-40B4-BE49-F238E27FC236}">
                <a16:creationId xmlns:a16="http://schemas.microsoft.com/office/drawing/2014/main" id="{B6E6FF24-4084-4C76-B269-9026D3AE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771525"/>
            <a:ext cx="11068050" cy="6038850"/>
          </a:xfrm>
          <a:prstGeom xmlns:a="http://schemas.openxmlformats.org/drawingml/2006/main" prst="roundRect">
            <a:avLst>
              <a:gd name="adj" fmla="val 18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C1C58D-DEF0-4D47-8423-F4BC661EFD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41291e5b2f4919"/>
          <a:stretch xmlns:a="http://schemas.openxmlformats.org/drawingml/2006/main"/>
        </p:blipFill>
        <p:spPr>
          <a:xfrm xmlns:a="http://schemas.openxmlformats.org/drawingml/2006/main">
            <a:off x="812800" y="819150"/>
            <a:ext cx="10566400" cy="5943600"/>
          </a:xfrm>
          <a:prstGeom xmlns:a="http://schemas.openxmlformats.org/drawingml/2006/main" prst="roundRect">
            <a:avLst>
              <a:gd name="adj" fmla="val 1282"/>
            </a:avLst>
          </a:prstGeom>
        </p:spPr>
      </p:pic>
    </p:spTree>
    <p:extLst>
      <p:ext uri="{BB962C8B-B14F-4D97-AF65-F5344CB8AC3E}">
        <p14:creationId xmlns:p14="http://schemas.microsoft.com/office/powerpoint/2010/main" val="20295172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age-5-kicker">
            <a:extLst xmlns:a="http://schemas.openxmlformats.org/drawingml/2006/main">
              <a:ext uri="{FF2B5EF4-FFF2-40B4-BE49-F238E27FC236}">
                <a16:creationId xmlns:a16="http://schemas.microsoft.com/office/drawing/2014/main" id="{AD97910F-C416-4D0E-9B44-3E1D2A9B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>
            <a:defPPr algn="l">
              <a:defRPr sz="75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TEACHER · REVIEW</a:t>
            </a:r>
          </a:p>
        </p:txBody>
      </p:sp>
      <p:sp>
        <p:nvSpPr>
          <p:cNvPr id="2" name="page-5-title">
            <a:extLst xmlns:a="http://schemas.openxmlformats.org/drawingml/2006/main">
              <a:ext uri="{FF2B5EF4-FFF2-40B4-BE49-F238E27FC236}">
                <a16:creationId xmlns:a16="http://schemas.microsoft.com/office/drawing/2014/main" id="{AECA2775-9ACA-4455-AD23-19B346D55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620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8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导师端｜逐项处理本轮申请</a:t>
            </a:r>
          </a:p>
        </p:txBody>
      </p:sp>
      <p:sp>
        <p:nvSpPr>
          <p:cNvPr id="3" name="page-5-subtitle">
            <a:extLst xmlns:a="http://schemas.openxmlformats.org/drawingml/2006/main">
              <a:ext uri="{FF2B5EF4-FFF2-40B4-BE49-F238E27FC236}">
                <a16:creationId xmlns:a16="http://schemas.microsoft.com/office/drawing/2014/main" id="{7042D2C5-078A-4360-9E04-C662FBE3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667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仅处理本轮投向本人的申请；名额确认后锁定关系。</a:t>
            </a:r>
          </a:p>
        </p:txBody>
      </p:sp>
      <p:sp>
        <p:nvSpPr>
          <p:cNvPr id="4" name="page-5-demo-tag">
            <a:extLst xmlns:a="http://schemas.openxmlformats.org/drawingml/2006/main">
              <a:ext uri="{FF2B5EF4-FFF2-40B4-BE49-F238E27FC236}">
                <a16:creationId xmlns:a16="http://schemas.microsoft.com/office/drawing/2014/main" id="{7C862BA6-94BB-4606-A3A6-2774924C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6725"/>
            <a:ext cx="19621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5" name="page-5-demo-tag-text">
            <a:extLst xmlns:a="http://schemas.openxmlformats.org/drawingml/2006/main">
              <a:ext uri="{FF2B5EF4-FFF2-40B4-BE49-F238E27FC236}">
                <a16:creationId xmlns:a16="http://schemas.microsoft.com/office/drawing/2014/main" id="{4898245A-69B1-45EB-BD26-BA709741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667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825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rPr>
              <a:t>真实页面 · 演示数据   05</a:t>
            </a:r>
          </a:p>
        </p:txBody>
      </p:sp>
      <p:sp>
        <p:nvSpPr>
          <p:cNvPr id="6" name="page-5-screenshot-frame">
            <a:extLst xmlns:a="http://schemas.openxmlformats.org/drawingml/2006/main">
              <a:ext uri="{FF2B5EF4-FFF2-40B4-BE49-F238E27FC236}">
                <a16:creationId xmlns:a16="http://schemas.microsoft.com/office/drawing/2014/main" id="{BA91F80F-7C6F-4D42-8DC1-B2842EF0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771525"/>
            <a:ext cx="11068050" cy="6038850"/>
          </a:xfrm>
          <a:prstGeom xmlns:a="http://schemas.openxmlformats.org/drawingml/2006/main" prst="roundRect">
            <a:avLst>
              <a:gd name="adj" fmla="val 18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22B669-6D4E-4096-98FF-E18255A8B7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a0ca6677404138"/>
          <a:stretch xmlns:a="http://schemas.openxmlformats.org/drawingml/2006/main"/>
        </p:blipFill>
        <p:spPr>
          <a:xfrm xmlns:a="http://schemas.openxmlformats.org/drawingml/2006/main">
            <a:off x="812800" y="819150"/>
            <a:ext cx="10566400" cy="5943600"/>
          </a:xfrm>
          <a:prstGeom xmlns:a="http://schemas.openxmlformats.org/drawingml/2006/main" prst="roundRect">
            <a:avLst>
              <a:gd name="adj" fmla="val 1282"/>
            </a:avLst>
          </a:prstGeom>
        </p:spPr>
      </p:pic>
    </p:spTree>
    <p:extLst>
      <p:ext uri="{BB962C8B-B14F-4D97-AF65-F5344CB8AC3E}">
        <p14:creationId xmlns:p14="http://schemas.microsoft.com/office/powerpoint/2010/main" val="5037961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age-6-kicker">
            <a:extLst xmlns:a="http://schemas.openxmlformats.org/drawingml/2006/main">
              <a:ext uri="{FF2B5EF4-FFF2-40B4-BE49-F238E27FC236}">
                <a16:creationId xmlns:a16="http://schemas.microsoft.com/office/drawing/2014/main" id="{186305A6-B4AA-4884-957C-EA6B1CAD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>
            <a:defPPr algn="l">
              <a:defRPr sz="75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ADMIN · BATCH MANAGEMENT</a:t>
            </a:r>
          </a:p>
        </p:txBody>
      </p:sp>
      <p:sp>
        <p:nvSpPr>
          <p:cNvPr id="2" name="page-6-title">
            <a:extLst xmlns:a="http://schemas.openxmlformats.org/drawingml/2006/main">
              <a:ext uri="{FF2B5EF4-FFF2-40B4-BE49-F238E27FC236}">
                <a16:creationId xmlns:a16="http://schemas.microsoft.com/office/drawing/2014/main" id="{CC2564D5-7B56-4CD6-AE40-BED783F6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7620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8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管理端｜配置批次并跟踪整体进度</a:t>
            </a:r>
          </a:p>
        </p:txBody>
      </p:sp>
      <p:sp>
        <p:nvSpPr>
          <p:cNvPr id="3" name="page-6-subtitle">
            <a:extLst xmlns:a="http://schemas.openxmlformats.org/drawingml/2006/main">
              <a:ext uri="{FF2B5EF4-FFF2-40B4-BE49-F238E27FC236}">
                <a16:creationId xmlns:a16="http://schemas.microsoft.com/office/drawing/2014/main" id="{764F55A7-015D-453C-85C2-41FCA8D8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667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配置阶段时间与导师名额，按冻结名单跟进批次统计。</a:t>
            </a:r>
          </a:p>
        </p:txBody>
      </p:sp>
      <p:sp>
        <p:nvSpPr>
          <p:cNvPr id="4" name="page-6-demo-tag">
            <a:extLst xmlns:a="http://schemas.openxmlformats.org/drawingml/2006/main">
              <a:ext uri="{FF2B5EF4-FFF2-40B4-BE49-F238E27FC236}">
                <a16:creationId xmlns:a16="http://schemas.microsoft.com/office/drawing/2014/main" id="{7C13485F-7F39-4A2A-9387-C378061F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6725"/>
            <a:ext cx="19621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5" name="page-6-demo-tag-text">
            <a:extLst xmlns:a="http://schemas.openxmlformats.org/drawingml/2006/main">
              <a:ext uri="{FF2B5EF4-FFF2-40B4-BE49-F238E27FC236}">
                <a16:creationId xmlns:a16="http://schemas.microsoft.com/office/drawing/2014/main" id="{B5B46F59-43BA-47E7-89E9-6ADCA787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667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825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rPr>
              <a:t>真实页面 · 演示数据   06</a:t>
            </a:r>
          </a:p>
        </p:txBody>
      </p:sp>
      <p:sp>
        <p:nvSpPr>
          <p:cNvPr id="6" name="page-6-screenshot-frame">
            <a:extLst xmlns:a="http://schemas.openxmlformats.org/drawingml/2006/main">
              <a:ext uri="{FF2B5EF4-FFF2-40B4-BE49-F238E27FC236}">
                <a16:creationId xmlns:a16="http://schemas.microsoft.com/office/drawing/2014/main" id="{43018FD0-3278-4CDD-9F09-D76AC666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771525"/>
            <a:ext cx="11068050" cy="6038850"/>
          </a:xfrm>
          <a:prstGeom xmlns:a="http://schemas.openxmlformats.org/drawingml/2006/main" prst="roundRect">
            <a:avLst>
              <a:gd name="adj" fmla="val 18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E6E4B2-525B-40F9-BB04-0DAF85F610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481f351da94c2c"/>
          <a:stretch xmlns:a="http://schemas.openxmlformats.org/drawingml/2006/main"/>
        </p:blipFill>
        <p:spPr>
          <a:xfrm xmlns:a="http://schemas.openxmlformats.org/drawingml/2006/main">
            <a:off x="812800" y="819150"/>
            <a:ext cx="10566400" cy="5943600"/>
          </a:xfrm>
          <a:prstGeom xmlns:a="http://schemas.openxmlformats.org/drawingml/2006/main" prst="roundRect">
            <a:avLst>
              <a:gd name="adj" fmla="val 1282"/>
            </a:avLst>
          </a:prstGeom>
        </p:spPr>
      </p:pic>
    </p:spTree>
    <p:extLst>
      <p:ext uri="{BB962C8B-B14F-4D97-AF65-F5344CB8AC3E}">
        <p14:creationId xmlns:p14="http://schemas.microsoft.com/office/powerpoint/2010/main" val="10590680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kicker-关键规则与当前实现范围">
            <a:extLst xmlns:a="http://schemas.openxmlformats.org/drawingml/2006/main">
              <a:ext uri="{FF2B5EF4-FFF2-40B4-BE49-F238E27FC236}">
                <a16:creationId xmlns:a16="http://schemas.microsoft.com/office/drawing/2014/main" id="{7A697EEB-7871-4CC6-83C3-088B1396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/>
          <a:lstStyle xmlns:a="http://schemas.openxmlformats.org/drawingml/2006/main">
            <a:defPPr algn="l">
              <a:defRPr sz="8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RULES &amp; STATUS</a:t>
            </a:r>
          </a:p>
        </p:txBody>
      </p:sp>
      <p:sp>
        <p:nvSpPr>
          <p:cNvPr id="2" name="title-关键规则与当前实现范围">
            <a:extLst xmlns:a="http://schemas.openxmlformats.org/drawingml/2006/main">
              <a:ext uri="{FF2B5EF4-FFF2-40B4-BE49-F238E27FC236}">
                <a16:creationId xmlns:a16="http://schemas.microsoft.com/office/drawing/2014/main" id="{8D820C7E-50B8-4D37-8336-088679B4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22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关键规则与当前实现范围</a:t>
            </a:r>
          </a:p>
        </p:txBody>
      </p:sp>
      <p:sp>
        <p:nvSpPr>
          <p:cNvPr id="3" name="subtitle-关键规则与当前实现范围">
            <a:extLst xmlns:a="http://schemas.openxmlformats.org/drawingml/2006/main">
              <a:ext uri="{FF2B5EF4-FFF2-40B4-BE49-F238E27FC236}">
                <a16:creationId xmlns:a16="http://schemas.microsoft.com/office/drawing/2014/main" id="{86FAF62D-9DC5-4253-BA07-5F3AE63D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1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页面背后的业务约束统一资格、顺位与名额口径。</a:t>
            </a:r>
          </a:p>
        </p:txBody>
      </p:sp>
      <p:sp>
        <p:nvSpPr>
          <p:cNvPr id="4" name="rule-card-1">
            <a:extLst xmlns:a="http://schemas.openxmlformats.org/drawingml/2006/main">
              <a:ext uri="{FF2B5EF4-FFF2-40B4-BE49-F238E27FC236}">
                <a16:creationId xmlns:a16="http://schemas.microsoft.com/office/drawing/2014/main" id="{3EC88A94-DE7A-44D0-9C5B-74B48DC1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3524250" cy="2257425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5" name="rule-accent-1">
            <a:extLst xmlns:a="http://schemas.openxmlformats.org/drawingml/2006/main">
              <a:ext uri="{FF2B5EF4-FFF2-40B4-BE49-F238E27FC236}">
                <a16:creationId xmlns:a16="http://schemas.microsoft.com/office/drawing/2014/main" id="{7CCFEFD5-C126-4849-927D-F2D61E14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47625" cy="2257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82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ule-number-1">
            <a:extLst xmlns:a="http://schemas.openxmlformats.org/drawingml/2006/main">
              <a:ext uri="{FF2B5EF4-FFF2-40B4-BE49-F238E27FC236}">
                <a16:creationId xmlns:a16="http://schemas.microsoft.com/office/drawing/2014/main" id="{16A13624-4136-4685-A1B5-1B049D20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1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rule-title-1">
            <a:extLst xmlns:a="http://schemas.openxmlformats.org/drawingml/2006/main">
              <a:ext uri="{FF2B5EF4-FFF2-40B4-BE49-F238E27FC236}">
                <a16:creationId xmlns:a16="http://schemas.microsoft.com/office/drawing/2014/main" id="{83C12069-3CDF-47D8-9CC5-646F54FB3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85975"/>
            <a:ext cx="2905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7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资格范围</a:t>
            </a:r>
          </a:p>
        </p:txBody>
      </p:sp>
      <p:sp>
        <p:nvSpPr>
          <p:cNvPr id="8" name="rule-dot-1-0">
            <a:extLst xmlns:a="http://schemas.openxmlformats.org/drawingml/2006/main">
              <a:ext uri="{FF2B5EF4-FFF2-40B4-BE49-F238E27FC236}">
                <a16:creationId xmlns:a16="http://schemas.microsoft.com/office/drawing/2014/main" id="{63A5B35A-0CAF-413D-A923-09324477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6193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82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ule-line-1-0">
            <a:extLst xmlns:a="http://schemas.openxmlformats.org/drawingml/2006/main">
              <a:ext uri="{FF2B5EF4-FFF2-40B4-BE49-F238E27FC236}">
                <a16:creationId xmlns:a16="http://schemas.microsoft.com/office/drawing/2014/main" id="{80185FD9-A7FA-4BEC-B9FE-D383EFA3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241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rPr>
              <a:t>学生专业与学位类型进入校验。</a:t>
            </a:r>
          </a:p>
        </p:txBody>
      </p:sp>
      <p:sp>
        <p:nvSpPr>
          <p:cNvPr id="10" name="rule-dot-1-1">
            <a:extLst xmlns:a="http://schemas.openxmlformats.org/drawingml/2006/main">
              <a:ext uri="{FF2B5EF4-FFF2-40B4-BE49-F238E27FC236}">
                <a16:creationId xmlns:a16="http://schemas.microsoft.com/office/drawing/2014/main" id="{90DC5631-8B80-41B0-A0B3-9D5B9BD5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9527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82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ule-line-1-1">
            <a:extLst xmlns:a="http://schemas.openxmlformats.org/drawingml/2006/main">
              <a:ext uri="{FF2B5EF4-FFF2-40B4-BE49-F238E27FC236}">
                <a16:creationId xmlns:a16="http://schemas.microsoft.com/office/drawing/2014/main" id="{195FDF90-97A6-48B7-852C-CFC1E341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57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rPr>
              <a:t>导师按批次配置专业与学位范围。</a:t>
            </a:r>
          </a:p>
        </p:txBody>
      </p:sp>
      <p:sp>
        <p:nvSpPr>
          <p:cNvPr id="12" name="rule-dot-1-2">
            <a:extLst xmlns:a="http://schemas.openxmlformats.org/drawingml/2006/main">
              <a:ext uri="{FF2B5EF4-FFF2-40B4-BE49-F238E27FC236}">
                <a16:creationId xmlns:a16="http://schemas.microsoft.com/office/drawing/2014/main" id="{F64F2AAF-9B95-4335-A887-E651007E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286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82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ule-line-1-2">
            <a:extLst xmlns:a="http://schemas.openxmlformats.org/drawingml/2006/main">
              <a:ext uri="{FF2B5EF4-FFF2-40B4-BE49-F238E27FC236}">
                <a16:creationId xmlns:a16="http://schemas.microsoft.com/office/drawing/2014/main" id="{86F3EFBE-B262-4484-AED6-E04F1597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908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rPr>
              <a:t>填报开窗时冻结业务名单与招生范围。</a:t>
            </a:r>
          </a:p>
        </p:txBody>
      </p:sp>
      <p:sp>
        <p:nvSpPr>
          <p:cNvPr id="14" name="rule-card-2">
            <a:extLst xmlns:a="http://schemas.openxmlformats.org/drawingml/2006/main">
              <a:ext uri="{FF2B5EF4-FFF2-40B4-BE49-F238E27FC236}">
                <a16:creationId xmlns:a16="http://schemas.microsoft.com/office/drawing/2014/main" id="{8D404AB9-09BF-442B-957D-3EEAF0B1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562100"/>
            <a:ext cx="3524250" cy="2257425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8F3F8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15" name="rule-accent-2">
            <a:extLst xmlns:a="http://schemas.openxmlformats.org/drawingml/2006/main">
              <a:ext uri="{FF2B5EF4-FFF2-40B4-BE49-F238E27FC236}">
                <a16:creationId xmlns:a16="http://schemas.microsoft.com/office/drawing/2014/main" id="{6A5B7C6F-94FC-480F-B2BE-1D79C67A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562100"/>
            <a:ext cx="47625" cy="2257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8B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ule-number-2">
            <a:extLst xmlns:a="http://schemas.openxmlformats.org/drawingml/2006/main">
              <a:ext uri="{FF2B5EF4-FFF2-40B4-BE49-F238E27FC236}">
                <a16:creationId xmlns:a16="http://schemas.microsoft.com/office/drawing/2014/main" id="{6B107FCC-2DCE-4EC4-A079-7569E023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7526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125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rule-title-2">
            <a:extLst xmlns:a="http://schemas.openxmlformats.org/drawingml/2006/main">
              <a:ext uri="{FF2B5EF4-FFF2-40B4-BE49-F238E27FC236}">
                <a16:creationId xmlns:a16="http://schemas.microsoft.com/office/drawing/2014/main" id="{501FBBC9-20E5-4B69-8D66-BC021876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085975"/>
            <a:ext cx="2905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7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分轮处理</a:t>
            </a:r>
          </a:p>
        </p:txBody>
      </p:sp>
      <p:sp>
        <p:nvSpPr>
          <p:cNvPr id="18" name="rule-dot-2-0">
            <a:extLst xmlns:a="http://schemas.openxmlformats.org/drawingml/2006/main">
              <a:ext uri="{FF2B5EF4-FFF2-40B4-BE49-F238E27FC236}">
                <a16:creationId xmlns:a16="http://schemas.microsoft.com/office/drawing/2014/main" id="{91B463CD-FBD1-45AC-91D2-480F1A67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193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B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ule-line-2-0">
            <a:extLst xmlns:a="http://schemas.openxmlformats.org/drawingml/2006/main">
              <a:ext uri="{FF2B5EF4-FFF2-40B4-BE49-F238E27FC236}">
                <a16:creationId xmlns:a16="http://schemas.microsoft.com/office/drawing/2014/main" id="{68C4FD4B-DF53-41A4-976A-97576D04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241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rPr>
              <a:t>第 1 / 2 / 3 轮对应第 1 / 2 / 3 志愿。</a:t>
            </a:r>
          </a:p>
        </p:txBody>
      </p:sp>
      <p:sp>
        <p:nvSpPr>
          <p:cNvPr id="20" name="rule-dot-2-1">
            <a:extLst xmlns:a="http://schemas.openxmlformats.org/drawingml/2006/main">
              <a:ext uri="{FF2B5EF4-FFF2-40B4-BE49-F238E27FC236}">
                <a16:creationId xmlns:a16="http://schemas.microsoft.com/office/drawing/2014/main" id="{4067A5AC-C934-415C-8708-8EA43661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527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B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ule-line-2-1">
            <a:extLst xmlns:a="http://schemas.openxmlformats.org/drawingml/2006/main">
              <a:ext uri="{FF2B5EF4-FFF2-40B4-BE49-F238E27FC236}">
                <a16:creationId xmlns:a16="http://schemas.microsoft.com/office/drawing/2014/main" id="{75FCA96B-25CC-4662-9F9C-C0781071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57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rPr>
              <a:t>导师对投向本人的申请逐项决定。</a:t>
            </a:r>
          </a:p>
        </p:txBody>
      </p:sp>
      <p:sp>
        <p:nvSpPr>
          <p:cNvPr id="22" name="rule-dot-2-2">
            <a:extLst xmlns:a="http://schemas.openxmlformats.org/drawingml/2006/main">
              <a:ext uri="{FF2B5EF4-FFF2-40B4-BE49-F238E27FC236}">
                <a16:creationId xmlns:a16="http://schemas.microsoft.com/office/drawing/2014/main" id="{5E5924BC-C8D8-4D06-9F1C-209DF637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86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B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ule-line-2-2">
            <a:extLst xmlns:a="http://schemas.openxmlformats.org/drawingml/2006/main">
              <a:ext uri="{FF2B5EF4-FFF2-40B4-BE49-F238E27FC236}">
                <a16:creationId xmlns:a16="http://schemas.microsoft.com/office/drawing/2014/main" id="{30EC98EA-D899-4818-BBF1-8DC868CF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908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rPr>
              <a:t>录取检查名额并立即锁定关系。</a:t>
            </a:r>
          </a:p>
        </p:txBody>
      </p:sp>
      <p:sp>
        <p:nvSpPr>
          <p:cNvPr id="24" name="rule-card-3">
            <a:extLst xmlns:a="http://schemas.openxmlformats.org/drawingml/2006/main">
              <a:ext uri="{FF2B5EF4-FFF2-40B4-BE49-F238E27FC236}">
                <a16:creationId xmlns:a16="http://schemas.microsoft.com/office/drawing/2014/main" id="{81F22325-FB69-43F6-9BFF-C437138C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62100"/>
            <a:ext cx="3524250" cy="2257425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25" name="rule-accent-3">
            <a:extLst xmlns:a="http://schemas.openxmlformats.org/drawingml/2006/main">
              <a:ext uri="{FF2B5EF4-FFF2-40B4-BE49-F238E27FC236}">
                <a16:creationId xmlns:a16="http://schemas.microsoft.com/office/drawing/2014/main" id="{D8B4A8F9-9BB7-47BD-A1F9-C98CDCB9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62100"/>
            <a:ext cx="47625" cy="2257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3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rule-number-3">
            <a:extLst xmlns:a="http://schemas.openxmlformats.org/drawingml/2006/main">
              <a:ext uri="{FF2B5EF4-FFF2-40B4-BE49-F238E27FC236}">
                <a16:creationId xmlns:a16="http://schemas.microsoft.com/office/drawing/2014/main" id="{9573A708-A0FB-4319-B682-A0A9BF24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526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125" b="1">
                <a:solidFill>
                  <a:srgbClr val="E6A34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E6A3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6A34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7" name="rule-title-3">
            <a:extLst xmlns:a="http://schemas.openxmlformats.org/drawingml/2006/main">
              <a:ext uri="{FF2B5EF4-FFF2-40B4-BE49-F238E27FC236}">
                <a16:creationId xmlns:a16="http://schemas.microsoft.com/office/drawing/2014/main" id="{A9BC45C0-4162-4C28-BD97-6F28CBC0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85975"/>
            <a:ext cx="2905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7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独立补选</a:t>
            </a:r>
          </a:p>
        </p:txBody>
      </p:sp>
      <p:sp>
        <p:nvSpPr>
          <p:cNvPr id="28" name="rule-dot-3-0">
            <a:extLst xmlns:a="http://schemas.openxmlformats.org/drawingml/2006/main">
              <a:ext uri="{FF2B5EF4-FFF2-40B4-BE49-F238E27FC236}">
                <a16:creationId xmlns:a16="http://schemas.microsoft.com/office/drawing/2014/main" id="{ADB4B225-865A-47A6-B7B4-8A1744CB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6193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3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rule-line-3-0">
            <a:extLst xmlns:a="http://schemas.openxmlformats.org/drawingml/2006/main">
              <a:ext uri="{FF2B5EF4-FFF2-40B4-BE49-F238E27FC236}">
                <a16:creationId xmlns:a16="http://schemas.microsoft.com/office/drawing/2014/main" id="{C3231495-3F77-44A1-9975-18491E96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5241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rPr>
              <a:t>是否安排补选在批次发布前确定。</a:t>
            </a:r>
          </a:p>
        </p:txBody>
      </p:sp>
      <p:sp>
        <p:nvSpPr>
          <p:cNvPr id="30" name="rule-dot-3-1">
            <a:extLst xmlns:a="http://schemas.openxmlformats.org/drawingml/2006/main">
              <a:ext uri="{FF2B5EF4-FFF2-40B4-BE49-F238E27FC236}">
                <a16:creationId xmlns:a16="http://schemas.microsoft.com/office/drawing/2014/main" id="{548CC562-F59F-4243-850D-DC8D7AE6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9527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3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rule-line-3-1">
            <a:extLst xmlns:a="http://schemas.openxmlformats.org/drawingml/2006/main">
              <a:ext uri="{FF2B5EF4-FFF2-40B4-BE49-F238E27FC236}">
                <a16:creationId xmlns:a16="http://schemas.microsoft.com/office/drawing/2014/main" id="{0FED8539-0C8D-4CBC-B491-49546230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857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rPr>
              <a:t>补选窗口单独排期，不重跑三轮。</a:t>
            </a:r>
          </a:p>
        </p:txBody>
      </p:sp>
      <p:sp>
        <p:nvSpPr>
          <p:cNvPr id="32" name="rule-dot-3-2">
            <a:extLst xmlns:a="http://schemas.openxmlformats.org/drawingml/2006/main">
              <a:ext uri="{FF2B5EF4-FFF2-40B4-BE49-F238E27FC236}">
                <a16:creationId xmlns:a16="http://schemas.microsoft.com/office/drawing/2014/main" id="{0FB19205-042E-4493-A025-27630BC2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286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3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rule-line-3-2">
            <a:extLst xmlns:a="http://schemas.openxmlformats.org/drawingml/2006/main">
              <a:ext uri="{FF2B5EF4-FFF2-40B4-BE49-F238E27FC236}">
                <a16:creationId xmlns:a16="http://schemas.microsoft.com/office/drawing/2014/main" id="{9E86513D-C956-4865-A80A-C8A522A6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1908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rPr>
              <a:t>窗口关闭后结案并完成批次。</a:t>
            </a:r>
          </a:p>
        </p:txBody>
      </p:sp>
      <p:sp>
        <p:nvSpPr>
          <p:cNvPr id="34" name="status-card">
            <a:extLst xmlns:a="http://schemas.openxmlformats.org/drawingml/2006/main">
              <a:ext uri="{FF2B5EF4-FFF2-40B4-BE49-F238E27FC236}">
                <a16:creationId xmlns:a16="http://schemas.microsoft.com/office/drawing/2014/main" id="{453A2730-98AF-4F30-8699-2E72CC5A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9728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8F4F0"/>
          </a:solidFill>
          <a:ln xmlns:a="http://schemas.openxmlformats.org/drawingml/2006/main" w="9525">
            <a:solidFill>
              <a:srgbClr val="D4E9E2"/>
            </a:solidFill>
            <a:prstDash val="solid"/>
          </a:ln>
        </p:spPr>
      </p:sp>
      <p:sp>
        <p:nvSpPr>
          <p:cNvPr id="35" name="status-label">
            <a:extLst xmlns:a="http://schemas.openxmlformats.org/drawingml/2006/main">
              <a:ext uri="{FF2B5EF4-FFF2-40B4-BE49-F238E27FC236}">
                <a16:creationId xmlns:a16="http://schemas.microsoft.com/office/drawing/2014/main" id="{2D85EBEF-3348-43A6-AC6C-86A4E7D5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576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00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rPr>
              <a:t>当前进展</a:t>
            </a:r>
          </a:p>
        </p:txBody>
      </p:sp>
      <p:sp>
        <p:nvSpPr>
          <p:cNvPr id="36" name="status-main">
            <a:extLst xmlns:a="http://schemas.openxmlformats.org/drawingml/2006/main">
              <a:ext uri="{FF2B5EF4-FFF2-40B4-BE49-F238E27FC236}">
                <a16:creationId xmlns:a16="http://schemas.microsoft.com/office/drawing/2014/main" id="{67540357-ABB3-46D9-A8F2-F1DF2106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3D57"/>
                </a:solidFill>
                <a:latin typeface="Microsoft YaHei"/>
                <a:ea typeface="Microsoft YaHei"/>
                <a:cs typeface="Microsoft YaHei"/>
              </a:rPr>
              <a:t>学生、导师与管理员的主要业务链路已接入当前代码。</a:t>
            </a:r>
          </a:p>
        </p:txBody>
      </p:sp>
      <p:sp>
        <p:nvSpPr>
          <p:cNvPr id="37" name="status-note">
            <a:extLst xmlns:a="http://schemas.openxmlformats.org/drawingml/2006/main">
              <a:ext uri="{FF2B5EF4-FFF2-40B4-BE49-F238E27FC236}">
                <a16:creationId xmlns:a16="http://schemas.microsoft.com/office/drawing/2014/main" id="{62167284-2E89-4368-BE95-8F025080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4958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r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rPr>
              <a:t>核心自动化验收与目标环境部署、运维核验仍需继续。</a:t>
            </a:r>
          </a:p>
        </p:txBody>
      </p:sp>
      <p:sp>
        <p:nvSpPr>
          <p:cNvPr id="38" name="tech-label">
            <a:extLst xmlns:a="http://schemas.openxmlformats.org/drawingml/2006/main">
              <a:ext uri="{FF2B5EF4-FFF2-40B4-BE49-F238E27FC236}">
                <a16:creationId xmlns:a16="http://schemas.microsoft.com/office/drawing/2014/main" id="{A70001F2-A7CB-47D7-BDE7-E6FC3CEA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982B2"/>
                </a:solidFill>
                <a:latin typeface="Microsoft YaHei"/>
                <a:ea typeface="Microsoft YaHei"/>
                <a:cs typeface="Microsoft YaHei"/>
              </a:rPr>
              <a:t>技术基线</a:t>
            </a:r>
          </a:p>
        </p:txBody>
      </p:sp>
      <p:sp>
        <p:nvSpPr>
          <p:cNvPr id="39" name="tech-chip-1">
            <a:extLst xmlns:a="http://schemas.openxmlformats.org/drawingml/2006/main">
              <a:ext uri="{FF2B5EF4-FFF2-40B4-BE49-F238E27FC236}">
                <a16:creationId xmlns:a16="http://schemas.microsoft.com/office/drawing/2014/main" id="{7CC8EA09-C11C-4782-BF7D-77AA230C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40" name="tech-text-1">
            <a:extLst xmlns:a="http://schemas.openxmlformats.org/drawingml/2006/main">
              <a:ext uri="{FF2B5EF4-FFF2-40B4-BE49-F238E27FC236}">
                <a16:creationId xmlns:a16="http://schemas.microsoft.com/office/drawing/2014/main" id="{67C55AD7-5CCC-42D4-A4A7-56474643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975" b="0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rPr>
              <a:t>Java 8 · Spring Boot 2.6.6</a:t>
            </a:r>
          </a:p>
        </p:txBody>
      </p:sp>
      <p:sp>
        <p:nvSpPr>
          <p:cNvPr id="41" name="tech-chip-2">
            <a:extLst xmlns:a="http://schemas.openxmlformats.org/drawingml/2006/main">
              <a:ext uri="{FF2B5EF4-FFF2-40B4-BE49-F238E27FC236}">
                <a16:creationId xmlns:a16="http://schemas.microsoft.com/office/drawing/2014/main" id="{8232CA2A-23F9-4D73-B1E7-488F233C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657850"/>
            <a:ext cx="2238375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42" name="tech-text-2">
            <a:extLst xmlns:a="http://schemas.openxmlformats.org/drawingml/2006/main">
              <a:ext uri="{FF2B5EF4-FFF2-40B4-BE49-F238E27FC236}">
                <a16:creationId xmlns:a16="http://schemas.microsoft.com/office/drawing/2014/main" id="{7387E8E3-D705-4347-9AFF-2BF27370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695950"/>
            <a:ext cx="2085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975" b="0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rPr>
              <a:t>MySQL 5.7.36</a:t>
            </a:r>
          </a:p>
        </p:txBody>
      </p:sp>
      <p:sp>
        <p:nvSpPr>
          <p:cNvPr id="43" name="tech-chip-3">
            <a:extLst xmlns:a="http://schemas.openxmlformats.org/drawingml/2006/main">
              <a:ext uri="{FF2B5EF4-FFF2-40B4-BE49-F238E27FC236}">
                <a16:creationId xmlns:a16="http://schemas.microsoft.com/office/drawing/2014/main" id="{029F5A85-24B9-4E03-A887-96BB0142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5657850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44" name="tech-text-3">
            <a:extLst xmlns:a="http://schemas.openxmlformats.org/drawingml/2006/main">
              <a:ext uri="{FF2B5EF4-FFF2-40B4-BE49-F238E27FC236}">
                <a16:creationId xmlns:a16="http://schemas.microsoft.com/office/drawing/2014/main" id="{F630F001-47A2-4967-A78A-00CD269D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5695950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975" b="0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35566B"/>
                </a:solidFill>
                <a:latin typeface="Microsoft YaHei"/>
                <a:ea typeface="Microsoft YaHei"/>
                <a:cs typeface="Microsoft YaHei"/>
              </a:rPr>
              <a:t>Vue 3 · TypeScript</a:t>
            </a:r>
          </a:p>
        </p:txBody>
      </p:sp>
      <p:sp>
        <p:nvSpPr>
          <p:cNvPr id="45" name="tech-chip-4">
            <a:extLst xmlns:a="http://schemas.openxmlformats.org/drawingml/2006/main">
              <a:ext uri="{FF2B5EF4-FFF2-40B4-BE49-F238E27FC236}">
                <a16:creationId xmlns:a16="http://schemas.microsoft.com/office/drawing/2014/main" id="{F4198478-C0FC-4234-8C58-37263403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657850"/>
            <a:ext cx="3514725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B"/>
            </a:solidFill>
            <a:prstDash val="solid"/>
          </a:ln>
        </p:spPr>
      </p:sp>
      <p:sp>
        <p:nvSpPr>
          <p:cNvPr id="46" name="tech-text-4">
            <a:extLst xmlns:a="http://schemas.openxmlformats.org/drawingml/2006/main">
              <a:ext uri="{FF2B5EF4-FFF2-40B4-BE49-F238E27FC236}">
                <a16:creationId xmlns:a16="http://schemas.microsoft.com/office/drawing/2014/main" id="{C0221CB8-BD0E-4E8D-8AD8-357C9A64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695950"/>
            <a:ext cx="33623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ctr">
              <a:defRPr sz="975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48B85"/>
                </a:solidFill>
                <a:latin typeface="Microsoft YaHei"/>
                <a:ea typeface="Microsoft YaHei"/>
                <a:cs typeface="Microsoft YaHei"/>
              </a:rPr>
              <a:t>年度资格 · 分轮志愿 · 独立补选</a:t>
            </a:r>
          </a:p>
        </p:txBody>
      </p:sp>
      <p:sp>
        <p:nvSpPr>
          <p:cNvPr id="47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CC55F94A-583F-419D-95D4-30B1A4E4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footer-brand-7">
            <a:extLst xmlns:a="http://schemas.openxmlformats.org/drawingml/2006/main">
              <a:ext uri="{FF2B5EF4-FFF2-40B4-BE49-F238E27FC236}">
                <a16:creationId xmlns:a16="http://schemas.microsoft.com/office/drawing/2014/main" id="{96E2AE70-8FDA-4A2D-A65B-FD11F3E3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l">
              <a:defRPr sz="75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75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湖南科技大学师生互选系统 · 项目介绍</a:t>
            </a:r>
          </a:p>
        </p:txBody>
      </p:sp>
      <p:sp>
        <p:nvSpPr>
          <p:cNvPr id="49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5B70B1FA-E5DC-4030-9BFC-55740831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/>
          <a:lstStyle xmlns:a="http://schemas.openxmlformats.org/drawingml/2006/main">
            <a:defPPr algn="r">
              <a:defRPr sz="825" b="1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825" b="1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D8799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234932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2026-10-10T08:53:48.4280000Z</dcterms:created>
  <dcterms:modified xsi:type="dcterms:W3CDTF">2026-10-10T08:53:48.4280000Z</dcterms:modified>
</coreProperties>
</file>